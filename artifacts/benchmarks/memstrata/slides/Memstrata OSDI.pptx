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384" r:id="rId3"/>
    <p:sldId id="393" r:id="rId4"/>
    <p:sldId id="387" r:id="rId5"/>
    <p:sldId id="354" r:id="rId6"/>
    <p:sldId id="371" r:id="rId7"/>
    <p:sldId id="335" r:id="rId8"/>
    <p:sldId id="356" r:id="rId9"/>
    <p:sldId id="355" r:id="rId10"/>
    <p:sldId id="265" r:id="rId11"/>
    <p:sldId id="309" r:id="rId12"/>
    <p:sldId id="310" r:id="rId13"/>
    <p:sldId id="311" r:id="rId14"/>
    <p:sldId id="312" r:id="rId15"/>
    <p:sldId id="383" r:id="rId16"/>
    <p:sldId id="325" r:id="rId17"/>
    <p:sldId id="359" r:id="rId18"/>
    <p:sldId id="375" r:id="rId19"/>
    <p:sldId id="362" r:id="rId20"/>
    <p:sldId id="378" r:id="rId21"/>
    <p:sldId id="379" r:id="rId22"/>
    <p:sldId id="385" r:id="rId23"/>
    <p:sldId id="380" r:id="rId24"/>
    <p:sldId id="389" r:id="rId25"/>
    <p:sldId id="329" r:id="rId26"/>
    <p:sldId id="341" r:id="rId27"/>
    <p:sldId id="348" r:id="rId28"/>
    <p:sldId id="349" r:id="rId29"/>
    <p:sldId id="365" r:id="rId30"/>
    <p:sldId id="347" r:id="rId31"/>
    <p:sldId id="351" r:id="rId32"/>
    <p:sldId id="340" r:id="rId33"/>
    <p:sldId id="346" r:id="rId34"/>
    <p:sldId id="299" r:id="rId35"/>
    <p:sldId id="322" r:id="rId36"/>
    <p:sldId id="367" r:id="rId37"/>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DB496D9-D7ED-360B-BE5F-6EFB67BDC1B3}" name="Yuhong Zhong (POPULUS GROUP LLC)" initials="YL" userId="S::v-yuhzhong@microsoft.com::9533cc42-4cc2-4139-8b90-6c378291354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B9F27"/>
    <a:srgbClr val="F8B202"/>
    <a:srgbClr val="C8970E"/>
    <a:srgbClr val="FBE3D6"/>
    <a:srgbClr val="DCEA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73"/>
    <p:restoredTop sz="71061"/>
  </p:normalViewPr>
  <p:slideViewPr>
    <p:cSldViewPr snapToGrid="0">
      <p:cViewPr varScale="1">
        <p:scale>
          <a:sx n="112" d="100"/>
          <a:sy n="112" d="100"/>
        </p:scale>
        <p:origin x="216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Users/yuhong_zhong/Downloads/F2LM-ES2-Astera4800-Slowdow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yuhong_zhong/Downloads/F2LM-ES2-Astera4800-Slowdown.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yuhong_zhong/Documents/System%20Research/CXL-2LM-Paper/MemoryPricePerGB.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yuhong_zhong/Documents/System%20Research/CXL-2LM-Paper/MemoryPricePerGB.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yuhong_zhong/Downloads/F2LM-ES2-Astera4800-Slowdown.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316604037771754"/>
          <c:y val="4.0889396888519849E-2"/>
          <c:w val="0.72990054328561627"/>
          <c:h val="0.66299534841743668"/>
        </c:manualLayout>
      </c:layout>
      <c:scatterChart>
        <c:scatterStyle val="lineMarker"/>
        <c:varyColors val="0"/>
        <c:ser>
          <c:idx val="0"/>
          <c:order val="0"/>
          <c:tx>
            <c:v>Hardware Tiering</c:v>
          </c:tx>
          <c:spPr>
            <a:ln w="50800" cap="rnd">
              <a:solidFill>
                <a:schemeClr val="accent1"/>
              </a:solidFill>
              <a:round/>
            </a:ln>
            <a:effectLst/>
          </c:spPr>
          <c:marker>
            <c:symbol val="none"/>
          </c:marker>
          <c:xVal>
            <c:numRef>
              <c:f>'Paper Plot'!$F$3:$F$117</c:f>
              <c:numCache>
                <c:formatCode>0%</c:formatCode>
                <c:ptCount val="115"/>
                <c:pt idx="0">
                  <c:v>-2.9718242737466399E-2</c:v>
                </c:pt>
                <c:pt idx="1">
                  <c:v>-1.7177552490598401E-2</c:v>
                </c:pt>
                <c:pt idx="2">
                  <c:v>-1.7068286456338899E-2</c:v>
                </c:pt>
                <c:pt idx="3">
                  <c:v>-1.5518084066471099E-2</c:v>
                </c:pt>
                <c:pt idx="4">
                  <c:v>-1.30236031055241E-2</c:v>
                </c:pt>
                <c:pt idx="5">
                  <c:v>-1.00332261771522E-2</c:v>
                </c:pt>
                <c:pt idx="6">
                  <c:v>-1.00164456778702E-2</c:v>
                </c:pt>
                <c:pt idx="7">
                  <c:v>-8.7650434624901193E-3</c:v>
                </c:pt>
                <c:pt idx="8">
                  <c:v>-7.4948728036033701E-3</c:v>
                </c:pt>
                <c:pt idx="9">
                  <c:v>-6.6430226404778003E-3</c:v>
                </c:pt>
                <c:pt idx="10">
                  <c:v>-4.9897235846989903E-3</c:v>
                </c:pt>
                <c:pt idx="11">
                  <c:v>-4.0536390929606899E-3</c:v>
                </c:pt>
                <c:pt idx="12">
                  <c:v>-3.7878787878787902E-3</c:v>
                </c:pt>
                <c:pt idx="13">
                  <c:v>-2.7533441544985498E-3</c:v>
                </c:pt>
                <c:pt idx="14">
                  <c:v>-2.7204314411395001E-3</c:v>
                </c:pt>
                <c:pt idx="15">
                  <c:v>-1.89230627255566E-3</c:v>
                </c:pt>
                <c:pt idx="16">
                  <c:v>-1.8565051677634399E-3</c:v>
                </c:pt>
                <c:pt idx="17">
                  <c:v>-1.7632605867899901E-3</c:v>
                </c:pt>
                <c:pt idx="18">
                  <c:v>-1.5898113132883701E-3</c:v>
                </c:pt>
                <c:pt idx="19">
                  <c:v>-1.58795674641939E-3</c:v>
                </c:pt>
                <c:pt idx="20">
                  <c:v>-1.54387847579998E-3</c:v>
                </c:pt>
                <c:pt idx="21">
                  <c:v>-1.51084771767047E-3</c:v>
                </c:pt>
                <c:pt idx="22">
                  <c:v>-1.11633657834312E-3</c:v>
                </c:pt>
                <c:pt idx="23">
                  <c:v>-6.6515625922313598E-4</c:v>
                </c:pt>
                <c:pt idx="24">
                  <c:v>-4.7371801494874703E-4</c:v>
                </c:pt>
                <c:pt idx="25">
                  <c:v>-3.3106150697074003E-4</c:v>
                </c:pt>
                <c:pt idx="26">
                  <c:v>-2.5789955905634502E-4</c:v>
                </c:pt>
                <c:pt idx="27">
                  <c:v>-2.2885276473104201E-4</c:v>
                </c:pt>
                <c:pt idx="28">
                  <c:v>9.0100323866959802E-5</c:v>
                </c:pt>
                <c:pt idx="29">
                  <c:v>2.0292852478939901E-4</c:v>
                </c:pt>
                <c:pt idx="30">
                  <c:v>2.8022820696755203E-4</c:v>
                </c:pt>
                <c:pt idx="31">
                  <c:v>4.32089575277056E-4</c:v>
                </c:pt>
                <c:pt idx="32">
                  <c:v>4.69473078798992E-4</c:v>
                </c:pt>
                <c:pt idx="33">
                  <c:v>7.5562249075294605E-4</c:v>
                </c:pt>
                <c:pt idx="34">
                  <c:v>1.05537134240382E-3</c:v>
                </c:pt>
                <c:pt idx="35">
                  <c:v>1.07383459053502E-3</c:v>
                </c:pt>
                <c:pt idx="36">
                  <c:v>1.24928206760112E-3</c:v>
                </c:pt>
                <c:pt idx="37">
                  <c:v>1.32897794373105E-3</c:v>
                </c:pt>
                <c:pt idx="38">
                  <c:v>1.8657926947100599E-3</c:v>
                </c:pt>
                <c:pt idx="39">
                  <c:v>2.0460245384126201E-3</c:v>
                </c:pt>
                <c:pt idx="40">
                  <c:v>2.06044859931048E-3</c:v>
                </c:pt>
                <c:pt idx="41">
                  <c:v>2.0964360587002102E-3</c:v>
                </c:pt>
                <c:pt idx="42">
                  <c:v>2.7806445227664899E-3</c:v>
                </c:pt>
                <c:pt idx="43">
                  <c:v>3.3179386774407999E-3</c:v>
                </c:pt>
                <c:pt idx="44">
                  <c:v>3.4423842400208701E-3</c:v>
                </c:pt>
                <c:pt idx="45">
                  <c:v>4.2702623458325296E-3</c:v>
                </c:pt>
                <c:pt idx="46">
                  <c:v>4.66891894819009E-3</c:v>
                </c:pt>
                <c:pt idx="47">
                  <c:v>6.1585676103164703E-3</c:v>
                </c:pt>
                <c:pt idx="48">
                  <c:v>6.3648483292152898E-3</c:v>
                </c:pt>
                <c:pt idx="49">
                  <c:v>7.7108651050075798E-3</c:v>
                </c:pt>
                <c:pt idx="50">
                  <c:v>7.8071236310892E-3</c:v>
                </c:pt>
                <c:pt idx="51">
                  <c:v>9.1085815663281208E-3</c:v>
                </c:pt>
                <c:pt idx="52">
                  <c:v>9.1559840337152396E-3</c:v>
                </c:pt>
                <c:pt idx="53">
                  <c:v>9.2007468895870595E-3</c:v>
                </c:pt>
                <c:pt idx="54">
                  <c:v>9.5196395673853695E-3</c:v>
                </c:pt>
                <c:pt idx="55">
                  <c:v>9.7732132426902006E-3</c:v>
                </c:pt>
                <c:pt idx="56">
                  <c:v>1.0355037075781E-2</c:v>
                </c:pt>
                <c:pt idx="57">
                  <c:v>1.4151922658521899E-2</c:v>
                </c:pt>
                <c:pt idx="58">
                  <c:v>1.4925921361918001E-2</c:v>
                </c:pt>
                <c:pt idx="59">
                  <c:v>1.5419713808277001E-2</c:v>
                </c:pt>
                <c:pt idx="60">
                  <c:v>2.0364095408942798E-2</c:v>
                </c:pt>
                <c:pt idx="61">
                  <c:v>2.1451375489394499E-2</c:v>
                </c:pt>
                <c:pt idx="62">
                  <c:v>2.15282714725748E-2</c:v>
                </c:pt>
                <c:pt idx="63">
                  <c:v>2.19965781540854E-2</c:v>
                </c:pt>
                <c:pt idx="64">
                  <c:v>2.51688718740786E-2</c:v>
                </c:pt>
                <c:pt idx="65">
                  <c:v>2.7424251686125799E-2</c:v>
                </c:pt>
                <c:pt idx="66">
                  <c:v>3.5789954562745897E-2</c:v>
                </c:pt>
                <c:pt idx="67">
                  <c:v>3.7231862776144299E-2</c:v>
                </c:pt>
                <c:pt idx="68">
                  <c:v>3.8186840653372703E-2</c:v>
                </c:pt>
                <c:pt idx="69">
                  <c:v>4.0054378338905801E-2</c:v>
                </c:pt>
                <c:pt idx="70">
                  <c:v>4.1118206665994403E-2</c:v>
                </c:pt>
                <c:pt idx="71">
                  <c:v>4.3564857546775103E-2</c:v>
                </c:pt>
                <c:pt idx="72">
                  <c:v>4.7410192147034201E-2</c:v>
                </c:pt>
                <c:pt idx="73">
                  <c:v>4.7420599579295397E-2</c:v>
                </c:pt>
                <c:pt idx="74">
                  <c:v>5.3609595454848502E-2</c:v>
                </c:pt>
                <c:pt idx="75">
                  <c:v>5.49638943755313E-2</c:v>
                </c:pt>
                <c:pt idx="76">
                  <c:v>5.5681695517824599E-2</c:v>
                </c:pt>
                <c:pt idx="77">
                  <c:v>5.5698936473557399E-2</c:v>
                </c:pt>
                <c:pt idx="78">
                  <c:v>5.6188199848990102E-2</c:v>
                </c:pt>
                <c:pt idx="79">
                  <c:v>5.6479756606295402E-2</c:v>
                </c:pt>
                <c:pt idx="80">
                  <c:v>5.8234166506073798E-2</c:v>
                </c:pt>
                <c:pt idx="81">
                  <c:v>5.8897243107769399E-2</c:v>
                </c:pt>
                <c:pt idx="82">
                  <c:v>5.9526677114709901E-2</c:v>
                </c:pt>
                <c:pt idx="83">
                  <c:v>5.9967905657560799E-2</c:v>
                </c:pt>
                <c:pt idx="84">
                  <c:v>6.8716415349831694E-2</c:v>
                </c:pt>
                <c:pt idx="85">
                  <c:v>7.0593149540517902E-2</c:v>
                </c:pt>
                <c:pt idx="86">
                  <c:v>7.0880056907602504E-2</c:v>
                </c:pt>
                <c:pt idx="87">
                  <c:v>7.1056542928394903E-2</c:v>
                </c:pt>
                <c:pt idx="88">
                  <c:v>7.3326318835897297E-2</c:v>
                </c:pt>
                <c:pt idx="89">
                  <c:v>7.3495171496002404E-2</c:v>
                </c:pt>
                <c:pt idx="90">
                  <c:v>7.5694078806508303E-2</c:v>
                </c:pt>
                <c:pt idx="91">
                  <c:v>7.8339482024758794E-2</c:v>
                </c:pt>
                <c:pt idx="92">
                  <c:v>7.9586863192563903E-2</c:v>
                </c:pt>
                <c:pt idx="93">
                  <c:v>8.3708717094734E-2</c:v>
                </c:pt>
                <c:pt idx="94">
                  <c:v>9.6992761465021698E-2</c:v>
                </c:pt>
                <c:pt idx="95">
                  <c:v>9.6993746993746896E-2</c:v>
                </c:pt>
                <c:pt idx="96">
                  <c:v>9.7466121159745803E-2</c:v>
                </c:pt>
                <c:pt idx="97">
                  <c:v>9.7800045894482004E-2</c:v>
                </c:pt>
                <c:pt idx="98">
                  <c:v>0.10902017690306599</c:v>
                </c:pt>
                <c:pt idx="99">
                  <c:v>0.113121819700767</c:v>
                </c:pt>
                <c:pt idx="100">
                  <c:v>0.113849855014702</c:v>
                </c:pt>
                <c:pt idx="101">
                  <c:v>0.11531173001474999</c:v>
                </c:pt>
                <c:pt idx="102">
                  <c:v>0.12047636034226</c:v>
                </c:pt>
                <c:pt idx="103">
                  <c:v>0.12199532568932001</c:v>
                </c:pt>
                <c:pt idx="104">
                  <c:v>0.124155887450141</c:v>
                </c:pt>
                <c:pt idx="105">
                  <c:v>0.13685231232262199</c:v>
                </c:pt>
                <c:pt idx="106">
                  <c:v>0.14494465910500701</c:v>
                </c:pt>
                <c:pt idx="107">
                  <c:v>0.147652027291133</c:v>
                </c:pt>
                <c:pt idx="108">
                  <c:v>0.14859818634924801</c:v>
                </c:pt>
                <c:pt idx="109">
                  <c:v>0.181461822072323</c:v>
                </c:pt>
                <c:pt idx="110">
                  <c:v>0.204268069144109</c:v>
                </c:pt>
                <c:pt idx="111">
                  <c:v>0.21503046946709001</c:v>
                </c:pt>
                <c:pt idx="112">
                  <c:v>0.308241390376084</c:v>
                </c:pt>
                <c:pt idx="113">
                  <c:v>0.34148974240271501</c:v>
                </c:pt>
                <c:pt idx="114">
                  <c:v>0.49567044018657802</c:v>
                </c:pt>
              </c:numCache>
            </c:numRef>
          </c:xVal>
          <c:yVal>
            <c:numRef>
              <c:f>'Paper Plot'!$U$3:$U$117</c:f>
              <c:numCache>
                <c:formatCode>General</c:formatCode>
                <c:ptCount val="115"/>
                <c:pt idx="0">
                  <c:v>8.6956521739130436E-3</c:v>
                </c:pt>
                <c:pt idx="1">
                  <c:v>1.7391304347826087E-2</c:v>
                </c:pt>
                <c:pt idx="2">
                  <c:v>2.6086956521739129E-2</c:v>
                </c:pt>
                <c:pt idx="3">
                  <c:v>3.4782608695652174E-2</c:v>
                </c:pt>
                <c:pt idx="4">
                  <c:v>4.3478260869565216E-2</c:v>
                </c:pt>
                <c:pt idx="5">
                  <c:v>5.2173913043478258E-2</c:v>
                </c:pt>
                <c:pt idx="6">
                  <c:v>6.0869565217391307E-2</c:v>
                </c:pt>
                <c:pt idx="7">
                  <c:v>6.9565217391304349E-2</c:v>
                </c:pt>
                <c:pt idx="8">
                  <c:v>7.8260869565217397E-2</c:v>
                </c:pt>
                <c:pt idx="9">
                  <c:v>8.6956521739130432E-2</c:v>
                </c:pt>
                <c:pt idx="10">
                  <c:v>9.5652173913043481E-2</c:v>
                </c:pt>
                <c:pt idx="11">
                  <c:v>0.10434782608695652</c:v>
                </c:pt>
                <c:pt idx="12">
                  <c:v>0.11304347826086956</c:v>
                </c:pt>
                <c:pt idx="13">
                  <c:v>0.12173913043478261</c:v>
                </c:pt>
                <c:pt idx="14">
                  <c:v>0.13043478260869565</c:v>
                </c:pt>
                <c:pt idx="15">
                  <c:v>0.1391304347826087</c:v>
                </c:pt>
                <c:pt idx="16">
                  <c:v>0.14782608695652175</c:v>
                </c:pt>
                <c:pt idx="17">
                  <c:v>0.15652173913043479</c:v>
                </c:pt>
                <c:pt idx="18">
                  <c:v>0.16521739130434782</c:v>
                </c:pt>
                <c:pt idx="19">
                  <c:v>0.17391304347826086</c:v>
                </c:pt>
                <c:pt idx="20">
                  <c:v>0.18260869565217391</c:v>
                </c:pt>
                <c:pt idx="21">
                  <c:v>0.19130434782608696</c:v>
                </c:pt>
                <c:pt idx="22">
                  <c:v>0.2</c:v>
                </c:pt>
                <c:pt idx="23">
                  <c:v>0.20869565217391303</c:v>
                </c:pt>
                <c:pt idx="24">
                  <c:v>0.21739130434782608</c:v>
                </c:pt>
                <c:pt idx="25">
                  <c:v>0.22608695652173913</c:v>
                </c:pt>
                <c:pt idx="26">
                  <c:v>0.23478260869565218</c:v>
                </c:pt>
                <c:pt idx="27">
                  <c:v>0.24347826086956523</c:v>
                </c:pt>
                <c:pt idx="28">
                  <c:v>0.25217391304347825</c:v>
                </c:pt>
                <c:pt idx="29">
                  <c:v>0.2608695652173913</c:v>
                </c:pt>
                <c:pt idx="30">
                  <c:v>0.26956521739130435</c:v>
                </c:pt>
                <c:pt idx="31">
                  <c:v>0.27826086956521739</c:v>
                </c:pt>
                <c:pt idx="32">
                  <c:v>0.28695652173913044</c:v>
                </c:pt>
                <c:pt idx="33">
                  <c:v>0.29565217391304349</c:v>
                </c:pt>
                <c:pt idx="34">
                  <c:v>0.30434782608695654</c:v>
                </c:pt>
                <c:pt idx="35">
                  <c:v>0.31304347826086959</c:v>
                </c:pt>
                <c:pt idx="36">
                  <c:v>0.32173913043478258</c:v>
                </c:pt>
                <c:pt idx="37">
                  <c:v>0.33043478260869563</c:v>
                </c:pt>
                <c:pt idx="38">
                  <c:v>0.33913043478260868</c:v>
                </c:pt>
                <c:pt idx="39">
                  <c:v>0.34782608695652173</c:v>
                </c:pt>
                <c:pt idx="40">
                  <c:v>0.35652173913043478</c:v>
                </c:pt>
                <c:pt idx="41">
                  <c:v>0.36521739130434783</c:v>
                </c:pt>
                <c:pt idx="42">
                  <c:v>0.37391304347826088</c:v>
                </c:pt>
                <c:pt idx="43">
                  <c:v>0.38260869565217392</c:v>
                </c:pt>
                <c:pt idx="44">
                  <c:v>0.39130434782608697</c:v>
                </c:pt>
                <c:pt idx="45">
                  <c:v>0.4</c:v>
                </c:pt>
                <c:pt idx="46">
                  <c:v>0.40869565217391307</c:v>
                </c:pt>
                <c:pt idx="47">
                  <c:v>0.41739130434782606</c:v>
                </c:pt>
                <c:pt idx="48">
                  <c:v>0.42608695652173911</c:v>
                </c:pt>
                <c:pt idx="49">
                  <c:v>0.43478260869565216</c:v>
                </c:pt>
                <c:pt idx="50">
                  <c:v>0.44347826086956521</c:v>
                </c:pt>
                <c:pt idx="51">
                  <c:v>0.45217391304347826</c:v>
                </c:pt>
                <c:pt idx="52">
                  <c:v>0.46086956521739131</c:v>
                </c:pt>
                <c:pt idx="53">
                  <c:v>0.46956521739130436</c:v>
                </c:pt>
                <c:pt idx="54">
                  <c:v>0.47826086956521741</c:v>
                </c:pt>
                <c:pt idx="55">
                  <c:v>0.48695652173913045</c:v>
                </c:pt>
                <c:pt idx="56">
                  <c:v>0.4956521739130435</c:v>
                </c:pt>
                <c:pt idx="57">
                  <c:v>0.5043478260869565</c:v>
                </c:pt>
                <c:pt idx="58">
                  <c:v>0.5130434782608696</c:v>
                </c:pt>
                <c:pt idx="59">
                  <c:v>0.52173913043478259</c:v>
                </c:pt>
                <c:pt idx="60">
                  <c:v>0.5304347826086957</c:v>
                </c:pt>
                <c:pt idx="61">
                  <c:v>0.53913043478260869</c:v>
                </c:pt>
                <c:pt idx="62">
                  <c:v>0.54782608695652169</c:v>
                </c:pt>
                <c:pt idx="63">
                  <c:v>0.55652173913043479</c:v>
                </c:pt>
                <c:pt idx="64">
                  <c:v>0.56521739130434778</c:v>
                </c:pt>
                <c:pt idx="65">
                  <c:v>0.57391304347826089</c:v>
                </c:pt>
                <c:pt idx="66">
                  <c:v>0.58260869565217388</c:v>
                </c:pt>
                <c:pt idx="67">
                  <c:v>0.59130434782608698</c:v>
                </c:pt>
                <c:pt idx="68">
                  <c:v>0.6</c:v>
                </c:pt>
                <c:pt idx="69">
                  <c:v>0.60869565217391308</c:v>
                </c:pt>
                <c:pt idx="70">
                  <c:v>0.61739130434782608</c:v>
                </c:pt>
                <c:pt idx="71">
                  <c:v>0.62608695652173918</c:v>
                </c:pt>
                <c:pt idx="72">
                  <c:v>0.63478260869565217</c:v>
                </c:pt>
                <c:pt idx="73">
                  <c:v>0.64347826086956517</c:v>
                </c:pt>
                <c:pt idx="74">
                  <c:v>0.65217391304347827</c:v>
                </c:pt>
                <c:pt idx="75">
                  <c:v>0.66086956521739126</c:v>
                </c:pt>
                <c:pt idx="76">
                  <c:v>0.66956521739130437</c:v>
                </c:pt>
                <c:pt idx="77">
                  <c:v>0.67826086956521736</c:v>
                </c:pt>
                <c:pt idx="78">
                  <c:v>0.68695652173913047</c:v>
                </c:pt>
                <c:pt idx="79">
                  <c:v>0.69565217391304346</c:v>
                </c:pt>
                <c:pt idx="80">
                  <c:v>0.70434782608695656</c:v>
                </c:pt>
                <c:pt idx="81">
                  <c:v>0.71304347826086956</c:v>
                </c:pt>
                <c:pt idx="82">
                  <c:v>0.72173913043478266</c:v>
                </c:pt>
                <c:pt idx="83">
                  <c:v>0.73043478260869565</c:v>
                </c:pt>
                <c:pt idx="84">
                  <c:v>0.73913043478260865</c:v>
                </c:pt>
                <c:pt idx="85">
                  <c:v>0.74782608695652175</c:v>
                </c:pt>
                <c:pt idx="86">
                  <c:v>0.75652173913043474</c:v>
                </c:pt>
                <c:pt idx="87">
                  <c:v>0.76521739130434785</c:v>
                </c:pt>
                <c:pt idx="88">
                  <c:v>0.77391304347826084</c:v>
                </c:pt>
                <c:pt idx="89">
                  <c:v>0.78260869565217395</c:v>
                </c:pt>
                <c:pt idx="90">
                  <c:v>0.79130434782608694</c:v>
                </c:pt>
                <c:pt idx="91">
                  <c:v>0.8</c:v>
                </c:pt>
                <c:pt idx="92">
                  <c:v>0.80869565217391304</c:v>
                </c:pt>
                <c:pt idx="93">
                  <c:v>0.81739130434782614</c:v>
                </c:pt>
                <c:pt idx="94">
                  <c:v>0.82608695652173914</c:v>
                </c:pt>
                <c:pt idx="95">
                  <c:v>0.83478260869565213</c:v>
                </c:pt>
                <c:pt idx="96">
                  <c:v>0.84347826086956523</c:v>
                </c:pt>
                <c:pt idx="97">
                  <c:v>0.85217391304347823</c:v>
                </c:pt>
                <c:pt idx="98">
                  <c:v>0.86086956521739133</c:v>
                </c:pt>
                <c:pt idx="99">
                  <c:v>0.86956521739130432</c:v>
                </c:pt>
                <c:pt idx="100">
                  <c:v>0.87826086956521743</c:v>
                </c:pt>
                <c:pt idx="101">
                  <c:v>0.88695652173913042</c:v>
                </c:pt>
                <c:pt idx="102">
                  <c:v>0.89565217391304353</c:v>
                </c:pt>
                <c:pt idx="103">
                  <c:v>0.90434782608695652</c:v>
                </c:pt>
                <c:pt idx="104">
                  <c:v>0.91304347826086951</c:v>
                </c:pt>
                <c:pt idx="105">
                  <c:v>0.92173913043478262</c:v>
                </c:pt>
                <c:pt idx="106">
                  <c:v>0.93043478260869561</c:v>
                </c:pt>
                <c:pt idx="107">
                  <c:v>0.93913043478260871</c:v>
                </c:pt>
                <c:pt idx="108">
                  <c:v>0.94782608695652171</c:v>
                </c:pt>
                <c:pt idx="109">
                  <c:v>0.95652173913043481</c:v>
                </c:pt>
                <c:pt idx="110">
                  <c:v>0.9652173913043478</c:v>
                </c:pt>
                <c:pt idx="111">
                  <c:v>0.97391304347826091</c:v>
                </c:pt>
                <c:pt idx="112">
                  <c:v>0.9826086956521739</c:v>
                </c:pt>
                <c:pt idx="113">
                  <c:v>0.99130434782608701</c:v>
                </c:pt>
                <c:pt idx="114">
                  <c:v>1</c:v>
                </c:pt>
              </c:numCache>
            </c:numRef>
          </c:yVal>
          <c:smooth val="0"/>
          <c:extLst>
            <c:ext xmlns:c16="http://schemas.microsoft.com/office/drawing/2014/chart" uri="{C3380CC4-5D6E-409C-BE32-E72D297353CC}">
              <c16:uniqueId val="{00000000-3BA5-2946-B019-67C02C9EEDAB}"/>
            </c:ext>
          </c:extLst>
        </c:ser>
        <c:dLbls>
          <c:showLegendKey val="0"/>
          <c:showVal val="0"/>
          <c:showCatName val="0"/>
          <c:showSerName val="0"/>
          <c:showPercent val="0"/>
          <c:showBubbleSize val="0"/>
        </c:dLbls>
        <c:axId val="213353471"/>
        <c:axId val="146047328"/>
      </c:scatterChart>
      <c:valAx>
        <c:axId val="213353471"/>
        <c:scaling>
          <c:orientation val="minMax"/>
          <c:max val="0.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sz="2000" b="1"/>
                  <a:t>Slowdown vs. Local Memory Only </a:t>
                </a:r>
              </a:p>
            </c:rich>
          </c:tx>
          <c:overlay val="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CN"/>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200" b="0" i="0" u="none" strike="noStrike" kern="1200" baseline="0">
                <a:solidFill>
                  <a:schemeClr val="tx1">
                    <a:lumMod val="65000"/>
                    <a:lumOff val="35000"/>
                  </a:schemeClr>
                </a:solidFill>
                <a:latin typeface="+mn-lt"/>
                <a:ea typeface="+mn-ea"/>
                <a:cs typeface="+mn-cs"/>
              </a:defRPr>
            </a:pPr>
            <a:endParaRPr lang="en-CN"/>
          </a:p>
        </c:txPr>
        <c:crossAx val="146047328"/>
        <c:crosses val="autoZero"/>
        <c:crossBetween val="midCat"/>
        <c:majorUnit val="0.1"/>
      </c:valAx>
      <c:valAx>
        <c:axId val="146047328"/>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sz="2000" b="1" dirty="0"/>
                  <a:t>CDF</a:t>
                </a:r>
              </a:p>
            </c:rich>
          </c:tx>
          <c:overlay val="0"/>
          <c:spPr>
            <a:noFill/>
            <a:ln>
              <a:noFill/>
            </a:ln>
            <a:effectLst/>
          </c:spPr>
          <c:txPr>
            <a:bodyPr rot="-54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CN"/>
          </a:p>
        </c:txPr>
        <c:crossAx val="213353471"/>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316604037771754"/>
          <c:y val="4.0889396888519849E-2"/>
          <c:w val="0.72990054328561627"/>
          <c:h val="0.66299534841743668"/>
        </c:manualLayout>
      </c:layout>
      <c:scatterChart>
        <c:scatterStyle val="lineMarker"/>
        <c:varyColors val="0"/>
        <c:ser>
          <c:idx val="1"/>
          <c:order val="0"/>
          <c:spPr>
            <a:ln w="50800" cap="rnd">
              <a:solidFill>
                <a:schemeClr val="accent2"/>
              </a:solidFill>
              <a:round/>
            </a:ln>
            <a:effectLst/>
          </c:spPr>
          <c:marker>
            <c:symbol val="none"/>
          </c:marker>
          <c:xVal>
            <c:numRef>
              <c:f>'Paper Plot'!$R$3:$R$117</c:f>
              <c:numCache>
                <c:formatCode>0%</c:formatCode>
                <c:ptCount val="115"/>
                <c:pt idx="0">
                  <c:v>-4.4377198092649062E-2</c:v>
                </c:pt>
                <c:pt idx="1">
                  <c:v>-2.2898094738682089E-2</c:v>
                </c:pt>
                <c:pt idx="2">
                  <c:v>-2.0222336560799491E-2</c:v>
                </c:pt>
                <c:pt idx="3">
                  <c:v>-1.9263845889232849E-2</c:v>
                </c:pt>
                <c:pt idx="4">
                  <c:v>-1.7247269056429287E-2</c:v>
                </c:pt>
                <c:pt idx="5">
                  <c:v>-1.5267175572519097E-2</c:v>
                </c:pt>
                <c:pt idx="6">
                  <c:v>-1.4384890862893457E-2</c:v>
                </c:pt>
                <c:pt idx="7">
                  <c:v>-1.3600732518927168E-2</c:v>
                </c:pt>
                <c:pt idx="8">
                  <c:v>-1.081081081081082E-2</c:v>
                </c:pt>
                <c:pt idx="9">
                  <c:v>-7.7972316418364216E-3</c:v>
                </c:pt>
                <c:pt idx="10">
                  <c:v>-7.4364152091475778E-3</c:v>
                </c:pt>
                <c:pt idx="11">
                  <c:v>-7.3606729758148217E-3</c:v>
                </c:pt>
                <c:pt idx="12">
                  <c:v>-6.4737429780158829E-3</c:v>
                </c:pt>
                <c:pt idx="13">
                  <c:v>-3.4364261168385673E-3</c:v>
                </c:pt>
                <c:pt idx="14">
                  <c:v>-3.3439360574177919E-3</c:v>
                </c:pt>
                <c:pt idx="15">
                  <c:v>-3.2573289902280878E-3</c:v>
                </c:pt>
                <c:pt idx="16">
                  <c:v>-1.349817613716723E-3</c:v>
                </c:pt>
                <c:pt idx="17">
                  <c:v>-1.0637029354349362E-3</c:v>
                </c:pt>
                <c:pt idx="18">
                  <c:v>-5.8173356602685068E-4</c:v>
                </c:pt>
                <c:pt idx="19">
                  <c:v>-2.1878315504735905E-4</c:v>
                </c:pt>
                <c:pt idx="20">
                  <c:v>-2.1437627814115674E-4</c:v>
                </c:pt>
                <c:pt idx="21">
                  <c:v>-1.8075476463559107E-4</c:v>
                </c:pt>
                <c:pt idx="22">
                  <c:v>-8.4956121678844115E-5</c:v>
                </c:pt>
                <c:pt idx="23">
                  <c:v>1.4536471680853115E-16</c:v>
                </c:pt>
                <c:pt idx="24">
                  <c:v>2.6431375775339856E-4</c:v>
                </c:pt>
                <c:pt idx="25">
                  <c:v>4.9975012493747625E-4</c:v>
                </c:pt>
                <c:pt idx="26">
                  <c:v>8.372271154152241E-4</c:v>
                </c:pt>
                <c:pt idx="27">
                  <c:v>9.7574063519379048E-4</c:v>
                </c:pt>
                <c:pt idx="28">
                  <c:v>1.0094358366395846E-3</c:v>
                </c:pt>
                <c:pt idx="29">
                  <c:v>1.530452583509965E-3</c:v>
                </c:pt>
                <c:pt idx="30">
                  <c:v>2.0663522886927429E-3</c:v>
                </c:pt>
                <c:pt idx="31">
                  <c:v>2.3608255273780865E-3</c:v>
                </c:pt>
                <c:pt idx="32">
                  <c:v>2.5033699210477503E-3</c:v>
                </c:pt>
                <c:pt idx="33">
                  <c:v>2.7584861619529785E-3</c:v>
                </c:pt>
                <c:pt idx="34">
                  <c:v>3.0882642088169623E-3</c:v>
                </c:pt>
                <c:pt idx="35">
                  <c:v>3.5005834305717621E-3</c:v>
                </c:pt>
                <c:pt idx="36">
                  <c:v>3.9017881354187199E-3</c:v>
                </c:pt>
                <c:pt idx="37">
                  <c:v>4.1060097051138934E-3</c:v>
                </c:pt>
                <c:pt idx="38">
                  <c:v>4.1945517475191624E-3</c:v>
                </c:pt>
                <c:pt idx="39">
                  <c:v>4.2833284152515739E-3</c:v>
                </c:pt>
                <c:pt idx="40">
                  <c:v>4.3027081751455306E-3</c:v>
                </c:pt>
                <c:pt idx="41">
                  <c:v>4.940728460350409E-3</c:v>
                </c:pt>
                <c:pt idx="42">
                  <c:v>5.148732793893245E-3</c:v>
                </c:pt>
                <c:pt idx="43">
                  <c:v>5.2791073704048204E-3</c:v>
                </c:pt>
                <c:pt idx="44">
                  <c:v>6.1786431044674461E-3</c:v>
                </c:pt>
                <c:pt idx="45">
                  <c:v>7.6733154364034334E-3</c:v>
                </c:pt>
                <c:pt idx="46">
                  <c:v>8.0053798549053236E-3</c:v>
                </c:pt>
                <c:pt idx="47">
                  <c:v>8.3861214464483747E-3</c:v>
                </c:pt>
                <c:pt idx="48">
                  <c:v>8.95522388059709E-3</c:v>
                </c:pt>
                <c:pt idx="49">
                  <c:v>1.4187265261665522E-2</c:v>
                </c:pt>
                <c:pt idx="50">
                  <c:v>1.4195749458313051E-2</c:v>
                </c:pt>
                <c:pt idx="51">
                  <c:v>1.6815791271088121E-2</c:v>
                </c:pt>
                <c:pt idx="52">
                  <c:v>1.6862327933297359E-2</c:v>
                </c:pt>
                <c:pt idx="53">
                  <c:v>1.7179129928181134E-2</c:v>
                </c:pt>
                <c:pt idx="54">
                  <c:v>1.782142382135115E-2</c:v>
                </c:pt>
                <c:pt idx="55">
                  <c:v>1.8443973908524605E-2</c:v>
                </c:pt>
                <c:pt idx="56">
                  <c:v>1.9658119658119696E-2</c:v>
                </c:pt>
                <c:pt idx="57">
                  <c:v>2.1769337656322316E-2</c:v>
                </c:pt>
                <c:pt idx="58">
                  <c:v>2.59946949602122E-2</c:v>
                </c:pt>
                <c:pt idx="59">
                  <c:v>2.8428288477222331E-2</c:v>
                </c:pt>
                <c:pt idx="60">
                  <c:v>2.8751123090745678E-2</c:v>
                </c:pt>
                <c:pt idx="61">
                  <c:v>3.0076041311996354E-2</c:v>
                </c:pt>
                <c:pt idx="62">
                  <c:v>3.0944500879291119E-2</c:v>
                </c:pt>
                <c:pt idx="63">
                  <c:v>3.1223839908271669E-2</c:v>
                </c:pt>
                <c:pt idx="64">
                  <c:v>3.3564732660429787E-2</c:v>
                </c:pt>
                <c:pt idx="65">
                  <c:v>3.6956125978518155E-2</c:v>
                </c:pt>
                <c:pt idx="66">
                  <c:v>3.7567647976465293E-2</c:v>
                </c:pt>
                <c:pt idx="67">
                  <c:v>3.8140855064750796E-2</c:v>
                </c:pt>
                <c:pt idx="68">
                  <c:v>3.8281057051123842E-2</c:v>
                </c:pt>
                <c:pt idx="69">
                  <c:v>3.8974906567004808E-2</c:v>
                </c:pt>
                <c:pt idx="70">
                  <c:v>4.0723439932926209E-2</c:v>
                </c:pt>
                <c:pt idx="71">
                  <c:v>4.1999686569503099E-2</c:v>
                </c:pt>
                <c:pt idx="72">
                  <c:v>4.3558694920955258E-2</c:v>
                </c:pt>
                <c:pt idx="73">
                  <c:v>4.4692737430167634E-2</c:v>
                </c:pt>
                <c:pt idx="74">
                  <c:v>5.3951729936114787E-2</c:v>
                </c:pt>
                <c:pt idx="75">
                  <c:v>5.7490158757624234E-2</c:v>
                </c:pt>
                <c:pt idx="76">
                  <c:v>6.3488560288383691E-2</c:v>
                </c:pt>
                <c:pt idx="77">
                  <c:v>6.9705954214590818E-2</c:v>
                </c:pt>
                <c:pt idx="78">
                  <c:v>8.8571931678112406E-2</c:v>
                </c:pt>
                <c:pt idx="79">
                  <c:v>0.11489157338653049</c:v>
                </c:pt>
                <c:pt idx="80">
                  <c:v>0.14600533776992139</c:v>
                </c:pt>
                <c:pt idx="81">
                  <c:v>0.17878916773004394</c:v>
                </c:pt>
                <c:pt idx="82">
                  <c:v>0.19416183054227149</c:v>
                </c:pt>
                <c:pt idx="83">
                  <c:v>0.1991868363410417</c:v>
                </c:pt>
                <c:pt idx="84">
                  <c:v>0.20132831466750065</c:v>
                </c:pt>
                <c:pt idx="85">
                  <c:v>0.2085878215806036</c:v>
                </c:pt>
                <c:pt idx="86">
                  <c:v>0.23827580482907451</c:v>
                </c:pt>
                <c:pt idx="87">
                  <c:v>0.25052668347687485</c:v>
                </c:pt>
                <c:pt idx="88">
                  <c:v>0.28504704301075245</c:v>
                </c:pt>
                <c:pt idx="89">
                  <c:v>0.29084804084804083</c:v>
                </c:pt>
                <c:pt idx="90">
                  <c:v>0.30457246847122016</c:v>
                </c:pt>
                <c:pt idx="91">
                  <c:v>0.31816312931535595</c:v>
                </c:pt>
                <c:pt idx="92">
                  <c:v>0.31986338923903812</c:v>
                </c:pt>
                <c:pt idx="93">
                  <c:v>0.3688588822663626</c:v>
                </c:pt>
                <c:pt idx="94">
                  <c:v>0.51847523068339874</c:v>
                </c:pt>
                <c:pt idx="95">
                  <c:v>0.56735102653980984</c:v>
                </c:pt>
                <c:pt idx="96">
                  <c:v>0.57733587748795223</c:v>
                </c:pt>
                <c:pt idx="97">
                  <c:v>0.59206488126495149</c:v>
                </c:pt>
                <c:pt idx="98">
                  <c:v>0.60667992741450105</c:v>
                </c:pt>
                <c:pt idx="99">
                  <c:v>0.61059486935112384</c:v>
                </c:pt>
                <c:pt idx="100">
                  <c:v>0.63793052736845191</c:v>
                </c:pt>
                <c:pt idx="101">
                  <c:v>0.67855373947498754</c:v>
                </c:pt>
                <c:pt idx="102">
                  <c:v>0.70392175481910568</c:v>
                </c:pt>
                <c:pt idx="103">
                  <c:v>0.80530973451327437</c:v>
                </c:pt>
                <c:pt idx="104">
                  <c:v>0.85255154601778871</c:v>
                </c:pt>
                <c:pt idx="105">
                  <c:v>0.8879056047197641</c:v>
                </c:pt>
                <c:pt idx="106">
                  <c:v>0.90390390390390396</c:v>
                </c:pt>
                <c:pt idx="107">
                  <c:v>1.0088495575221239</c:v>
                </c:pt>
                <c:pt idx="108">
                  <c:v>1.327756988773938</c:v>
                </c:pt>
                <c:pt idx="109">
                  <c:v>2.0178571428571428</c:v>
                </c:pt>
                <c:pt idx="110">
                  <c:v>2.3433071119476208</c:v>
                </c:pt>
                <c:pt idx="111">
                  <c:v>3.5178571428571428</c:v>
                </c:pt>
                <c:pt idx="112">
                  <c:v>12.299329828047499</c:v>
                </c:pt>
                <c:pt idx="113">
                  <c:v>13.387198986058301</c:v>
                </c:pt>
                <c:pt idx="114">
                  <c:v>31.44835223032667</c:v>
                </c:pt>
              </c:numCache>
            </c:numRef>
          </c:xVal>
          <c:yVal>
            <c:numRef>
              <c:f>'Paper Plot'!$U$3:$U$117</c:f>
              <c:numCache>
                <c:formatCode>General</c:formatCode>
                <c:ptCount val="115"/>
                <c:pt idx="0">
                  <c:v>8.6956521739130436E-3</c:v>
                </c:pt>
                <c:pt idx="1">
                  <c:v>1.7391304347826087E-2</c:v>
                </c:pt>
                <c:pt idx="2">
                  <c:v>2.6086956521739129E-2</c:v>
                </c:pt>
                <c:pt idx="3">
                  <c:v>3.4782608695652174E-2</c:v>
                </c:pt>
                <c:pt idx="4">
                  <c:v>4.3478260869565216E-2</c:v>
                </c:pt>
                <c:pt idx="5">
                  <c:v>5.2173913043478258E-2</c:v>
                </c:pt>
                <c:pt idx="6">
                  <c:v>6.0869565217391307E-2</c:v>
                </c:pt>
                <c:pt idx="7">
                  <c:v>6.9565217391304349E-2</c:v>
                </c:pt>
                <c:pt idx="8">
                  <c:v>7.8260869565217397E-2</c:v>
                </c:pt>
                <c:pt idx="9">
                  <c:v>8.6956521739130432E-2</c:v>
                </c:pt>
                <c:pt idx="10">
                  <c:v>9.5652173913043481E-2</c:v>
                </c:pt>
                <c:pt idx="11">
                  <c:v>0.10434782608695652</c:v>
                </c:pt>
                <c:pt idx="12">
                  <c:v>0.11304347826086956</c:v>
                </c:pt>
                <c:pt idx="13">
                  <c:v>0.12173913043478261</c:v>
                </c:pt>
                <c:pt idx="14">
                  <c:v>0.13043478260869565</c:v>
                </c:pt>
                <c:pt idx="15">
                  <c:v>0.1391304347826087</c:v>
                </c:pt>
                <c:pt idx="16">
                  <c:v>0.14782608695652175</c:v>
                </c:pt>
                <c:pt idx="17">
                  <c:v>0.15652173913043479</c:v>
                </c:pt>
                <c:pt idx="18">
                  <c:v>0.16521739130434782</c:v>
                </c:pt>
                <c:pt idx="19">
                  <c:v>0.17391304347826086</c:v>
                </c:pt>
                <c:pt idx="20">
                  <c:v>0.18260869565217391</c:v>
                </c:pt>
                <c:pt idx="21">
                  <c:v>0.19130434782608696</c:v>
                </c:pt>
                <c:pt idx="22">
                  <c:v>0.2</c:v>
                </c:pt>
                <c:pt idx="23">
                  <c:v>0.20869565217391303</c:v>
                </c:pt>
                <c:pt idx="24">
                  <c:v>0.21739130434782608</c:v>
                </c:pt>
                <c:pt idx="25">
                  <c:v>0.22608695652173913</c:v>
                </c:pt>
                <c:pt idx="26">
                  <c:v>0.23478260869565218</c:v>
                </c:pt>
                <c:pt idx="27">
                  <c:v>0.24347826086956523</c:v>
                </c:pt>
                <c:pt idx="28">
                  <c:v>0.25217391304347825</c:v>
                </c:pt>
                <c:pt idx="29">
                  <c:v>0.2608695652173913</c:v>
                </c:pt>
                <c:pt idx="30">
                  <c:v>0.26956521739130435</c:v>
                </c:pt>
                <c:pt idx="31">
                  <c:v>0.27826086956521739</c:v>
                </c:pt>
                <c:pt idx="32">
                  <c:v>0.28695652173913044</c:v>
                </c:pt>
                <c:pt idx="33">
                  <c:v>0.29565217391304349</c:v>
                </c:pt>
                <c:pt idx="34">
                  <c:v>0.30434782608695654</c:v>
                </c:pt>
                <c:pt idx="35">
                  <c:v>0.31304347826086959</c:v>
                </c:pt>
                <c:pt idx="36">
                  <c:v>0.32173913043478258</c:v>
                </c:pt>
                <c:pt idx="37">
                  <c:v>0.33043478260869563</c:v>
                </c:pt>
                <c:pt idx="38">
                  <c:v>0.33913043478260868</c:v>
                </c:pt>
                <c:pt idx="39">
                  <c:v>0.34782608695652173</c:v>
                </c:pt>
                <c:pt idx="40">
                  <c:v>0.35652173913043478</c:v>
                </c:pt>
                <c:pt idx="41">
                  <c:v>0.36521739130434783</c:v>
                </c:pt>
                <c:pt idx="42">
                  <c:v>0.37391304347826088</c:v>
                </c:pt>
                <c:pt idx="43">
                  <c:v>0.38260869565217392</c:v>
                </c:pt>
                <c:pt idx="44">
                  <c:v>0.39130434782608697</c:v>
                </c:pt>
                <c:pt idx="45">
                  <c:v>0.4</c:v>
                </c:pt>
                <c:pt idx="46">
                  <c:v>0.40869565217391307</c:v>
                </c:pt>
                <c:pt idx="47">
                  <c:v>0.41739130434782606</c:v>
                </c:pt>
                <c:pt idx="48">
                  <c:v>0.42608695652173911</c:v>
                </c:pt>
                <c:pt idx="49">
                  <c:v>0.43478260869565216</c:v>
                </c:pt>
                <c:pt idx="50">
                  <c:v>0.44347826086956521</c:v>
                </c:pt>
                <c:pt idx="51">
                  <c:v>0.45217391304347826</c:v>
                </c:pt>
                <c:pt idx="52">
                  <c:v>0.46086956521739131</c:v>
                </c:pt>
                <c:pt idx="53">
                  <c:v>0.46956521739130436</c:v>
                </c:pt>
                <c:pt idx="54">
                  <c:v>0.47826086956521741</c:v>
                </c:pt>
                <c:pt idx="55">
                  <c:v>0.48695652173913045</c:v>
                </c:pt>
                <c:pt idx="56">
                  <c:v>0.4956521739130435</c:v>
                </c:pt>
                <c:pt idx="57">
                  <c:v>0.5043478260869565</c:v>
                </c:pt>
                <c:pt idx="58">
                  <c:v>0.5130434782608696</c:v>
                </c:pt>
                <c:pt idx="59">
                  <c:v>0.52173913043478259</c:v>
                </c:pt>
                <c:pt idx="60">
                  <c:v>0.5304347826086957</c:v>
                </c:pt>
                <c:pt idx="61">
                  <c:v>0.53913043478260869</c:v>
                </c:pt>
                <c:pt idx="62">
                  <c:v>0.54782608695652169</c:v>
                </c:pt>
                <c:pt idx="63">
                  <c:v>0.55652173913043479</c:v>
                </c:pt>
                <c:pt idx="64">
                  <c:v>0.56521739130434778</c:v>
                </c:pt>
                <c:pt idx="65">
                  <c:v>0.57391304347826089</c:v>
                </c:pt>
                <c:pt idx="66">
                  <c:v>0.58260869565217388</c:v>
                </c:pt>
                <c:pt idx="67">
                  <c:v>0.59130434782608698</c:v>
                </c:pt>
                <c:pt idx="68">
                  <c:v>0.6</c:v>
                </c:pt>
                <c:pt idx="69">
                  <c:v>0.60869565217391308</c:v>
                </c:pt>
                <c:pt idx="70">
                  <c:v>0.61739130434782608</c:v>
                </c:pt>
                <c:pt idx="71">
                  <c:v>0.62608695652173918</c:v>
                </c:pt>
                <c:pt idx="72">
                  <c:v>0.63478260869565217</c:v>
                </c:pt>
                <c:pt idx="73">
                  <c:v>0.64347826086956517</c:v>
                </c:pt>
                <c:pt idx="74">
                  <c:v>0.65217391304347827</c:v>
                </c:pt>
                <c:pt idx="75">
                  <c:v>0.66086956521739126</c:v>
                </c:pt>
                <c:pt idx="76">
                  <c:v>0.66956521739130437</c:v>
                </c:pt>
                <c:pt idx="77">
                  <c:v>0.67826086956521736</c:v>
                </c:pt>
                <c:pt idx="78">
                  <c:v>0.68695652173913047</c:v>
                </c:pt>
                <c:pt idx="79">
                  <c:v>0.69565217391304346</c:v>
                </c:pt>
                <c:pt idx="80">
                  <c:v>0.70434782608695656</c:v>
                </c:pt>
                <c:pt idx="81">
                  <c:v>0.71304347826086956</c:v>
                </c:pt>
                <c:pt idx="82">
                  <c:v>0.72173913043478266</c:v>
                </c:pt>
                <c:pt idx="83">
                  <c:v>0.73043478260869565</c:v>
                </c:pt>
                <c:pt idx="84">
                  <c:v>0.73913043478260865</c:v>
                </c:pt>
                <c:pt idx="85">
                  <c:v>0.74782608695652175</c:v>
                </c:pt>
                <c:pt idx="86">
                  <c:v>0.75652173913043474</c:v>
                </c:pt>
                <c:pt idx="87">
                  <c:v>0.76521739130434785</c:v>
                </c:pt>
                <c:pt idx="88">
                  <c:v>0.77391304347826084</c:v>
                </c:pt>
                <c:pt idx="89">
                  <c:v>0.78260869565217395</c:v>
                </c:pt>
                <c:pt idx="90">
                  <c:v>0.79130434782608694</c:v>
                </c:pt>
                <c:pt idx="91">
                  <c:v>0.8</c:v>
                </c:pt>
                <c:pt idx="92">
                  <c:v>0.80869565217391304</c:v>
                </c:pt>
                <c:pt idx="93">
                  <c:v>0.81739130434782614</c:v>
                </c:pt>
                <c:pt idx="94">
                  <c:v>0.82608695652173914</c:v>
                </c:pt>
                <c:pt idx="95">
                  <c:v>0.83478260869565213</c:v>
                </c:pt>
                <c:pt idx="96">
                  <c:v>0.84347826086956523</c:v>
                </c:pt>
                <c:pt idx="97">
                  <c:v>0.85217391304347823</c:v>
                </c:pt>
                <c:pt idx="98">
                  <c:v>0.86086956521739133</c:v>
                </c:pt>
                <c:pt idx="99">
                  <c:v>0.86956521739130432</c:v>
                </c:pt>
                <c:pt idx="100">
                  <c:v>0.87826086956521743</c:v>
                </c:pt>
                <c:pt idx="101">
                  <c:v>0.88695652173913042</c:v>
                </c:pt>
                <c:pt idx="102">
                  <c:v>0.89565217391304353</c:v>
                </c:pt>
                <c:pt idx="103">
                  <c:v>0.90434782608695652</c:v>
                </c:pt>
                <c:pt idx="104">
                  <c:v>0.91304347826086951</c:v>
                </c:pt>
                <c:pt idx="105">
                  <c:v>0.92173913043478262</c:v>
                </c:pt>
                <c:pt idx="106">
                  <c:v>0.93043478260869561</c:v>
                </c:pt>
                <c:pt idx="107">
                  <c:v>0.93913043478260871</c:v>
                </c:pt>
                <c:pt idx="108">
                  <c:v>0.94782608695652171</c:v>
                </c:pt>
                <c:pt idx="109">
                  <c:v>0.95652173913043481</c:v>
                </c:pt>
                <c:pt idx="110">
                  <c:v>0.9652173913043478</c:v>
                </c:pt>
                <c:pt idx="111">
                  <c:v>0.97391304347826091</c:v>
                </c:pt>
                <c:pt idx="112">
                  <c:v>0.9826086956521739</c:v>
                </c:pt>
                <c:pt idx="113">
                  <c:v>0.99130434782608701</c:v>
                </c:pt>
                <c:pt idx="114">
                  <c:v>1</c:v>
                </c:pt>
              </c:numCache>
            </c:numRef>
          </c:yVal>
          <c:smooth val="0"/>
          <c:extLst>
            <c:ext xmlns:c16="http://schemas.microsoft.com/office/drawing/2014/chart" uri="{C3380CC4-5D6E-409C-BE32-E72D297353CC}">
              <c16:uniqueId val="{00000003-5885-8145-BFAE-EEB2C529AD4A}"/>
            </c:ext>
          </c:extLst>
        </c:ser>
        <c:dLbls>
          <c:showLegendKey val="0"/>
          <c:showVal val="0"/>
          <c:showCatName val="0"/>
          <c:showSerName val="0"/>
          <c:showPercent val="0"/>
          <c:showBubbleSize val="0"/>
        </c:dLbls>
        <c:axId val="213353471"/>
        <c:axId val="146047328"/>
      </c:scatterChart>
      <c:valAx>
        <c:axId val="213353471"/>
        <c:scaling>
          <c:orientation val="minMax"/>
          <c:max val="0.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sz="2000" b="1"/>
                  <a:t>Slowdown vs. Local Memory Only </a:t>
                </a:r>
              </a:p>
            </c:rich>
          </c:tx>
          <c:overlay val="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CN"/>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200" b="0" i="0" u="none" strike="noStrike" kern="1200" baseline="0">
                <a:solidFill>
                  <a:schemeClr val="tx1">
                    <a:lumMod val="65000"/>
                    <a:lumOff val="35000"/>
                  </a:schemeClr>
                </a:solidFill>
                <a:latin typeface="+mn-lt"/>
                <a:ea typeface="+mn-ea"/>
                <a:cs typeface="+mn-cs"/>
              </a:defRPr>
            </a:pPr>
            <a:endParaRPr lang="en-CN"/>
          </a:p>
        </c:txPr>
        <c:crossAx val="146047328"/>
        <c:crosses val="autoZero"/>
        <c:crossBetween val="midCat"/>
        <c:majorUnit val="0.1"/>
      </c:valAx>
      <c:valAx>
        <c:axId val="146047328"/>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sz="2000" b="1" dirty="0"/>
                  <a:t>CDF</a:t>
                </a:r>
              </a:p>
            </c:rich>
          </c:tx>
          <c:overlay val="0"/>
          <c:spPr>
            <a:noFill/>
            <a:ln>
              <a:noFill/>
            </a:ln>
            <a:effectLst/>
          </c:spPr>
          <c:txPr>
            <a:bodyPr rot="-54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CN"/>
          </a:p>
        </c:txPr>
        <c:crossAx val="213353471"/>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Sheet1!$A$103:$C$103</c:f>
              <c:strCache>
                <c:ptCount val="1"/>
                <c:pt idx="0">
                  <c:v>2018 27.67 $7.02</c:v>
                </c:pt>
              </c:strCache>
            </c:strRef>
          </c:tx>
          <c:spPr>
            <a:ln w="25400" cap="rnd">
              <a:noFill/>
              <a:round/>
            </a:ln>
            <a:effectLst/>
          </c:spPr>
          <c:marker>
            <c:symbol val="circle"/>
            <c:size val="6"/>
            <c:spPr>
              <a:solidFill>
                <a:srgbClr val="C00000"/>
              </a:solidFill>
              <a:ln w="12700">
                <a:noFill/>
              </a:ln>
              <a:effectLst/>
            </c:spPr>
          </c:marker>
          <c:xVal>
            <c:numRef>
              <c:f>Sheet3!$A$202:$A$415</c:f>
              <c:numCache>
                <c:formatCode>0</c:formatCode>
                <c:ptCount val="214"/>
                <c:pt idx="0">
                  <c:v>1999.5</c:v>
                </c:pt>
                <c:pt idx="1">
                  <c:v>1999.67</c:v>
                </c:pt>
                <c:pt idx="2">
                  <c:v>1999.75</c:v>
                </c:pt>
                <c:pt idx="3">
                  <c:v>1999.83</c:v>
                </c:pt>
                <c:pt idx="4">
                  <c:v>1999.92</c:v>
                </c:pt>
                <c:pt idx="5">
                  <c:v>2000</c:v>
                </c:pt>
                <c:pt idx="6">
                  <c:v>2000.08</c:v>
                </c:pt>
                <c:pt idx="7">
                  <c:v>2000.17</c:v>
                </c:pt>
                <c:pt idx="8">
                  <c:v>2000.25</c:v>
                </c:pt>
                <c:pt idx="9">
                  <c:v>2000.33</c:v>
                </c:pt>
                <c:pt idx="10">
                  <c:v>2000.42</c:v>
                </c:pt>
                <c:pt idx="11">
                  <c:v>2000.5</c:v>
                </c:pt>
                <c:pt idx="12">
                  <c:v>2000.58</c:v>
                </c:pt>
                <c:pt idx="13">
                  <c:v>2000.67</c:v>
                </c:pt>
                <c:pt idx="14">
                  <c:v>2000.75</c:v>
                </c:pt>
                <c:pt idx="15">
                  <c:v>2000.83</c:v>
                </c:pt>
                <c:pt idx="16">
                  <c:v>2000.92</c:v>
                </c:pt>
                <c:pt idx="17">
                  <c:v>2001</c:v>
                </c:pt>
                <c:pt idx="18">
                  <c:v>2001.08</c:v>
                </c:pt>
                <c:pt idx="19">
                  <c:v>2001.17</c:v>
                </c:pt>
                <c:pt idx="20">
                  <c:v>2001.25</c:v>
                </c:pt>
                <c:pt idx="21">
                  <c:v>2001.33</c:v>
                </c:pt>
                <c:pt idx="22">
                  <c:v>2001.42</c:v>
                </c:pt>
                <c:pt idx="23">
                  <c:v>2001.5</c:v>
                </c:pt>
                <c:pt idx="24">
                  <c:v>2001.5</c:v>
                </c:pt>
                <c:pt idx="25">
                  <c:v>2001.58</c:v>
                </c:pt>
                <c:pt idx="26">
                  <c:v>2001.67</c:v>
                </c:pt>
                <c:pt idx="27">
                  <c:v>2001.75</c:v>
                </c:pt>
                <c:pt idx="28">
                  <c:v>2001.77</c:v>
                </c:pt>
                <c:pt idx="29">
                  <c:v>2002.08</c:v>
                </c:pt>
                <c:pt idx="30">
                  <c:v>2002.08</c:v>
                </c:pt>
                <c:pt idx="31">
                  <c:v>2002.25</c:v>
                </c:pt>
                <c:pt idx="32">
                  <c:v>2002.33</c:v>
                </c:pt>
                <c:pt idx="33">
                  <c:v>2002.42</c:v>
                </c:pt>
                <c:pt idx="34">
                  <c:v>2002.58</c:v>
                </c:pt>
                <c:pt idx="35">
                  <c:v>2002.75</c:v>
                </c:pt>
                <c:pt idx="36">
                  <c:v>2003.17</c:v>
                </c:pt>
                <c:pt idx="37">
                  <c:v>2003.25</c:v>
                </c:pt>
                <c:pt idx="38">
                  <c:v>2003.33</c:v>
                </c:pt>
                <c:pt idx="39">
                  <c:v>2003.42</c:v>
                </c:pt>
                <c:pt idx="40">
                  <c:v>2003.5</c:v>
                </c:pt>
                <c:pt idx="41">
                  <c:v>2003.58</c:v>
                </c:pt>
                <c:pt idx="42">
                  <c:v>2003.67</c:v>
                </c:pt>
                <c:pt idx="43">
                  <c:v>2003.75</c:v>
                </c:pt>
                <c:pt idx="44">
                  <c:v>2003.83</c:v>
                </c:pt>
                <c:pt idx="45">
                  <c:v>2003.99</c:v>
                </c:pt>
                <c:pt idx="46">
                  <c:v>2004</c:v>
                </c:pt>
                <c:pt idx="47">
                  <c:v>2004.08</c:v>
                </c:pt>
                <c:pt idx="48">
                  <c:v>2004.17</c:v>
                </c:pt>
                <c:pt idx="49">
                  <c:v>2004.33</c:v>
                </c:pt>
                <c:pt idx="50">
                  <c:v>2004.42</c:v>
                </c:pt>
                <c:pt idx="51">
                  <c:v>2004.5</c:v>
                </c:pt>
                <c:pt idx="52">
                  <c:v>2005.25</c:v>
                </c:pt>
                <c:pt idx="53">
                  <c:v>2005.42</c:v>
                </c:pt>
                <c:pt idx="54">
                  <c:v>2005.83</c:v>
                </c:pt>
                <c:pt idx="55">
                  <c:v>2005.92</c:v>
                </c:pt>
                <c:pt idx="56">
                  <c:v>2006.17</c:v>
                </c:pt>
                <c:pt idx="57">
                  <c:v>2006.33</c:v>
                </c:pt>
                <c:pt idx="58">
                  <c:v>2006.5</c:v>
                </c:pt>
                <c:pt idx="59">
                  <c:v>2006.67</c:v>
                </c:pt>
                <c:pt idx="60">
                  <c:v>2006.75</c:v>
                </c:pt>
                <c:pt idx="61">
                  <c:v>2006.83</c:v>
                </c:pt>
                <c:pt idx="62">
                  <c:v>2006.99</c:v>
                </c:pt>
                <c:pt idx="63">
                  <c:v>2007</c:v>
                </c:pt>
                <c:pt idx="64">
                  <c:v>2007.08</c:v>
                </c:pt>
                <c:pt idx="65">
                  <c:v>2007.17</c:v>
                </c:pt>
                <c:pt idx="66">
                  <c:v>2007.33</c:v>
                </c:pt>
                <c:pt idx="67">
                  <c:v>2007.5</c:v>
                </c:pt>
                <c:pt idx="68">
                  <c:v>2007.67</c:v>
                </c:pt>
                <c:pt idx="69">
                  <c:v>2007.75</c:v>
                </c:pt>
                <c:pt idx="70">
                  <c:v>2007.83</c:v>
                </c:pt>
                <c:pt idx="71">
                  <c:v>2007.92</c:v>
                </c:pt>
                <c:pt idx="72">
                  <c:v>2008</c:v>
                </c:pt>
                <c:pt idx="73">
                  <c:v>2008.08</c:v>
                </c:pt>
                <c:pt idx="74">
                  <c:v>2008.33</c:v>
                </c:pt>
                <c:pt idx="75">
                  <c:v>2008.5</c:v>
                </c:pt>
                <c:pt idx="76">
                  <c:v>2008.58</c:v>
                </c:pt>
                <c:pt idx="77">
                  <c:v>2008.67</c:v>
                </c:pt>
                <c:pt idx="78">
                  <c:v>2008.83</c:v>
                </c:pt>
                <c:pt idx="79">
                  <c:v>2008.92</c:v>
                </c:pt>
                <c:pt idx="80">
                  <c:v>2009</c:v>
                </c:pt>
                <c:pt idx="81">
                  <c:v>2009.08</c:v>
                </c:pt>
                <c:pt idx="82">
                  <c:v>2009.25</c:v>
                </c:pt>
                <c:pt idx="83">
                  <c:v>2009.42</c:v>
                </c:pt>
                <c:pt idx="84">
                  <c:v>2009.5</c:v>
                </c:pt>
                <c:pt idx="85">
                  <c:v>2009.58</c:v>
                </c:pt>
                <c:pt idx="86">
                  <c:v>2009.75</c:v>
                </c:pt>
                <c:pt idx="87">
                  <c:v>2009.92</c:v>
                </c:pt>
                <c:pt idx="88">
                  <c:v>2010</c:v>
                </c:pt>
                <c:pt idx="89">
                  <c:v>2010.08</c:v>
                </c:pt>
                <c:pt idx="90">
                  <c:v>2010.17</c:v>
                </c:pt>
                <c:pt idx="91">
                  <c:v>2010.33</c:v>
                </c:pt>
                <c:pt idx="92">
                  <c:v>2010.5</c:v>
                </c:pt>
                <c:pt idx="93">
                  <c:v>2010.58</c:v>
                </c:pt>
                <c:pt idx="94">
                  <c:v>2010.75</c:v>
                </c:pt>
                <c:pt idx="95">
                  <c:v>2010.83</c:v>
                </c:pt>
                <c:pt idx="96">
                  <c:v>2010.92</c:v>
                </c:pt>
                <c:pt idx="97">
                  <c:v>2011</c:v>
                </c:pt>
                <c:pt idx="98">
                  <c:v>2011.08</c:v>
                </c:pt>
                <c:pt idx="99">
                  <c:v>2011.33</c:v>
                </c:pt>
                <c:pt idx="100">
                  <c:v>2011.42</c:v>
                </c:pt>
                <c:pt idx="101">
                  <c:v>2011.67</c:v>
                </c:pt>
                <c:pt idx="102">
                  <c:v>2011.75</c:v>
                </c:pt>
                <c:pt idx="103">
                  <c:v>2012</c:v>
                </c:pt>
                <c:pt idx="104">
                  <c:v>2012.08</c:v>
                </c:pt>
                <c:pt idx="105">
                  <c:v>2012.25</c:v>
                </c:pt>
                <c:pt idx="106">
                  <c:v>2012.33</c:v>
                </c:pt>
                <c:pt idx="107">
                  <c:v>2012.58</c:v>
                </c:pt>
                <c:pt idx="108">
                  <c:v>2012.67</c:v>
                </c:pt>
                <c:pt idx="109">
                  <c:v>2012.83</c:v>
                </c:pt>
                <c:pt idx="110">
                  <c:v>2013</c:v>
                </c:pt>
                <c:pt idx="111">
                  <c:v>2013.08</c:v>
                </c:pt>
                <c:pt idx="112">
                  <c:v>2013.33</c:v>
                </c:pt>
                <c:pt idx="113">
                  <c:v>2013.42</c:v>
                </c:pt>
                <c:pt idx="114">
                  <c:v>2013.58</c:v>
                </c:pt>
                <c:pt idx="115">
                  <c:v>2013.67</c:v>
                </c:pt>
                <c:pt idx="116">
                  <c:v>2013.75</c:v>
                </c:pt>
                <c:pt idx="117">
                  <c:v>2013.83</c:v>
                </c:pt>
                <c:pt idx="118">
                  <c:v>2013.92</c:v>
                </c:pt>
                <c:pt idx="119">
                  <c:v>2014.08</c:v>
                </c:pt>
                <c:pt idx="120">
                  <c:v>2014.17</c:v>
                </c:pt>
                <c:pt idx="121">
                  <c:v>2014.25</c:v>
                </c:pt>
                <c:pt idx="122">
                  <c:v>2014.42</c:v>
                </c:pt>
                <c:pt idx="123">
                  <c:v>2014.58</c:v>
                </c:pt>
                <c:pt idx="124">
                  <c:v>2014.67</c:v>
                </c:pt>
                <c:pt idx="125">
                  <c:v>2014.83</c:v>
                </c:pt>
                <c:pt idx="126">
                  <c:v>2015</c:v>
                </c:pt>
                <c:pt idx="127">
                  <c:v>2015.08</c:v>
                </c:pt>
                <c:pt idx="128">
                  <c:v>2015.25</c:v>
                </c:pt>
                <c:pt idx="129">
                  <c:v>2015.33</c:v>
                </c:pt>
                <c:pt idx="130">
                  <c:v>2015.5</c:v>
                </c:pt>
                <c:pt idx="131">
                  <c:v>2015.58</c:v>
                </c:pt>
                <c:pt idx="132">
                  <c:v>2015.67</c:v>
                </c:pt>
                <c:pt idx="133">
                  <c:v>2015.75</c:v>
                </c:pt>
                <c:pt idx="134">
                  <c:v>2015.83</c:v>
                </c:pt>
                <c:pt idx="135">
                  <c:v>2015.92</c:v>
                </c:pt>
                <c:pt idx="136">
                  <c:v>2016.08</c:v>
                </c:pt>
                <c:pt idx="137">
                  <c:v>2016.25</c:v>
                </c:pt>
                <c:pt idx="138">
                  <c:v>2016.33</c:v>
                </c:pt>
                <c:pt idx="139">
                  <c:v>2016.42</c:v>
                </c:pt>
                <c:pt idx="140">
                  <c:v>2016.5</c:v>
                </c:pt>
                <c:pt idx="141">
                  <c:v>2016.58</c:v>
                </c:pt>
                <c:pt idx="142">
                  <c:v>2016.75</c:v>
                </c:pt>
                <c:pt idx="143">
                  <c:v>2016.83</c:v>
                </c:pt>
                <c:pt idx="144">
                  <c:v>2016.92</c:v>
                </c:pt>
                <c:pt idx="145">
                  <c:v>2017</c:v>
                </c:pt>
                <c:pt idx="146">
                  <c:v>2017.17</c:v>
                </c:pt>
                <c:pt idx="147">
                  <c:v>2017.33</c:v>
                </c:pt>
                <c:pt idx="148">
                  <c:v>2017.42</c:v>
                </c:pt>
                <c:pt idx="149">
                  <c:v>2017.5</c:v>
                </c:pt>
                <c:pt idx="150">
                  <c:v>2017.67</c:v>
                </c:pt>
                <c:pt idx="151">
                  <c:v>2017.75</c:v>
                </c:pt>
                <c:pt idx="152">
                  <c:v>2017.92</c:v>
                </c:pt>
                <c:pt idx="153">
                  <c:v>2018.08</c:v>
                </c:pt>
                <c:pt idx="154">
                  <c:v>2018.17</c:v>
                </c:pt>
                <c:pt idx="155">
                  <c:v>2018.33</c:v>
                </c:pt>
                <c:pt idx="156">
                  <c:v>2018.42</c:v>
                </c:pt>
                <c:pt idx="157">
                  <c:v>2018.5</c:v>
                </c:pt>
                <c:pt idx="158">
                  <c:v>2018.58</c:v>
                </c:pt>
                <c:pt idx="159">
                  <c:v>2018.67</c:v>
                </c:pt>
                <c:pt idx="160">
                  <c:v>2018.83</c:v>
                </c:pt>
                <c:pt idx="161">
                  <c:v>2018.92</c:v>
                </c:pt>
                <c:pt idx="162">
                  <c:v>2019</c:v>
                </c:pt>
                <c:pt idx="163">
                  <c:v>2019.08</c:v>
                </c:pt>
                <c:pt idx="164">
                  <c:v>2019.17</c:v>
                </c:pt>
                <c:pt idx="165">
                  <c:v>2019.25</c:v>
                </c:pt>
                <c:pt idx="166">
                  <c:v>2019.33</c:v>
                </c:pt>
                <c:pt idx="167">
                  <c:v>2019.42</c:v>
                </c:pt>
                <c:pt idx="168">
                  <c:v>2019.5</c:v>
                </c:pt>
                <c:pt idx="169">
                  <c:v>2019.58</c:v>
                </c:pt>
                <c:pt idx="170">
                  <c:v>2019.67</c:v>
                </c:pt>
                <c:pt idx="171">
                  <c:v>2019.75</c:v>
                </c:pt>
                <c:pt idx="172">
                  <c:v>2019.83</c:v>
                </c:pt>
                <c:pt idx="173">
                  <c:v>2019.92</c:v>
                </c:pt>
                <c:pt idx="174">
                  <c:v>2020</c:v>
                </c:pt>
                <c:pt idx="175">
                  <c:v>2020.08</c:v>
                </c:pt>
                <c:pt idx="176">
                  <c:v>2020.17</c:v>
                </c:pt>
                <c:pt idx="177">
                  <c:v>2020.25</c:v>
                </c:pt>
                <c:pt idx="178">
                  <c:v>2020.33</c:v>
                </c:pt>
                <c:pt idx="179">
                  <c:v>2020.42</c:v>
                </c:pt>
                <c:pt idx="180">
                  <c:v>2020.5</c:v>
                </c:pt>
                <c:pt idx="181">
                  <c:v>2020.58</c:v>
                </c:pt>
                <c:pt idx="182">
                  <c:v>2020.67</c:v>
                </c:pt>
                <c:pt idx="183">
                  <c:v>2020.75</c:v>
                </c:pt>
                <c:pt idx="184">
                  <c:v>2020.83</c:v>
                </c:pt>
                <c:pt idx="185">
                  <c:v>2020.92</c:v>
                </c:pt>
                <c:pt idx="186">
                  <c:v>2021.08</c:v>
                </c:pt>
                <c:pt idx="187">
                  <c:v>2021.25</c:v>
                </c:pt>
                <c:pt idx="188">
                  <c:v>2021.33</c:v>
                </c:pt>
                <c:pt idx="189">
                  <c:v>2021.5</c:v>
                </c:pt>
                <c:pt idx="190">
                  <c:v>2021.58</c:v>
                </c:pt>
                <c:pt idx="191">
                  <c:v>2021.67</c:v>
                </c:pt>
                <c:pt idx="192">
                  <c:v>2021.75</c:v>
                </c:pt>
                <c:pt idx="193">
                  <c:v>2021.92</c:v>
                </c:pt>
                <c:pt idx="194">
                  <c:v>2022</c:v>
                </c:pt>
                <c:pt idx="195">
                  <c:v>2022.08</c:v>
                </c:pt>
                <c:pt idx="196">
                  <c:v>2022.17</c:v>
                </c:pt>
                <c:pt idx="197">
                  <c:v>2022.25</c:v>
                </c:pt>
                <c:pt idx="198">
                  <c:v>2022.33</c:v>
                </c:pt>
                <c:pt idx="199">
                  <c:v>2022.42</c:v>
                </c:pt>
                <c:pt idx="200">
                  <c:v>2022.58</c:v>
                </c:pt>
                <c:pt idx="201">
                  <c:v>2022.67</c:v>
                </c:pt>
                <c:pt idx="202">
                  <c:v>2022.75</c:v>
                </c:pt>
                <c:pt idx="203">
                  <c:v>2022.83</c:v>
                </c:pt>
                <c:pt idx="204">
                  <c:v>2022.92</c:v>
                </c:pt>
                <c:pt idx="205">
                  <c:v>2023</c:v>
                </c:pt>
                <c:pt idx="206">
                  <c:v>2023.08</c:v>
                </c:pt>
                <c:pt idx="207">
                  <c:v>2023.17</c:v>
                </c:pt>
                <c:pt idx="208">
                  <c:v>2023.33</c:v>
                </c:pt>
                <c:pt idx="209">
                  <c:v>2023.42</c:v>
                </c:pt>
                <c:pt idx="210">
                  <c:v>2023.5</c:v>
                </c:pt>
                <c:pt idx="211">
                  <c:v>2023.67</c:v>
                </c:pt>
                <c:pt idx="212">
                  <c:v>2023.75</c:v>
                </c:pt>
                <c:pt idx="213">
                  <c:v>2023.83</c:v>
                </c:pt>
              </c:numCache>
            </c:numRef>
          </c:xVal>
          <c:yVal>
            <c:numRef>
              <c:f>Sheet3!$B$202:$B$415</c:f>
              <c:numCache>
                <c:formatCode>#,##0</c:formatCode>
                <c:ptCount val="214"/>
                <c:pt idx="0">
                  <c:v>799.92</c:v>
                </c:pt>
                <c:pt idx="1">
                  <c:v>889.12</c:v>
                </c:pt>
                <c:pt idx="2">
                  <c:v>1063.8399999999999</c:v>
                </c:pt>
                <c:pt idx="3">
                  <c:v>1367.92</c:v>
                </c:pt>
                <c:pt idx="4">
                  <c:v>2404.7199999999998</c:v>
                </c:pt>
                <c:pt idx="5">
                  <c:v>1598.24</c:v>
                </c:pt>
                <c:pt idx="6">
                  <c:v>1511.84</c:v>
                </c:pt>
                <c:pt idx="7">
                  <c:v>1104</c:v>
                </c:pt>
                <c:pt idx="8">
                  <c:v>863.84</c:v>
                </c:pt>
                <c:pt idx="9">
                  <c:v>712</c:v>
                </c:pt>
                <c:pt idx="10">
                  <c:v>921.44</c:v>
                </c:pt>
                <c:pt idx="11">
                  <c:v>792</c:v>
                </c:pt>
                <c:pt idx="12">
                  <c:v>863.84</c:v>
                </c:pt>
                <c:pt idx="13">
                  <c:v>1094.24</c:v>
                </c:pt>
                <c:pt idx="14">
                  <c:v>1151.8399999999999</c:v>
                </c:pt>
                <c:pt idx="15">
                  <c:v>1151.8399999999999</c:v>
                </c:pt>
                <c:pt idx="16">
                  <c:v>921.44</c:v>
                </c:pt>
                <c:pt idx="17">
                  <c:v>763.04</c:v>
                </c:pt>
                <c:pt idx="18">
                  <c:v>475.12</c:v>
                </c:pt>
                <c:pt idx="19">
                  <c:v>475.12</c:v>
                </c:pt>
                <c:pt idx="20">
                  <c:v>392</c:v>
                </c:pt>
                <c:pt idx="21">
                  <c:v>395.92</c:v>
                </c:pt>
                <c:pt idx="22">
                  <c:v>312</c:v>
                </c:pt>
                <c:pt idx="23">
                  <c:v>359.96</c:v>
                </c:pt>
                <c:pt idx="24">
                  <c:v>276</c:v>
                </c:pt>
                <c:pt idx="25">
                  <c:v>196</c:v>
                </c:pt>
                <c:pt idx="26">
                  <c:v>196</c:v>
                </c:pt>
                <c:pt idx="27">
                  <c:v>172.72</c:v>
                </c:pt>
                <c:pt idx="28">
                  <c:v>151.12</c:v>
                </c:pt>
                <c:pt idx="29">
                  <c:v>136.76</c:v>
                </c:pt>
                <c:pt idx="30">
                  <c:v>212.36</c:v>
                </c:pt>
                <c:pt idx="31">
                  <c:v>198</c:v>
                </c:pt>
                <c:pt idx="32">
                  <c:v>198</c:v>
                </c:pt>
                <c:pt idx="33">
                  <c:v>338.32</c:v>
                </c:pt>
                <c:pt idx="34">
                  <c:v>197.96</c:v>
                </c:pt>
                <c:pt idx="35">
                  <c:v>197.96</c:v>
                </c:pt>
                <c:pt idx="36">
                  <c:v>180</c:v>
                </c:pt>
                <c:pt idx="37">
                  <c:v>78</c:v>
                </c:pt>
                <c:pt idx="38">
                  <c:v>129</c:v>
                </c:pt>
                <c:pt idx="39">
                  <c:v>118</c:v>
                </c:pt>
                <c:pt idx="40">
                  <c:v>135.96</c:v>
                </c:pt>
                <c:pt idx="41">
                  <c:v>131.97999999999999</c:v>
                </c:pt>
                <c:pt idx="42">
                  <c:v>145.97999999999999</c:v>
                </c:pt>
                <c:pt idx="43">
                  <c:v>151.97999999999999</c:v>
                </c:pt>
                <c:pt idx="44">
                  <c:v>163.98</c:v>
                </c:pt>
                <c:pt idx="45">
                  <c:v>169.98</c:v>
                </c:pt>
                <c:pt idx="46">
                  <c:v>178</c:v>
                </c:pt>
                <c:pt idx="47">
                  <c:v>152</c:v>
                </c:pt>
                <c:pt idx="48">
                  <c:v>150</c:v>
                </c:pt>
                <c:pt idx="49">
                  <c:v>160</c:v>
                </c:pt>
                <c:pt idx="50">
                  <c:v>208</c:v>
                </c:pt>
                <c:pt idx="51">
                  <c:v>180</c:v>
                </c:pt>
                <c:pt idx="52">
                  <c:v>189</c:v>
                </c:pt>
                <c:pt idx="53">
                  <c:v>153</c:v>
                </c:pt>
                <c:pt idx="54">
                  <c:v>119</c:v>
                </c:pt>
                <c:pt idx="55">
                  <c:v>189</c:v>
                </c:pt>
                <c:pt idx="56">
                  <c:v>114.905</c:v>
                </c:pt>
                <c:pt idx="57">
                  <c:v>74.495000000000005</c:v>
                </c:pt>
                <c:pt idx="58">
                  <c:v>83.99</c:v>
                </c:pt>
                <c:pt idx="59">
                  <c:v>74.995000000000005</c:v>
                </c:pt>
                <c:pt idx="60">
                  <c:v>89.99</c:v>
                </c:pt>
                <c:pt idx="61">
                  <c:v>99.995000000000005</c:v>
                </c:pt>
                <c:pt idx="62">
                  <c:v>93.98</c:v>
                </c:pt>
                <c:pt idx="63">
                  <c:v>83.98</c:v>
                </c:pt>
                <c:pt idx="64">
                  <c:v>79.98</c:v>
                </c:pt>
                <c:pt idx="65">
                  <c:v>67.489999999999995</c:v>
                </c:pt>
                <c:pt idx="66">
                  <c:v>47.494999999999997</c:v>
                </c:pt>
                <c:pt idx="67">
                  <c:v>39.49</c:v>
                </c:pt>
                <c:pt idx="68">
                  <c:v>35.99</c:v>
                </c:pt>
                <c:pt idx="69">
                  <c:v>32.99</c:v>
                </c:pt>
                <c:pt idx="70">
                  <c:v>24.99</c:v>
                </c:pt>
                <c:pt idx="71">
                  <c:v>24.975000000000001</c:v>
                </c:pt>
                <c:pt idx="72">
                  <c:v>23.747499999999999</c:v>
                </c:pt>
                <c:pt idx="73">
                  <c:v>22.495000000000001</c:v>
                </c:pt>
                <c:pt idx="74">
                  <c:v>22.495000000000001</c:v>
                </c:pt>
                <c:pt idx="75">
                  <c:v>21.245000000000001</c:v>
                </c:pt>
                <c:pt idx="76">
                  <c:v>17.995000000000001</c:v>
                </c:pt>
                <c:pt idx="77">
                  <c:v>14.994999999999999</c:v>
                </c:pt>
                <c:pt idx="78">
                  <c:v>11.2475</c:v>
                </c:pt>
                <c:pt idx="79">
                  <c:v>9.9975000000000005</c:v>
                </c:pt>
                <c:pt idx="80">
                  <c:v>9.9975000000000005</c:v>
                </c:pt>
                <c:pt idx="81">
                  <c:v>10.994999999999999</c:v>
                </c:pt>
                <c:pt idx="82">
                  <c:v>10.7475</c:v>
                </c:pt>
                <c:pt idx="83">
                  <c:v>11.7475</c:v>
                </c:pt>
                <c:pt idx="84">
                  <c:v>11.2475</c:v>
                </c:pt>
                <c:pt idx="85">
                  <c:v>12.9975</c:v>
                </c:pt>
                <c:pt idx="86">
                  <c:v>18.747499999999999</c:v>
                </c:pt>
                <c:pt idx="87">
                  <c:v>20.995000000000001</c:v>
                </c:pt>
                <c:pt idx="88">
                  <c:v>19.497499999999999</c:v>
                </c:pt>
                <c:pt idx="89">
                  <c:v>20.695</c:v>
                </c:pt>
                <c:pt idx="90">
                  <c:v>19.995000000000001</c:v>
                </c:pt>
                <c:pt idx="91">
                  <c:v>24.745000000000001</c:v>
                </c:pt>
                <c:pt idx="92">
                  <c:v>21.495000000000001</c:v>
                </c:pt>
                <c:pt idx="93">
                  <c:v>22.497499999999999</c:v>
                </c:pt>
                <c:pt idx="94">
                  <c:v>17.497499999999999</c:v>
                </c:pt>
                <c:pt idx="95">
                  <c:v>14.9975</c:v>
                </c:pt>
                <c:pt idx="96">
                  <c:v>12.498749999999999</c:v>
                </c:pt>
                <c:pt idx="97">
                  <c:v>10.244999999999999</c:v>
                </c:pt>
                <c:pt idx="98">
                  <c:v>10.4975</c:v>
                </c:pt>
                <c:pt idx="99">
                  <c:v>10.248749999999999</c:v>
                </c:pt>
                <c:pt idx="100">
                  <c:v>8.7487499999999994</c:v>
                </c:pt>
                <c:pt idx="101">
                  <c:v>5.4974999999999996</c:v>
                </c:pt>
                <c:pt idx="102">
                  <c:v>5.2487500000000002</c:v>
                </c:pt>
                <c:pt idx="103">
                  <c:v>4.9987500000000002</c:v>
                </c:pt>
                <c:pt idx="104">
                  <c:v>4.9987500000000002</c:v>
                </c:pt>
                <c:pt idx="105">
                  <c:v>5.1237500000000002</c:v>
                </c:pt>
                <c:pt idx="106">
                  <c:v>4.9987500000000002</c:v>
                </c:pt>
                <c:pt idx="107">
                  <c:v>4.8743749999999997</c:v>
                </c:pt>
                <c:pt idx="108">
                  <c:v>4.0493750000000004</c:v>
                </c:pt>
                <c:pt idx="109">
                  <c:v>3.7487499999999998</c:v>
                </c:pt>
                <c:pt idx="110">
                  <c:v>4.3737500000000002</c:v>
                </c:pt>
                <c:pt idx="111">
                  <c:v>5.5618749999999997</c:v>
                </c:pt>
                <c:pt idx="112">
                  <c:v>6.8743749999999997</c:v>
                </c:pt>
                <c:pt idx="113">
                  <c:v>6.2487500000000002</c:v>
                </c:pt>
                <c:pt idx="114">
                  <c:v>7.4987500000000002</c:v>
                </c:pt>
                <c:pt idx="115">
                  <c:v>6.6237500000000002</c:v>
                </c:pt>
                <c:pt idx="116">
                  <c:v>8.3743750000000006</c:v>
                </c:pt>
                <c:pt idx="117">
                  <c:v>8.7487499999999994</c:v>
                </c:pt>
                <c:pt idx="118">
                  <c:v>8.1243750000000006</c:v>
                </c:pt>
                <c:pt idx="119">
                  <c:v>9.7475000000000005</c:v>
                </c:pt>
                <c:pt idx="120">
                  <c:v>8.1237499999999994</c:v>
                </c:pt>
                <c:pt idx="121">
                  <c:v>7.4974999999999996</c:v>
                </c:pt>
                <c:pt idx="122">
                  <c:v>8.1237499999999994</c:v>
                </c:pt>
                <c:pt idx="123">
                  <c:v>8.7487499999999994</c:v>
                </c:pt>
                <c:pt idx="124">
                  <c:v>8.7487499999999994</c:v>
                </c:pt>
                <c:pt idx="125">
                  <c:v>8.7475000000000005</c:v>
                </c:pt>
                <c:pt idx="126">
                  <c:v>7.9987500000000002</c:v>
                </c:pt>
                <c:pt idx="127">
                  <c:v>7.4987500000000002</c:v>
                </c:pt>
                <c:pt idx="128">
                  <c:v>6.2487500000000002</c:v>
                </c:pt>
                <c:pt idx="129">
                  <c:v>5.7493749999999997</c:v>
                </c:pt>
                <c:pt idx="130">
                  <c:v>4.9987500000000002</c:v>
                </c:pt>
                <c:pt idx="131">
                  <c:v>4.6243749999999997</c:v>
                </c:pt>
                <c:pt idx="132">
                  <c:v>4.3737500000000002</c:v>
                </c:pt>
                <c:pt idx="133">
                  <c:v>4.3118749999999997</c:v>
                </c:pt>
                <c:pt idx="134">
                  <c:v>3.9368750000000001</c:v>
                </c:pt>
                <c:pt idx="135">
                  <c:v>3.7493750000000001</c:v>
                </c:pt>
                <c:pt idx="136">
                  <c:v>3.6868750000000001</c:v>
                </c:pt>
                <c:pt idx="137">
                  <c:v>3.1243750000000001</c:v>
                </c:pt>
                <c:pt idx="138">
                  <c:v>3.0618750000000001</c:v>
                </c:pt>
                <c:pt idx="139">
                  <c:v>2.8118750000000001</c:v>
                </c:pt>
                <c:pt idx="140">
                  <c:v>3.1243750000000001</c:v>
                </c:pt>
                <c:pt idx="141">
                  <c:v>3.6243750000000001</c:v>
                </c:pt>
                <c:pt idx="142">
                  <c:v>3.5934374999999998</c:v>
                </c:pt>
                <c:pt idx="143">
                  <c:v>4.2493749999999997</c:v>
                </c:pt>
                <c:pt idx="144">
                  <c:v>4.6868749999999997</c:v>
                </c:pt>
                <c:pt idx="145">
                  <c:v>4.9993749999999997</c:v>
                </c:pt>
                <c:pt idx="146">
                  <c:v>5.6243749999999997</c:v>
                </c:pt>
                <c:pt idx="147">
                  <c:v>5.8121875000000003</c:v>
                </c:pt>
                <c:pt idx="148">
                  <c:v>5.6243749999999997</c:v>
                </c:pt>
                <c:pt idx="149">
                  <c:v>5.9993749999999997</c:v>
                </c:pt>
                <c:pt idx="150">
                  <c:v>6.2487500000000002</c:v>
                </c:pt>
                <c:pt idx="151">
                  <c:v>6.8743749999999997</c:v>
                </c:pt>
                <c:pt idx="152">
                  <c:v>7.2493749999999997</c:v>
                </c:pt>
                <c:pt idx="153">
                  <c:v>6.8118749999999997</c:v>
                </c:pt>
                <c:pt idx="154">
                  <c:v>7.1243749999999997</c:v>
                </c:pt>
                <c:pt idx="155">
                  <c:v>6.9987500000000002</c:v>
                </c:pt>
                <c:pt idx="156">
                  <c:v>6.5618749999999997</c:v>
                </c:pt>
                <c:pt idx="157">
                  <c:v>6.9362500000000002</c:v>
                </c:pt>
                <c:pt idx="158">
                  <c:v>6.3112500000000002</c:v>
                </c:pt>
                <c:pt idx="159">
                  <c:v>5.6243749999999997</c:v>
                </c:pt>
                <c:pt idx="160">
                  <c:v>5.1868749999999997</c:v>
                </c:pt>
                <c:pt idx="161">
                  <c:v>4.7487500000000002</c:v>
                </c:pt>
                <c:pt idx="162">
                  <c:v>4.3743749999999997</c:v>
                </c:pt>
                <c:pt idx="163">
                  <c:v>4.3743749999999997</c:v>
                </c:pt>
                <c:pt idx="164">
                  <c:v>4.3118749999999997</c:v>
                </c:pt>
                <c:pt idx="165">
                  <c:v>3.8112499999999998</c:v>
                </c:pt>
                <c:pt idx="166">
                  <c:v>3.4987499999999998</c:v>
                </c:pt>
                <c:pt idx="167">
                  <c:v>3.2487499999999998</c:v>
                </c:pt>
                <c:pt idx="168">
                  <c:v>2.8118750000000001</c:v>
                </c:pt>
                <c:pt idx="169">
                  <c:v>2.8118750000000001</c:v>
                </c:pt>
                <c:pt idx="170">
                  <c:v>3.3743750000000001</c:v>
                </c:pt>
                <c:pt idx="171">
                  <c:v>3.1246874999999998</c:v>
                </c:pt>
                <c:pt idx="172">
                  <c:v>2.9684374999999998</c:v>
                </c:pt>
                <c:pt idx="173">
                  <c:v>2.9059374999999998</c:v>
                </c:pt>
                <c:pt idx="174">
                  <c:v>2.9993750000000001</c:v>
                </c:pt>
                <c:pt idx="175">
                  <c:v>3.1246874999999998</c:v>
                </c:pt>
                <c:pt idx="176">
                  <c:v>3.5934374999999998</c:v>
                </c:pt>
                <c:pt idx="177">
                  <c:v>3.6243750000000001</c:v>
                </c:pt>
                <c:pt idx="178">
                  <c:v>3.5934374999999998</c:v>
                </c:pt>
                <c:pt idx="179">
                  <c:v>3.2809374999999998</c:v>
                </c:pt>
                <c:pt idx="180">
                  <c:v>2.9684374999999998</c:v>
                </c:pt>
                <c:pt idx="181">
                  <c:v>2.8121874999999998</c:v>
                </c:pt>
                <c:pt idx="182">
                  <c:v>2.8746874999999998</c:v>
                </c:pt>
                <c:pt idx="183">
                  <c:v>2.8121874999999998</c:v>
                </c:pt>
                <c:pt idx="184">
                  <c:v>2.9684374999999998</c:v>
                </c:pt>
                <c:pt idx="185">
                  <c:v>3.0621874999999998</c:v>
                </c:pt>
                <c:pt idx="186">
                  <c:v>3.4371874999999998</c:v>
                </c:pt>
                <c:pt idx="187">
                  <c:v>4.0623437500000001</c:v>
                </c:pt>
                <c:pt idx="188">
                  <c:v>3.5935937500000001</c:v>
                </c:pt>
                <c:pt idx="189">
                  <c:v>3.9987499999999998</c:v>
                </c:pt>
                <c:pt idx="190">
                  <c:v>3.7496874999999998</c:v>
                </c:pt>
                <c:pt idx="191">
                  <c:v>3.2493750000000001</c:v>
                </c:pt>
                <c:pt idx="192">
                  <c:v>3.0618750000000001</c:v>
                </c:pt>
                <c:pt idx="193">
                  <c:v>2.6559374999999998</c:v>
                </c:pt>
                <c:pt idx="194">
                  <c:v>2.9059374999999998</c:v>
                </c:pt>
                <c:pt idx="195">
                  <c:v>2.9371874999999998</c:v>
                </c:pt>
                <c:pt idx="196">
                  <c:v>3.1246874999999998</c:v>
                </c:pt>
                <c:pt idx="197">
                  <c:v>3.1862499999999998</c:v>
                </c:pt>
                <c:pt idx="198">
                  <c:v>2.7496874999999998</c:v>
                </c:pt>
                <c:pt idx="199">
                  <c:v>2.6553125</c:v>
                </c:pt>
                <c:pt idx="200">
                  <c:v>2.3434374999999998</c:v>
                </c:pt>
                <c:pt idx="201">
                  <c:v>2.2809374999999998</c:v>
                </c:pt>
                <c:pt idx="202">
                  <c:v>2.2809374999999998</c:v>
                </c:pt>
                <c:pt idx="203">
                  <c:v>2.1871874999999998</c:v>
                </c:pt>
                <c:pt idx="204">
                  <c:v>2.1559374999999998</c:v>
                </c:pt>
                <c:pt idx="205">
                  <c:v>1.9993749999999999</c:v>
                </c:pt>
                <c:pt idx="206">
                  <c:v>1.7967187499999999</c:v>
                </c:pt>
                <c:pt idx="207">
                  <c:v>1.7967187499999999</c:v>
                </c:pt>
                <c:pt idx="208">
                  <c:v>1.5310937499999999</c:v>
                </c:pt>
                <c:pt idx="209">
                  <c:v>1.4685937499999999</c:v>
                </c:pt>
                <c:pt idx="210">
                  <c:v>1.4371875000000001</c:v>
                </c:pt>
                <c:pt idx="211">
                  <c:v>1.4529687499999999</c:v>
                </c:pt>
                <c:pt idx="212">
                  <c:v>1.4060937499999999</c:v>
                </c:pt>
                <c:pt idx="213">
                  <c:v>1.3121875000000001</c:v>
                </c:pt>
              </c:numCache>
            </c:numRef>
          </c:yVal>
          <c:smooth val="1"/>
          <c:extLst>
            <c:ext xmlns:c16="http://schemas.microsoft.com/office/drawing/2014/chart" uri="{C3380CC4-5D6E-409C-BE32-E72D297353CC}">
              <c16:uniqueId val="{00000000-9E3E-6B4B-8FEB-53D07E2A5857}"/>
            </c:ext>
          </c:extLst>
        </c:ser>
        <c:dLbls>
          <c:showLegendKey val="0"/>
          <c:showVal val="0"/>
          <c:showCatName val="0"/>
          <c:showSerName val="0"/>
          <c:showPercent val="0"/>
          <c:showBubbleSize val="0"/>
        </c:dLbls>
        <c:axId val="2123417824"/>
        <c:axId val="2123587168"/>
      </c:scatterChart>
      <c:valAx>
        <c:axId val="2123417824"/>
        <c:scaling>
          <c:orientation val="minMax"/>
          <c:max val="2025"/>
          <c:min val="2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en-US" sz="1800" b="1"/>
                  <a:t>Year</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CN"/>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CN"/>
          </a:p>
        </c:txPr>
        <c:crossAx val="2123587168"/>
        <c:crosses val="autoZero"/>
        <c:crossBetween val="midCat"/>
      </c:valAx>
      <c:valAx>
        <c:axId val="2123587168"/>
        <c:scaling>
          <c:logBase val="10"/>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en-US" sz="1800" b="1"/>
                  <a:t> DRAM Price ($/GB)</a:t>
                </a:r>
              </a:p>
            </c:rich>
          </c:tx>
          <c:layout>
            <c:manualLayout>
              <c:xMode val="edge"/>
              <c:yMode val="edge"/>
              <c:x val="3.5861487951104797E-2"/>
              <c:y val="0.11769280569973595"/>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CN"/>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CN"/>
          </a:p>
        </c:txPr>
        <c:crossAx val="212341782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38100" cap="rnd">
              <a:solidFill>
                <a:schemeClr val="accent3"/>
              </a:solidFill>
              <a:round/>
            </a:ln>
            <a:effectLst/>
          </c:spPr>
          <c:marker>
            <c:symbol val="circle"/>
            <c:size val="7"/>
            <c:spPr>
              <a:solidFill>
                <a:schemeClr val="accent3"/>
              </a:solidFill>
              <a:ln w="9525">
                <a:noFill/>
              </a:ln>
              <a:effectLst/>
            </c:spPr>
          </c:marker>
          <c:xVal>
            <c:numRef>
              <c:f>Sheet2!$A$2:$A$26</c:f>
              <c:numCache>
                <c:formatCode>General</c:formatCode>
                <c:ptCount val="2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numCache>
            </c:numRef>
          </c:xVal>
          <c:yVal>
            <c:numRef>
              <c:f>Sheet2!$B$2:$B$26</c:f>
              <c:numCache>
                <c:formatCode>General</c:formatCode>
                <c:ptCount val="25"/>
                <c:pt idx="0">
                  <c:v>1</c:v>
                </c:pt>
                <c:pt idx="1">
                  <c:v>1</c:v>
                </c:pt>
                <c:pt idx="2">
                  <c:v>1</c:v>
                </c:pt>
                <c:pt idx="3">
                  <c:v>1</c:v>
                </c:pt>
                <c:pt idx="4">
                  <c:v>1</c:v>
                </c:pt>
                <c:pt idx="5">
                  <c:v>2</c:v>
                </c:pt>
                <c:pt idx="6">
                  <c:v>2</c:v>
                </c:pt>
                <c:pt idx="7">
                  <c:v>4</c:v>
                </c:pt>
                <c:pt idx="8">
                  <c:v>6</c:v>
                </c:pt>
                <c:pt idx="9">
                  <c:v>6</c:v>
                </c:pt>
                <c:pt idx="10">
                  <c:v>8</c:v>
                </c:pt>
                <c:pt idx="11">
                  <c:v>10</c:v>
                </c:pt>
                <c:pt idx="12">
                  <c:v>10</c:v>
                </c:pt>
                <c:pt idx="13">
                  <c:v>12</c:v>
                </c:pt>
                <c:pt idx="14">
                  <c:v>18</c:v>
                </c:pt>
                <c:pt idx="15">
                  <c:v>18</c:v>
                </c:pt>
                <c:pt idx="16">
                  <c:v>22</c:v>
                </c:pt>
                <c:pt idx="17">
                  <c:v>28</c:v>
                </c:pt>
                <c:pt idx="18">
                  <c:v>28</c:v>
                </c:pt>
                <c:pt idx="19">
                  <c:v>32</c:v>
                </c:pt>
                <c:pt idx="20">
                  <c:v>48</c:v>
                </c:pt>
                <c:pt idx="21">
                  <c:v>64</c:v>
                </c:pt>
                <c:pt idx="22">
                  <c:v>64</c:v>
                </c:pt>
                <c:pt idx="23">
                  <c:v>96</c:v>
                </c:pt>
                <c:pt idx="24">
                  <c:v>128</c:v>
                </c:pt>
              </c:numCache>
            </c:numRef>
          </c:yVal>
          <c:smooth val="0"/>
          <c:extLst>
            <c:ext xmlns:c16="http://schemas.microsoft.com/office/drawing/2014/chart" uri="{C3380CC4-5D6E-409C-BE32-E72D297353CC}">
              <c16:uniqueId val="{00000000-6E0F-3E41-B6B8-9A19E24C8D4C}"/>
            </c:ext>
          </c:extLst>
        </c:ser>
        <c:dLbls>
          <c:showLegendKey val="0"/>
          <c:showVal val="0"/>
          <c:showCatName val="0"/>
          <c:showSerName val="0"/>
          <c:showPercent val="0"/>
          <c:showBubbleSize val="0"/>
        </c:dLbls>
        <c:axId val="2123390064"/>
        <c:axId val="1814392688"/>
      </c:scatterChart>
      <c:valAx>
        <c:axId val="2123390064"/>
        <c:scaling>
          <c:orientation val="minMax"/>
          <c:max val="2025"/>
          <c:min val="2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en-US" sz="1800" b="1"/>
                  <a:t>Year</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CN"/>
          </a:p>
        </c:txPr>
        <c:crossAx val="1814392688"/>
        <c:crosses val="autoZero"/>
        <c:crossBetween val="midCat"/>
        <c:majorUnit val="5"/>
      </c:valAx>
      <c:valAx>
        <c:axId val="18143926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en-US" sz="1800" b="1"/>
                  <a:t>Core Count</a:t>
                </a:r>
              </a:p>
            </c:rich>
          </c:tx>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CN"/>
          </a:p>
        </c:txPr>
        <c:crossAx val="212339006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793247366945804"/>
          <c:y val="7.9619685070052515E-2"/>
          <c:w val="0.72833015498788078"/>
          <c:h val="0.64950673248461244"/>
        </c:manualLayout>
      </c:layout>
      <c:scatterChart>
        <c:scatterStyle val="lineMarker"/>
        <c:varyColors val="0"/>
        <c:ser>
          <c:idx val="0"/>
          <c:order val="0"/>
          <c:spPr>
            <a:ln w="50800" cap="rnd">
              <a:solidFill>
                <a:schemeClr val="accent1"/>
              </a:solidFill>
              <a:round/>
            </a:ln>
            <a:effectLst/>
          </c:spPr>
          <c:marker>
            <c:symbol val="none"/>
          </c:marker>
          <c:xVal>
            <c:numRef>
              <c:f>'Paper Plot'!$F$3:$F$117</c:f>
              <c:numCache>
                <c:formatCode>0%</c:formatCode>
                <c:ptCount val="115"/>
                <c:pt idx="0">
                  <c:v>-2.9718242737466399E-2</c:v>
                </c:pt>
                <c:pt idx="1">
                  <c:v>-1.7177552490598401E-2</c:v>
                </c:pt>
                <c:pt idx="2">
                  <c:v>-1.7068286456338899E-2</c:v>
                </c:pt>
                <c:pt idx="3">
                  <c:v>-1.5518084066471099E-2</c:v>
                </c:pt>
                <c:pt idx="4">
                  <c:v>-1.30236031055241E-2</c:v>
                </c:pt>
                <c:pt idx="5">
                  <c:v>-1.00332261771522E-2</c:v>
                </c:pt>
                <c:pt idx="6">
                  <c:v>-1.00164456778702E-2</c:v>
                </c:pt>
                <c:pt idx="7">
                  <c:v>-8.7650434624901193E-3</c:v>
                </c:pt>
                <c:pt idx="8">
                  <c:v>-7.4948728036033701E-3</c:v>
                </c:pt>
                <c:pt idx="9">
                  <c:v>-6.6430226404778003E-3</c:v>
                </c:pt>
                <c:pt idx="10">
                  <c:v>-4.9897235846989903E-3</c:v>
                </c:pt>
                <c:pt idx="11">
                  <c:v>-4.0536390929606899E-3</c:v>
                </c:pt>
                <c:pt idx="12">
                  <c:v>-3.7878787878787902E-3</c:v>
                </c:pt>
                <c:pt idx="13">
                  <c:v>-2.7533441544985498E-3</c:v>
                </c:pt>
                <c:pt idx="14">
                  <c:v>-2.7204314411395001E-3</c:v>
                </c:pt>
                <c:pt idx="15">
                  <c:v>-1.89230627255566E-3</c:v>
                </c:pt>
                <c:pt idx="16">
                  <c:v>-1.8565051677634399E-3</c:v>
                </c:pt>
                <c:pt idx="17">
                  <c:v>-1.7632605867899901E-3</c:v>
                </c:pt>
                <c:pt idx="18">
                  <c:v>-1.5898113132883701E-3</c:v>
                </c:pt>
                <c:pt idx="19">
                  <c:v>-1.58795674641939E-3</c:v>
                </c:pt>
                <c:pt idx="20">
                  <c:v>-1.54387847579998E-3</c:v>
                </c:pt>
                <c:pt idx="21">
                  <c:v>-1.51084771767047E-3</c:v>
                </c:pt>
                <c:pt idx="22">
                  <c:v>-1.11633657834312E-3</c:v>
                </c:pt>
                <c:pt idx="23">
                  <c:v>-6.6515625922313598E-4</c:v>
                </c:pt>
                <c:pt idx="24">
                  <c:v>-4.7371801494874703E-4</c:v>
                </c:pt>
                <c:pt idx="25">
                  <c:v>-3.3106150697074003E-4</c:v>
                </c:pt>
                <c:pt idx="26">
                  <c:v>-2.5789955905634502E-4</c:v>
                </c:pt>
                <c:pt idx="27">
                  <c:v>-2.2885276473104201E-4</c:v>
                </c:pt>
                <c:pt idx="28">
                  <c:v>9.0100323866959802E-5</c:v>
                </c:pt>
                <c:pt idx="29">
                  <c:v>2.0292852478939901E-4</c:v>
                </c:pt>
                <c:pt idx="30">
                  <c:v>2.8022820696755203E-4</c:v>
                </c:pt>
                <c:pt idx="31">
                  <c:v>4.32089575277056E-4</c:v>
                </c:pt>
                <c:pt idx="32">
                  <c:v>4.69473078798992E-4</c:v>
                </c:pt>
                <c:pt idx="33">
                  <c:v>7.5562249075294605E-4</c:v>
                </c:pt>
                <c:pt idx="34">
                  <c:v>1.05537134240382E-3</c:v>
                </c:pt>
                <c:pt idx="35">
                  <c:v>1.07383459053502E-3</c:v>
                </c:pt>
                <c:pt idx="36">
                  <c:v>1.24928206760112E-3</c:v>
                </c:pt>
                <c:pt idx="37">
                  <c:v>1.32897794373105E-3</c:v>
                </c:pt>
                <c:pt idx="38">
                  <c:v>1.8657926947100599E-3</c:v>
                </c:pt>
                <c:pt idx="39">
                  <c:v>2.0460245384126201E-3</c:v>
                </c:pt>
                <c:pt idx="40">
                  <c:v>2.06044859931048E-3</c:v>
                </c:pt>
                <c:pt idx="41">
                  <c:v>2.0964360587002102E-3</c:v>
                </c:pt>
                <c:pt idx="42">
                  <c:v>2.7806445227664899E-3</c:v>
                </c:pt>
                <c:pt idx="43">
                  <c:v>3.3179386774407999E-3</c:v>
                </c:pt>
                <c:pt idx="44">
                  <c:v>3.4423842400208701E-3</c:v>
                </c:pt>
                <c:pt idx="45">
                  <c:v>4.2702623458325296E-3</c:v>
                </c:pt>
                <c:pt idx="46">
                  <c:v>4.66891894819009E-3</c:v>
                </c:pt>
                <c:pt idx="47">
                  <c:v>6.1585676103164703E-3</c:v>
                </c:pt>
                <c:pt idx="48">
                  <c:v>6.3648483292152898E-3</c:v>
                </c:pt>
                <c:pt idx="49">
                  <c:v>7.7108651050075798E-3</c:v>
                </c:pt>
                <c:pt idx="50">
                  <c:v>7.8071236310892E-3</c:v>
                </c:pt>
                <c:pt idx="51">
                  <c:v>9.1085815663281208E-3</c:v>
                </c:pt>
                <c:pt idx="52">
                  <c:v>9.1559840337152396E-3</c:v>
                </c:pt>
                <c:pt idx="53">
                  <c:v>9.2007468895870595E-3</c:v>
                </c:pt>
                <c:pt idx="54">
                  <c:v>9.5196395673853695E-3</c:v>
                </c:pt>
                <c:pt idx="55">
                  <c:v>9.7732132426902006E-3</c:v>
                </c:pt>
                <c:pt idx="56">
                  <c:v>1.0355037075781E-2</c:v>
                </c:pt>
                <c:pt idx="57">
                  <c:v>1.4151922658521899E-2</c:v>
                </c:pt>
                <c:pt idx="58">
                  <c:v>1.4925921361918001E-2</c:v>
                </c:pt>
                <c:pt idx="59">
                  <c:v>1.5419713808277001E-2</c:v>
                </c:pt>
                <c:pt idx="60">
                  <c:v>2.0364095408942798E-2</c:v>
                </c:pt>
                <c:pt idx="61">
                  <c:v>2.1451375489394499E-2</c:v>
                </c:pt>
                <c:pt idx="62">
                  <c:v>2.15282714725748E-2</c:v>
                </c:pt>
                <c:pt idx="63">
                  <c:v>2.19965781540854E-2</c:v>
                </c:pt>
                <c:pt idx="64">
                  <c:v>2.51688718740786E-2</c:v>
                </c:pt>
                <c:pt idx="65">
                  <c:v>2.7424251686125799E-2</c:v>
                </c:pt>
                <c:pt idx="66">
                  <c:v>3.5789954562745897E-2</c:v>
                </c:pt>
                <c:pt idx="67">
                  <c:v>3.7231862776144299E-2</c:v>
                </c:pt>
                <c:pt idx="68">
                  <c:v>3.8186840653372703E-2</c:v>
                </c:pt>
                <c:pt idx="69">
                  <c:v>4.0054378338905801E-2</c:v>
                </c:pt>
                <c:pt idx="70">
                  <c:v>4.1118206665994403E-2</c:v>
                </c:pt>
                <c:pt idx="71">
                  <c:v>4.3564857546775103E-2</c:v>
                </c:pt>
                <c:pt idx="72">
                  <c:v>4.7410192147034201E-2</c:v>
                </c:pt>
                <c:pt idx="73">
                  <c:v>4.7420599579295397E-2</c:v>
                </c:pt>
                <c:pt idx="74">
                  <c:v>5.3609595454848502E-2</c:v>
                </c:pt>
                <c:pt idx="75">
                  <c:v>5.49638943755313E-2</c:v>
                </c:pt>
                <c:pt idx="76">
                  <c:v>5.5681695517824599E-2</c:v>
                </c:pt>
                <c:pt idx="77">
                  <c:v>5.5698936473557399E-2</c:v>
                </c:pt>
                <c:pt idx="78">
                  <c:v>5.6188199848990102E-2</c:v>
                </c:pt>
                <c:pt idx="79">
                  <c:v>5.6479756606295402E-2</c:v>
                </c:pt>
                <c:pt idx="80">
                  <c:v>5.8234166506073798E-2</c:v>
                </c:pt>
                <c:pt idx="81">
                  <c:v>5.8897243107769399E-2</c:v>
                </c:pt>
                <c:pt idx="82">
                  <c:v>5.9526677114709901E-2</c:v>
                </c:pt>
                <c:pt idx="83">
                  <c:v>5.9967905657560799E-2</c:v>
                </c:pt>
                <c:pt idx="84">
                  <c:v>6.8716415349831694E-2</c:v>
                </c:pt>
                <c:pt idx="85">
                  <c:v>7.0593149540517902E-2</c:v>
                </c:pt>
                <c:pt idx="86">
                  <c:v>7.0880056907602504E-2</c:v>
                </c:pt>
                <c:pt idx="87">
                  <c:v>7.1056542928394903E-2</c:v>
                </c:pt>
                <c:pt idx="88">
                  <c:v>7.3326318835897297E-2</c:v>
                </c:pt>
                <c:pt idx="89">
                  <c:v>7.3495171496002404E-2</c:v>
                </c:pt>
                <c:pt idx="90">
                  <c:v>7.5694078806508303E-2</c:v>
                </c:pt>
                <c:pt idx="91">
                  <c:v>7.8339482024758794E-2</c:v>
                </c:pt>
                <c:pt idx="92">
                  <c:v>7.9586863192563903E-2</c:v>
                </c:pt>
                <c:pt idx="93">
                  <c:v>8.3708717094734E-2</c:v>
                </c:pt>
                <c:pt idx="94">
                  <c:v>9.6992761465021698E-2</c:v>
                </c:pt>
                <c:pt idx="95">
                  <c:v>9.6993746993746896E-2</c:v>
                </c:pt>
                <c:pt idx="96">
                  <c:v>9.7466121159745803E-2</c:v>
                </c:pt>
                <c:pt idx="97">
                  <c:v>9.7800045894482004E-2</c:v>
                </c:pt>
                <c:pt idx="98">
                  <c:v>0.10902017690306599</c:v>
                </c:pt>
                <c:pt idx="99">
                  <c:v>0.113121819700767</c:v>
                </c:pt>
                <c:pt idx="100">
                  <c:v>0.113849855014702</c:v>
                </c:pt>
                <c:pt idx="101">
                  <c:v>0.11531173001474999</c:v>
                </c:pt>
                <c:pt idx="102">
                  <c:v>0.12047636034226</c:v>
                </c:pt>
                <c:pt idx="103">
                  <c:v>0.12199532568932001</c:v>
                </c:pt>
                <c:pt idx="104">
                  <c:v>0.124155887450141</c:v>
                </c:pt>
                <c:pt idx="105">
                  <c:v>0.13685231232262199</c:v>
                </c:pt>
                <c:pt idx="106">
                  <c:v>0.14494465910500701</c:v>
                </c:pt>
                <c:pt idx="107">
                  <c:v>0.147652027291133</c:v>
                </c:pt>
                <c:pt idx="108">
                  <c:v>0.14859818634924801</c:v>
                </c:pt>
                <c:pt idx="109">
                  <c:v>0.181461822072323</c:v>
                </c:pt>
                <c:pt idx="110">
                  <c:v>0.204268069144109</c:v>
                </c:pt>
                <c:pt idx="111">
                  <c:v>0.21503046946709001</c:v>
                </c:pt>
                <c:pt idx="112">
                  <c:v>0.308241390376084</c:v>
                </c:pt>
                <c:pt idx="113">
                  <c:v>0.34148974240271501</c:v>
                </c:pt>
                <c:pt idx="114">
                  <c:v>0.49567044018657802</c:v>
                </c:pt>
              </c:numCache>
            </c:numRef>
          </c:xVal>
          <c:yVal>
            <c:numRef>
              <c:f>'Paper Plot'!$U$3:$U$117</c:f>
              <c:numCache>
                <c:formatCode>General</c:formatCode>
                <c:ptCount val="115"/>
                <c:pt idx="0">
                  <c:v>8.6956521739130436E-3</c:v>
                </c:pt>
                <c:pt idx="1">
                  <c:v>1.7391304347826087E-2</c:v>
                </c:pt>
                <c:pt idx="2">
                  <c:v>2.6086956521739129E-2</c:v>
                </c:pt>
                <c:pt idx="3">
                  <c:v>3.4782608695652174E-2</c:v>
                </c:pt>
                <c:pt idx="4">
                  <c:v>4.3478260869565216E-2</c:v>
                </c:pt>
                <c:pt idx="5">
                  <c:v>5.2173913043478258E-2</c:v>
                </c:pt>
                <c:pt idx="6">
                  <c:v>6.0869565217391307E-2</c:v>
                </c:pt>
                <c:pt idx="7">
                  <c:v>6.9565217391304349E-2</c:v>
                </c:pt>
                <c:pt idx="8">
                  <c:v>7.8260869565217397E-2</c:v>
                </c:pt>
                <c:pt idx="9">
                  <c:v>8.6956521739130432E-2</c:v>
                </c:pt>
                <c:pt idx="10">
                  <c:v>9.5652173913043481E-2</c:v>
                </c:pt>
                <c:pt idx="11">
                  <c:v>0.10434782608695652</c:v>
                </c:pt>
                <c:pt idx="12">
                  <c:v>0.11304347826086956</c:v>
                </c:pt>
                <c:pt idx="13">
                  <c:v>0.12173913043478261</c:v>
                </c:pt>
                <c:pt idx="14">
                  <c:v>0.13043478260869565</c:v>
                </c:pt>
                <c:pt idx="15">
                  <c:v>0.1391304347826087</c:v>
                </c:pt>
                <c:pt idx="16">
                  <c:v>0.14782608695652175</c:v>
                </c:pt>
                <c:pt idx="17">
                  <c:v>0.15652173913043479</c:v>
                </c:pt>
                <c:pt idx="18">
                  <c:v>0.16521739130434782</c:v>
                </c:pt>
                <c:pt idx="19">
                  <c:v>0.17391304347826086</c:v>
                </c:pt>
                <c:pt idx="20">
                  <c:v>0.18260869565217391</c:v>
                </c:pt>
                <c:pt idx="21">
                  <c:v>0.19130434782608696</c:v>
                </c:pt>
                <c:pt idx="22">
                  <c:v>0.2</c:v>
                </c:pt>
                <c:pt idx="23">
                  <c:v>0.20869565217391303</c:v>
                </c:pt>
                <c:pt idx="24">
                  <c:v>0.21739130434782608</c:v>
                </c:pt>
                <c:pt idx="25">
                  <c:v>0.22608695652173913</c:v>
                </c:pt>
                <c:pt idx="26">
                  <c:v>0.23478260869565218</c:v>
                </c:pt>
                <c:pt idx="27">
                  <c:v>0.24347826086956523</c:v>
                </c:pt>
                <c:pt idx="28">
                  <c:v>0.25217391304347825</c:v>
                </c:pt>
                <c:pt idx="29">
                  <c:v>0.2608695652173913</c:v>
                </c:pt>
                <c:pt idx="30">
                  <c:v>0.26956521739130435</c:v>
                </c:pt>
                <c:pt idx="31">
                  <c:v>0.27826086956521739</c:v>
                </c:pt>
                <c:pt idx="32">
                  <c:v>0.28695652173913044</c:v>
                </c:pt>
                <c:pt idx="33">
                  <c:v>0.29565217391304349</c:v>
                </c:pt>
                <c:pt idx="34">
                  <c:v>0.30434782608695654</c:v>
                </c:pt>
                <c:pt idx="35">
                  <c:v>0.31304347826086959</c:v>
                </c:pt>
                <c:pt idx="36">
                  <c:v>0.32173913043478258</c:v>
                </c:pt>
                <c:pt idx="37">
                  <c:v>0.33043478260869563</c:v>
                </c:pt>
                <c:pt idx="38">
                  <c:v>0.33913043478260868</c:v>
                </c:pt>
                <c:pt idx="39">
                  <c:v>0.34782608695652173</c:v>
                </c:pt>
                <c:pt idx="40">
                  <c:v>0.35652173913043478</c:v>
                </c:pt>
                <c:pt idx="41">
                  <c:v>0.36521739130434783</c:v>
                </c:pt>
                <c:pt idx="42">
                  <c:v>0.37391304347826088</c:v>
                </c:pt>
                <c:pt idx="43">
                  <c:v>0.38260869565217392</c:v>
                </c:pt>
                <c:pt idx="44">
                  <c:v>0.39130434782608697</c:v>
                </c:pt>
                <c:pt idx="45">
                  <c:v>0.4</c:v>
                </c:pt>
                <c:pt idx="46">
                  <c:v>0.40869565217391307</c:v>
                </c:pt>
                <c:pt idx="47">
                  <c:v>0.41739130434782606</c:v>
                </c:pt>
                <c:pt idx="48">
                  <c:v>0.42608695652173911</c:v>
                </c:pt>
                <c:pt idx="49">
                  <c:v>0.43478260869565216</c:v>
                </c:pt>
                <c:pt idx="50">
                  <c:v>0.44347826086956521</c:v>
                </c:pt>
                <c:pt idx="51">
                  <c:v>0.45217391304347826</c:v>
                </c:pt>
                <c:pt idx="52">
                  <c:v>0.46086956521739131</c:v>
                </c:pt>
                <c:pt idx="53">
                  <c:v>0.46956521739130436</c:v>
                </c:pt>
                <c:pt idx="54">
                  <c:v>0.47826086956521741</c:v>
                </c:pt>
                <c:pt idx="55">
                  <c:v>0.48695652173913045</c:v>
                </c:pt>
                <c:pt idx="56">
                  <c:v>0.4956521739130435</c:v>
                </c:pt>
                <c:pt idx="57">
                  <c:v>0.5043478260869565</c:v>
                </c:pt>
                <c:pt idx="58">
                  <c:v>0.5130434782608696</c:v>
                </c:pt>
                <c:pt idx="59">
                  <c:v>0.52173913043478259</c:v>
                </c:pt>
                <c:pt idx="60">
                  <c:v>0.5304347826086957</c:v>
                </c:pt>
                <c:pt idx="61">
                  <c:v>0.53913043478260869</c:v>
                </c:pt>
                <c:pt idx="62">
                  <c:v>0.54782608695652169</c:v>
                </c:pt>
                <c:pt idx="63">
                  <c:v>0.55652173913043479</c:v>
                </c:pt>
                <c:pt idx="64">
                  <c:v>0.56521739130434778</c:v>
                </c:pt>
                <c:pt idx="65">
                  <c:v>0.57391304347826089</c:v>
                </c:pt>
                <c:pt idx="66">
                  <c:v>0.58260869565217388</c:v>
                </c:pt>
                <c:pt idx="67">
                  <c:v>0.59130434782608698</c:v>
                </c:pt>
                <c:pt idx="68">
                  <c:v>0.6</c:v>
                </c:pt>
                <c:pt idx="69">
                  <c:v>0.60869565217391308</c:v>
                </c:pt>
                <c:pt idx="70">
                  <c:v>0.61739130434782608</c:v>
                </c:pt>
                <c:pt idx="71">
                  <c:v>0.62608695652173918</c:v>
                </c:pt>
                <c:pt idx="72">
                  <c:v>0.63478260869565217</c:v>
                </c:pt>
                <c:pt idx="73">
                  <c:v>0.64347826086956517</c:v>
                </c:pt>
                <c:pt idx="74">
                  <c:v>0.65217391304347827</c:v>
                </c:pt>
                <c:pt idx="75">
                  <c:v>0.66086956521739126</c:v>
                </c:pt>
                <c:pt idx="76">
                  <c:v>0.66956521739130437</c:v>
                </c:pt>
                <c:pt idx="77">
                  <c:v>0.67826086956521736</c:v>
                </c:pt>
                <c:pt idx="78">
                  <c:v>0.68695652173913047</c:v>
                </c:pt>
                <c:pt idx="79">
                  <c:v>0.69565217391304346</c:v>
                </c:pt>
                <c:pt idx="80">
                  <c:v>0.70434782608695656</c:v>
                </c:pt>
                <c:pt idx="81">
                  <c:v>0.71304347826086956</c:v>
                </c:pt>
                <c:pt idx="82">
                  <c:v>0.72173913043478266</c:v>
                </c:pt>
                <c:pt idx="83">
                  <c:v>0.73043478260869565</c:v>
                </c:pt>
                <c:pt idx="84">
                  <c:v>0.73913043478260865</c:v>
                </c:pt>
                <c:pt idx="85">
                  <c:v>0.74782608695652175</c:v>
                </c:pt>
                <c:pt idx="86">
                  <c:v>0.75652173913043474</c:v>
                </c:pt>
                <c:pt idx="87">
                  <c:v>0.76521739130434785</c:v>
                </c:pt>
                <c:pt idx="88">
                  <c:v>0.77391304347826084</c:v>
                </c:pt>
                <c:pt idx="89">
                  <c:v>0.78260869565217395</c:v>
                </c:pt>
                <c:pt idx="90">
                  <c:v>0.79130434782608694</c:v>
                </c:pt>
                <c:pt idx="91">
                  <c:v>0.8</c:v>
                </c:pt>
                <c:pt idx="92">
                  <c:v>0.80869565217391304</c:v>
                </c:pt>
                <c:pt idx="93">
                  <c:v>0.81739130434782614</c:v>
                </c:pt>
                <c:pt idx="94">
                  <c:v>0.82608695652173914</c:v>
                </c:pt>
                <c:pt idx="95">
                  <c:v>0.83478260869565213</c:v>
                </c:pt>
                <c:pt idx="96">
                  <c:v>0.84347826086956523</c:v>
                </c:pt>
                <c:pt idx="97">
                  <c:v>0.85217391304347823</c:v>
                </c:pt>
                <c:pt idx="98">
                  <c:v>0.86086956521739133</c:v>
                </c:pt>
                <c:pt idx="99">
                  <c:v>0.86956521739130432</c:v>
                </c:pt>
                <c:pt idx="100">
                  <c:v>0.87826086956521743</c:v>
                </c:pt>
                <c:pt idx="101">
                  <c:v>0.88695652173913042</c:v>
                </c:pt>
                <c:pt idx="102">
                  <c:v>0.89565217391304353</c:v>
                </c:pt>
                <c:pt idx="103">
                  <c:v>0.90434782608695652</c:v>
                </c:pt>
                <c:pt idx="104">
                  <c:v>0.91304347826086951</c:v>
                </c:pt>
                <c:pt idx="105">
                  <c:v>0.92173913043478262</c:v>
                </c:pt>
                <c:pt idx="106">
                  <c:v>0.93043478260869561</c:v>
                </c:pt>
                <c:pt idx="107">
                  <c:v>0.93913043478260871</c:v>
                </c:pt>
                <c:pt idx="108">
                  <c:v>0.94782608695652171</c:v>
                </c:pt>
                <c:pt idx="109">
                  <c:v>0.95652173913043481</c:v>
                </c:pt>
                <c:pt idx="110">
                  <c:v>0.9652173913043478</c:v>
                </c:pt>
                <c:pt idx="111">
                  <c:v>0.97391304347826091</c:v>
                </c:pt>
                <c:pt idx="112">
                  <c:v>0.9826086956521739</c:v>
                </c:pt>
                <c:pt idx="113">
                  <c:v>0.99130434782608701</c:v>
                </c:pt>
                <c:pt idx="114">
                  <c:v>1</c:v>
                </c:pt>
              </c:numCache>
            </c:numRef>
          </c:yVal>
          <c:smooth val="0"/>
          <c:extLst>
            <c:ext xmlns:c16="http://schemas.microsoft.com/office/drawing/2014/chart" uri="{C3380CC4-5D6E-409C-BE32-E72D297353CC}">
              <c16:uniqueId val="{00000000-AF39-B74F-A05C-A5B3C09FE54F}"/>
            </c:ext>
          </c:extLst>
        </c:ser>
        <c:dLbls>
          <c:showLegendKey val="0"/>
          <c:showVal val="0"/>
          <c:showCatName val="0"/>
          <c:showSerName val="0"/>
          <c:showPercent val="0"/>
          <c:showBubbleSize val="0"/>
        </c:dLbls>
        <c:axId val="213353471"/>
        <c:axId val="146047328"/>
      </c:scatterChart>
      <c:valAx>
        <c:axId val="213353471"/>
        <c:scaling>
          <c:orientation val="minMax"/>
          <c:max val="0.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sz="2000" b="1" dirty="0"/>
                  <a:t>Slowdown vs. Local Memory Only </a:t>
                </a:r>
              </a:p>
            </c:rich>
          </c:tx>
          <c:overlay val="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CN"/>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200" b="0" i="0" u="none" strike="noStrike" kern="1200" baseline="0">
                <a:solidFill>
                  <a:schemeClr val="tx1">
                    <a:lumMod val="65000"/>
                    <a:lumOff val="35000"/>
                  </a:schemeClr>
                </a:solidFill>
                <a:latin typeface="+mn-lt"/>
                <a:ea typeface="+mn-ea"/>
                <a:cs typeface="+mn-cs"/>
              </a:defRPr>
            </a:pPr>
            <a:endParaRPr lang="en-CN"/>
          </a:p>
        </c:txPr>
        <c:crossAx val="146047328"/>
        <c:crosses val="autoZero"/>
        <c:crossBetween val="midCat"/>
        <c:majorUnit val="0.1"/>
      </c:valAx>
      <c:valAx>
        <c:axId val="146047328"/>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sz="2000" b="1" dirty="0"/>
                  <a:t>CDF</a:t>
                </a:r>
              </a:p>
            </c:rich>
          </c:tx>
          <c:overlay val="0"/>
          <c:spPr>
            <a:noFill/>
            <a:ln>
              <a:noFill/>
            </a:ln>
            <a:effectLst/>
          </c:spPr>
          <c:txPr>
            <a:bodyPr rot="-54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CN"/>
            </a:p>
          </c:txPr>
        </c:title>
        <c:numFmt formatCode="General"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CN"/>
          </a:p>
        </c:txPr>
        <c:crossAx val="213353471"/>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391BFC-437D-834A-AA91-95BCFDF6F0A2}" type="datetimeFigureOut">
              <a:rPr lang="en-CN" smtClean="0"/>
              <a:t>2024/7/10</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A7D6FD-758D-2942-AFDA-BC81D8DDE17A}" type="slidenum">
              <a:rPr lang="en-CN" smtClean="0"/>
              <a:t>‹#›</a:t>
            </a:fld>
            <a:endParaRPr lang="en-CN"/>
          </a:p>
        </p:txBody>
      </p:sp>
    </p:spTree>
    <p:extLst>
      <p:ext uri="{BB962C8B-B14F-4D97-AF65-F5344CB8AC3E}">
        <p14:creationId xmlns:p14="http://schemas.microsoft.com/office/powerpoint/2010/main" val="1145796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Hello everyone. My name is Yuhong. I’m a PhD student at Columbia unversity. Today I’m going to talk about our work on managing memory tiers with CXL in virtualized environments. This is a collaboration between academic institutes and  industry, including Microsoft Azure and Intel.</a:t>
            </a:r>
          </a:p>
        </p:txBody>
      </p:sp>
      <p:sp>
        <p:nvSpPr>
          <p:cNvPr id="4" name="Slide Number Placeholder 3"/>
          <p:cNvSpPr>
            <a:spLocks noGrp="1"/>
          </p:cNvSpPr>
          <p:nvPr>
            <p:ph type="sldNum" sz="quarter" idx="5"/>
          </p:nvPr>
        </p:nvSpPr>
        <p:spPr/>
        <p:txBody>
          <a:bodyPr/>
          <a:lstStyle/>
          <a:p>
            <a:fld id="{28A7D6FD-758D-2942-AFDA-BC81D8DDE17A}" type="slidenum">
              <a:rPr lang="en-CN" smtClean="0"/>
              <a:t>1</a:t>
            </a:fld>
            <a:endParaRPr lang="en-CN"/>
          </a:p>
        </p:txBody>
      </p:sp>
    </p:spTree>
    <p:extLst>
      <p:ext uri="{BB962C8B-B14F-4D97-AF65-F5344CB8AC3E}">
        <p14:creationId xmlns:p14="http://schemas.microsoft.com/office/powerpoint/2010/main" val="1595519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As the background of this work, we show that ...</a:t>
            </a:r>
          </a:p>
          <a:p>
            <a:endParaRPr lang="en-CN" dirty="0"/>
          </a:p>
          <a:p>
            <a:r>
              <a:rPr lang="en-CN" dirty="0"/>
              <a:t>To address this problem, in this work, we introduce ...</a:t>
            </a:r>
          </a:p>
        </p:txBody>
      </p:sp>
      <p:sp>
        <p:nvSpPr>
          <p:cNvPr id="4" name="Slide Number Placeholder 3"/>
          <p:cNvSpPr>
            <a:spLocks noGrp="1"/>
          </p:cNvSpPr>
          <p:nvPr>
            <p:ph type="sldNum" sz="quarter" idx="5"/>
          </p:nvPr>
        </p:nvSpPr>
        <p:spPr/>
        <p:txBody>
          <a:bodyPr/>
          <a:lstStyle/>
          <a:p>
            <a:fld id="{28A7D6FD-758D-2942-AFDA-BC81D8DDE17A}" type="slidenum">
              <a:rPr lang="en-CN" smtClean="0"/>
              <a:t>2</a:t>
            </a:fld>
            <a:endParaRPr lang="en-CN"/>
          </a:p>
        </p:txBody>
      </p:sp>
    </p:spTree>
    <p:extLst>
      <p:ext uri="{BB962C8B-B14F-4D97-AF65-F5344CB8AC3E}">
        <p14:creationId xmlns:p14="http://schemas.microsoft.com/office/powerpoint/2010/main" val="2432086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Let me motivate our work by showing how the CPU core counts change over time. As we can see, CPU core counts are increasing exponentially.</a:t>
            </a:r>
          </a:p>
          <a:p>
            <a:endParaRPr lang="en-CN" dirty="0"/>
          </a:p>
          <a:p>
            <a:r>
              <a:rPr lang="en-CN" dirty="0"/>
              <a:t>However, on the other hand, if we look at the amount of memory capacity per core, it is decreasing over time because core count is scaling faster than memory capacity.</a:t>
            </a:r>
          </a:p>
          <a:p>
            <a:endParaRPr lang="en-CN" dirty="0"/>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3</a:t>
            </a:fld>
            <a:endParaRPr lang="en-CN"/>
          </a:p>
        </p:txBody>
      </p:sp>
    </p:spTree>
    <p:extLst>
      <p:ext uri="{BB962C8B-B14F-4D97-AF65-F5344CB8AC3E}">
        <p14:creationId xmlns:p14="http://schemas.microsoft.com/office/powerpoint/2010/main" val="3869546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One promising solution to this problem is Computer Express Link, or CXL.</a:t>
            </a:r>
          </a:p>
          <a:p>
            <a:endParaRPr lang="en-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CN" dirty="0"/>
              <a:t>Traditionally, memory modules are attached to the CPU through a wide parallel protocol called DDR. However, as a parallel protocol, DDR struggles to scale to larger capacity with limited pins.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N" dirty="0"/>
          </a:p>
          <a:p>
            <a:r>
              <a:rPr lang="en-CN" dirty="0"/>
              <a:t>In constrast, CXL links allow memory modules to be attached behind CXL memory controllers.</a:t>
            </a:r>
          </a:p>
          <a:p>
            <a:r>
              <a:rPr lang="en-CN" dirty="0"/>
              <a:t>As a serial protocol, CXL can scale memory capacity easier using fewer pins.</a:t>
            </a:r>
          </a:p>
          <a:p>
            <a:pPr marL="0" marR="0" lvl="0" indent="0" algn="l" defTabSz="914400" rtl="0" eaLnBrk="1" fontAlgn="auto" latinLnBrk="0" hangingPunct="1">
              <a:lnSpc>
                <a:spcPct val="100000"/>
              </a:lnSpc>
              <a:spcBef>
                <a:spcPts val="0"/>
              </a:spcBef>
              <a:spcAft>
                <a:spcPts val="0"/>
              </a:spcAft>
              <a:buClrTx/>
              <a:buSzTx/>
              <a:buFontTx/>
              <a:buNone/>
              <a:tabLst/>
              <a:defRPr/>
            </a:pPr>
            <a:r>
              <a:rPr lang="en-CN" dirty="0"/>
              <a:t>The CXL-attached memory can also be accessed using load/store instructions.</a:t>
            </a:r>
          </a:p>
          <a:p>
            <a:endParaRPr lang="en-CN" dirty="0"/>
          </a:p>
          <a:p>
            <a:r>
              <a:rPr lang="en-CN" dirty="0"/>
              <a:t>However, because CXL is a serial protocol, it has higher access latency.</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4</a:t>
            </a:fld>
            <a:endParaRPr lang="en-CN"/>
          </a:p>
        </p:txBody>
      </p:sp>
    </p:spTree>
    <p:extLst>
      <p:ext uri="{BB962C8B-B14F-4D97-AF65-F5344CB8AC3E}">
        <p14:creationId xmlns:p14="http://schemas.microsoft.com/office/powerpoint/2010/main" val="136176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In practice, CXL latency is usually two times higher than the local memory latency.</a:t>
            </a:r>
          </a:p>
          <a:p>
            <a:endParaRPr lang="en-CN" dirty="0"/>
          </a:p>
          <a:p>
            <a:r>
              <a:rPr lang="en-CN" dirty="0"/>
              <a:t>In our experiments, such high latency slow downs popular cloud workloads by up to 62%. Therefore, to minimize slowdown, we need to place frequently accessed data in local memory while leaving the cold data in CXL memory. Such data placement between local and CXL memory is called memory tiering.</a:t>
            </a:r>
          </a:p>
          <a:p>
            <a:endParaRPr lang="en-CN" dirty="0"/>
          </a:p>
          <a:p>
            <a:r>
              <a:rPr lang="en-CN" dirty="0"/>
              <a:t>In general-purpose clouds, most workloads are virtualized. There are several requirements to deploy memory tiering with CXL in virtualized environments.</a:t>
            </a:r>
          </a:p>
          <a:p>
            <a:endParaRPr lang="en-CN" dirty="0"/>
          </a:p>
          <a:p>
            <a:r>
              <a:rPr lang="en-CN" dirty="0"/>
              <a:t>First, we need to ensure minimal slowdown compared to only using local memory. This is especially challenging in cloud environments where multiple virtual machines run on the same host.</a:t>
            </a:r>
          </a:p>
          <a:p>
            <a:endParaRPr lang="en-CN" dirty="0"/>
          </a:p>
          <a:p>
            <a:r>
              <a:rPr lang="en-CN" dirty="0"/>
              <a:t>Second, memory tiering should have low CPU overhead. Low CPU overhead ensures that most CPU cycles can be used to run customer VMs.</a:t>
            </a:r>
          </a:p>
          <a:p>
            <a:endParaRPr lang="en-CN" dirty="0"/>
          </a:p>
          <a:p>
            <a:r>
              <a:rPr lang="en-CN" dirty="0"/>
              <a:t>Third, virtualized environments usually use larger page sizes such as 2 MB or 1 GB to reduce the cost of 2-D page table walk. Therefore, memory tiering approach should also be compatible with huge pages.</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5</a:t>
            </a:fld>
            <a:endParaRPr lang="en-CN"/>
          </a:p>
        </p:txBody>
      </p:sp>
    </p:spTree>
    <p:extLst>
      <p:ext uri="{BB962C8B-B14F-4D97-AF65-F5344CB8AC3E}">
        <p14:creationId xmlns:p14="http://schemas.microsoft.com/office/powerpoint/2010/main" val="3788981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Most prior work on memory tiering focuses on using software to manage data placement. There are many exciting work such as HeMem, TPP, and MEMTIS.</a:t>
            </a:r>
          </a:p>
          <a:p>
            <a:r>
              <a:rPr lang="en-CN" dirty="0"/>
              <a:t>However, as I will show later, since they are not designed for clouds, they can poorly satisfy cloud requirements. For example, they have high tail slowdown, high CPU overhead, and are not huge page friendly.</a:t>
            </a:r>
          </a:p>
          <a:p>
            <a:endParaRPr lang="en-CN" dirty="0"/>
          </a:p>
          <a:p>
            <a:r>
              <a:rPr lang="en-CN" dirty="0"/>
              <a:t>In this talk, I will first introduce Intel flat memory mode, a hardware-managed memory tiering solution for CXL. Although it still has high tail slowdown, this hardware tiering approach has low CPU overhead and is huge page friendly.</a:t>
            </a:r>
          </a:p>
          <a:p>
            <a:endParaRPr lang="en-CN" dirty="0"/>
          </a:p>
          <a:p>
            <a:r>
              <a:rPr lang="en-CN" dirty="0"/>
              <a:t>Finally, I will also introduce Memstrata, a lightweight memory allocator for hardware tiering in the hypervisor. I will show that combining hardware tiering with Memstrata satisfies all clouds requirements for memory tiering.</a:t>
            </a:r>
          </a:p>
          <a:p>
            <a:endParaRPr lang="en-CN" dirty="0"/>
          </a:p>
          <a:p>
            <a:r>
              <a:rPr lang="en-CN" dirty="0"/>
              <a:t>Let me provide some backgrounds on software tiering first.</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6</a:t>
            </a:fld>
            <a:endParaRPr lang="en-CN"/>
          </a:p>
        </p:txBody>
      </p:sp>
    </p:spTree>
    <p:extLst>
      <p:ext uri="{BB962C8B-B14F-4D97-AF65-F5344CB8AC3E}">
        <p14:creationId xmlns:p14="http://schemas.microsoft.com/office/powerpoint/2010/main" val="3663867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Software-managed memory tiering uses the hypervisor or OS to identify popular pages and decide page placement.</a:t>
            </a:r>
          </a:p>
          <a:p>
            <a:endParaRPr lang="en-CN" dirty="0"/>
          </a:p>
          <a:p>
            <a:r>
              <a:rPr lang="en-CN" dirty="0"/>
              <a:t>With software tiering, the host physical address space has separate ranges for local memory and CXL memory.</a:t>
            </a:r>
          </a:p>
          <a:p>
            <a:endParaRPr lang="en-CN" dirty="0"/>
          </a:p>
          <a:p>
            <a:r>
              <a:rPr lang="en-CN" dirty="0"/>
              <a:t>The diagram below shows the guest physical address space of one VM.</a:t>
            </a:r>
          </a:p>
          <a:p>
            <a:endParaRPr lang="en-CN" dirty="0"/>
          </a:p>
          <a:p>
            <a:r>
              <a:rPr lang="en-CN" dirty="0"/>
              <a:t>The hypervisor maps different guest physical pages to either local memory or CXL memory according to their hotness.</a:t>
            </a:r>
          </a:p>
          <a:p>
            <a:endParaRPr lang="en-CN" dirty="0"/>
          </a:p>
          <a:p>
            <a:r>
              <a:rPr lang="en-CN" dirty="0"/>
              <a:t>The mapping between guest physical address space and host physical address space is defined in the guest-to-host page table, which is also known as EPT for Intel CPUs.</a:t>
            </a:r>
          </a:p>
          <a:p>
            <a:r>
              <a:rPr lang="en-CN" dirty="0"/>
              <a:t>This page table is managed by the hypervisor.</a:t>
            </a:r>
          </a:p>
        </p:txBody>
      </p:sp>
      <p:sp>
        <p:nvSpPr>
          <p:cNvPr id="4" name="Slide Number Placeholder 3"/>
          <p:cNvSpPr>
            <a:spLocks noGrp="1"/>
          </p:cNvSpPr>
          <p:nvPr>
            <p:ph type="sldNum" sz="quarter" idx="5"/>
          </p:nvPr>
        </p:nvSpPr>
        <p:spPr/>
        <p:txBody>
          <a:bodyPr/>
          <a:lstStyle/>
          <a:p>
            <a:fld id="{28A7D6FD-758D-2942-AFDA-BC81D8DDE17A}" type="slidenum">
              <a:rPr lang="en-CN" smtClean="0"/>
              <a:t>7</a:t>
            </a:fld>
            <a:endParaRPr lang="en-CN"/>
          </a:p>
        </p:txBody>
      </p:sp>
    </p:spTree>
    <p:extLst>
      <p:ext uri="{BB962C8B-B14F-4D97-AF65-F5344CB8AC3E}">
        <p14:creationId xmlns:p14="http://schemas.microsoft.com/office/powerpoint/2010/main" val="2961731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However, we find that software tiering cannot meet the needs of virtualized environments.</a:t>
            </a:r>
          </a:p>
          <a:p>
            <a:endParaRPr lang="en-CN" dirty="0"/>
          </a:p>
          <a:p>
            <a:r>
              <a:rPr lang="en-CN" dirty="0"/>
              <a:t>The first issue is the high CPU overhead. Since software is usually not involved in memory accesses, software tiering needs to rely on some hardware features to track memory accesses in order to identify popular pages.</a:t>
            </a:r>
          </a:p>
          <a:p>
            <a:r>
              <a:rPr lang="en-CN" dirty="0"/>
              <a:t>One option is to use instruction sampling such as PEBS or IBS to sample memory instructions. However, they are disabled in clouds due to privacy concerns</a:t>
            </a:r>
          </a:p>
          <a:p>
            <a:r>
              <a:rPr lang="en-CN" dirty="0"/>
              <a:t>The other option is scanning the access bits in page tables. However, to acquire accurate access information, frequent page table scans are required. But they also incurs excessive CPU overhead.</a:t>
            </a:r>
          </a:p>
          <a:p>
            <a:endParaRPr lang="en-CN" dirty="0"/>
          </a:p>
          <a:p>
            <a:r>
              <a:rPr lang="en-CN" dirty="0"/>
              <a:t>The second issue is the huge page penalty.</a:t>
            </a:r>
          </a:p>
          <a:p>
            <a:r>
              <a:rPr lang="en-CN" dirty="0"/>
              <a:t>Although larger page sizes reduce TLB cost in virtualized environments, they negatively affect software tiering.</a:t>
            </a:r>
          </a:p>
          <a:p>
            <a:r>
              <a:rPr lang="en-CN" dirty="0"/>
              <a:t>For example, this graph shows a page table entry that corresponds to a 2 MB virtual memory page. As shown in previous work and in our experiments, it is likely that this 2MB page has both hot data and cold data.</a:t>
            </a:r>
          </a:p>
          <a:p>
            <a:r>
              <a:rPr lang="en-CN" dirty="0"/>
              <a:t>With software tiering, it can only be mapped to CXL memory, or, mapped to local memory.</a:t>
            </a:r>
          </a:p>
          <a:p>
            <a:r>
              <a:rPr lang="en-CN" dirty="0"/>
              <a:t>There is no way to only place the hot data in local memory while leaving the rest in CXL memory without splitting the page.</a:t>
            </a:r>
          </a:p>
          <a:p>
            <a:endParaRPr lang="en-CN" dirty="0"/>
          </a:p>
          <a:p>
            <a:r>
              <a:rPr lang="en-CN" dirty="0"/>
              <a:t>Therefore, although larger pages lead to lower TLB cost, they cause the data placement to be more coarse in software tiering.</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8</a:t>
            </a:fld>
            <a:endParaRPr lang="en-CN"/>
          </a:p>
        </p:txBody>
      </p:sp>
    </p:spTree>
    <p:extLst>
      <p:ext uri="{BB962C8B-B14F-4D97-AF65-F5344CB8AC3E}">
        <p14:creationId xmlns:p14="http://schemas.microsoft.com/office/powerpoint/2010/main" val="1545004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To solves these problems, our first contribution is introducing Intel Flat Memory Mode</a:t>
            </a:r>
          </a:p>
          <a:p>
            <a:endParaRPr lang="en-CN" dirty="0"/>
          </a:p>
          <a:p>
            <a:r>
              <a:rPr lang="en-CN" dirty="0"/>
              <a:t>...</a:t>
            </a:r>
          </a:p>
          <a:p>
            <a:endParaRPr lang="en-CN" dirty="0"/>
          </a:p>
          <a:p>
            <a:r>
              <a:rPr lang="en-CN" dirty="0"/>
              <a:t>..., which is also known as Granite Rapids</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9</a:t>
            </a:fld>
            <a:endParaRPr lang="en-CN"/>
          </a:p>
        </p:txBody>
      </p:sp>
    </p:spTree>
    <p:extLst>
      <p:ext uri="{BB962C8B-B14F-4D97-AF65-F5344CB8AC3E}">
        <p14:creationId xmlns:p14="http://schemas.microsoft.com/office/powerpoint/2010/main" val="777219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In Intel Flat Memory Mode, the local memory is treated as a direct-mapped, exclusive cache of CXL memory.</a:t>
            </a:r>
          </a:p>
          <a:p>
            <a:r>
              <a:rPr lang="en-CN" dirty="0"/>
              <a:t>Exclusive means that a cacheline is either stored in local memory or CXL memory, but not both.</a:t>
            </a:r>
          </a:p>
          <a:p>
            <a:endParaRPr lang="en-CN" dirty="0"/>
          </a:p>
          <a:p>
            <a:r>
              <a:rPr lang="en-CN" dirty="0"/>
              <a:t>The capacity between local memory and CXL memory should be 1:1, which is N GB in this graph.</a:t>
            </a:r>
          </a:p>
          <a:p>
            <a:r>
              <a:rPr lang="en-CN" dirty="0"/>
              <a:t>The total amont of physical memory exposed to the software is then 2N GB.</a:t>
            </a:r>
          </a:p>
          <a:p>
            <a:endParaRPr lang="en-CN" dirty="0"/>
          </a:p>
          <a:p>
            <a:r>
              <a:rPr lang="en-CN" dirty="0"/>
              <a:t>Since local memory is a direct-mapped cache, a given cacheline in the physical memory address space, cacheline A in this case, can only be cached at one location in local memory.</a:t>
            </a:r>
          </a:p>
          <a:p>
            <a:endParaRPr lang="en-CN" dirty="0"/>
          </a:p>
          <a:p>
            <a:r>
              <a:rPr lang="en-CN" dirty="0"/>
              <a:t>As the capacity ratio between local memory and the total amount of physical memory is 1:2, there will be another cacheline, cacheline B in this case, that is mapped to the same location in local memory as cacheline A.</a:t>
            </a:r>
          </a:p>
          <a:p>
            <a:r>
              <a:rPr lang="en-CN" dirty="0"/>
              <a:t>Only one of them can be cached in local memory. The other one is stored in CXL memory.</a:t>
            </a:r>
          </a:p>
          <a:p>
            <a:endParaRPr lang="en-CN" dirty="0"/>
          </a:p>
          <a:p>
            <a:r>
              <a:rPr lang="en-CN" dirty="0"/>
              <a:t>The data placement is managed by the CPU memory controller, depending on which cacheline is accessed most recently.</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10</a:t>
            </a:fld>
            <a:endParaRPr lang="en-CN"/>
          </a:p>
        </p:txBody>
      </p:sp>
    </p:spTree>
    <p:extLst>
      <p:ext uri="{BB962C8B-B14F-4D97-AF65-F5344CB8AC3E}">
        <p14:creationId xmlns:p14="http://schemas.microsoft.com/office/powerpoint/2010/main" val="2054538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Next, let me show how a local memory miss is handled in Intel flat memory mode.</a:t>
            </a:r>
          </a:p>
          <a:p>
            <a:endParaRPr lang="en-CN" dirty="0"/>
          </a:p>
          <a:p>
            <a:r>
              <a:rPr lang="en-CN" dirty="0"/>
              <a:t>As shown in the graph, cacheline A is currently cached in local memory. Assume that now there is a main memory access, for example, an LLC miss, on cacheline B.</a:t>
            </a:r>
          </a:p>
        </p:txBody>
      </p:sp>
      <p:sp>
        <p:nvSpPr>
          <p:cNvPr id="4" name="Slide Number Placeholder 3"/>
          <p:cNvSpPr>
            <a:spLocks noGrp="1"/>
          </p:cNvSpPr>
          <p:nvPr>
            <p:ph type="sldNum" sz="quarter" idx="5"/>
          </p:nvPr>
        </p:nvSpPr>
        <p:spPr/>
        <p:txBody>
          <a:bodyPr/>
          <a:lstStyle/>
          <a:p>
            <a:fld id="{28A7D6FD-758D-2942-AFDA-BC81D8DDE17A}" type="slidenum">
              <a:rPr lang="en-CN" smtClean="0"/>
              <a:t>11</a:t>
            </a:fld>
            <a:endParaRPr lang="en-CN"/>
          </a:p>
        </p:txBody>
      </p:sp>
    </p:spTree>
    <p:extLst>
      <p:ext uri="{BB962C8B-B14F-4D97-AF65-F5344CB8AC3E}">
        <p14:creationId xmlns:p14="http://schemas.microsoft.com/office/powerpoint/2010/main" val="3785139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The memory controller will first read from the corresponding location in local memory to check if cacheline B is there.</a:t>
            </a:r>
          </a:p>
          <a:p>
            <a:r>
              <a:rPr lang="en-CN" dirty="0"/>
              <a:t>In this case, it will find that this is a miss.</a:t>
            </a:r>
          </a:p>
        </p:txBody>
      </p:sp>
      <p:sp>
        <p:nvSpPr>
          <p:cNvPr id="4" name="Slide Number Placeholder 3"/>
          <p:cNvSpPr>
            <a:spLocks noGrp="1"/>
          </p:cNvSpPr>
          <p:nvPr>
            <p:ph type="sldNum" sz="quarter" idx="5"/>
          </p:nvPr>
        </p:nvSpPr>
        <p:spPr/>
        <p:txBody>
          <a:bodyPr/>
          <a:lstStyle/>
          <a:p>
            <a:fld id="{28A7D6FD-758D-2942-AFDA-BC81D8DDE17A}" type="slidenum">
              <a:rPr lang="en-CN" smtClean="0"/>
              <a:t>12</a:t>
            </a:fld>
            <a:endParaRPr lang="en-CN"/>
          </a:p>
        </p:txBody>
      </p:sp>
    </p:spTree>
    <p:extLst>
      <p:ext uri="{BB962C8B-B14F-4D97-AF65-F5344CB8AC3E}">
        <p14:creationId xmlns:p14="http://schemas.microsoft.com/office/powerpoint/2010/main" val="3379466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The memory controller will then read from CXL memory to get the data of cacheline B</a:t>
            </a:r>
          </a:p>
        </p:txBody>
      </p:sp>
      <p:sp>
        <p:nvSpPr>
          <p:cNvPr id="4" name="Slide Number Placeholder 3"/>
          <p:cNvSpPr>
            <a:spLocks noGrp="1"/>
          </p:cNvSpPr>
          <p:nvPr>
            <p:ph type="sldNum" sz="quarter" idx="5"/>
          </p:nvPr>
        </p:nvSpPr>
        <p:spPr/>
        <p:txBody>
          <a:bodyPr/>
          <a:lstStyle/>
          <a:p>
            <a:fld id="{28A7D6FD-758D-2942-AFDA-BC81D8DDE17A}" type="slidenum">
              <a:rPr lang="en-CN" smtClean="0"/>
              <a:t>13</a:t>
            </a:fld>
            <a:endParaRPr lang="en-CN"/>
          </a:p>
        </p:txBody>
      </p:sp>
    </p:spTree>
    <p:extLst>
      <p:ext uri="{BB962C8B-B14F-4D97-AF65-F5344CB8AC3E}">
        <p14:creationId xmlns:p14="http://schemas.microsoft.com/office/powerpoint/2010/main" val="2858705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After fetching the cacheline B from CXL memory, the memory controller will serve the data to the core that requested cacheline B. and, at the same time, swap cacheline A and B between local memory and CXL memory.</a:t>
            </a:r>
          </a:p>
          <a:p>
            <a:r>
              <a:rPr lang="en-CN" dirty="0"/>
              <a:t>After the swap, cacheline B will be cached in local memory instead since it has been recently accessed.</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14</a:t>
            </a:fld>
            <a:endParaRPr lang="en-CN"/>
          </a:p>
        </p:txBody>
      </p:sp>
    </p:spTree>
    <p:extLst>
      <p:ext uri="{BB962C8B-B14F-4D97-AF65-F5344CB8AC3E}">
        <p14:creationId xmlns:p14="http://schemas.microsoft.com/office/powerpoint/2010/main" val="37291019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However, we find that hardware tiering alone still has limitations.</a:t>
            </a:r>
          </a:p>
          <a:p>
            <a:endParaRPr lang="en-CN" dirty="0"/>
          </a:p>
          <a:p>
            <a:r>
              <a:rPr lang="en-CN" dirty="0"/>
              <a:t>The first challenge is that although hardware tiering attempts to place the most frequently-accessed data in local memory, some workloads still have heavy local memory misses and high slowdown.</a:t>
            </a:r>
          </a:p>
          <a:p>
            <a:endParaRPr lang="en-CN" dirty="0"/>
          </a:p>
          <a:p>
            <a:r>
              <a:rPr lang="en-CN" dirty="0"/>
              <a:t>We measure the slowdown of both hardware tiering [pause] and software tiering using popular cloud workloads. For software tiering, we use TPP, the state-of-the-art system from Meta.</a:t>
            </a:r>
          </a:p>
          <a:p>
            <a:r>
              <a:rPr lang="en-CN" dirty="0"/>
              <a:t>This graph shows ths CDF of the slowdown compared to only using local memory. The x-axis is the slowdown, and the y-axis is the CDF, where higher is better</a:t>
            </a:r>
          </a:p>
          <a:p>
            <a:endParaRPr lang="en-CN" dirty="0"/>
          </a:p>
          <a:p>
            <a:r>
              <a:rPr lang="en-CN" dirty="0"/>
              <a:t>When comparing to TPP, HW tiering significantly reduces slowdown.</a:t>
            </a:r>
          </a:p>
          <a:p>
            <a:endParaRPr lang="en-CN" dirty="0"/>
          </a:p>
          <a:p>
            <a:r>
              <a:rPr lang="en-CN" dirty="0"/>
              <a:t>However, if you look at the tail, there are still 26% of workloads that have more than 5% slowdown with hardware tiering. We call the workloads that have more than 5% slowdown as the outliers.</a:t>
            </a:r>
          </a:p>
          <a:p>
            <a:r>
              <a:rPr lang="en-CN" dirty="0"/>
              <a:t>Those outliers have cache-unfriendly memory access patterns and are sensitive to main memory latency.</a:t>
            </a:r>
          </a:p>
          <a:p>
            <a:endParaRPr lang="en-CN" dirty="0"/>
          </a:p>
          <a:p>
            <a:r>
              <a:rPr lang="en-CN" dirty="0"/>
              <a:t>Another chanllenge is that, hardware tiering provides no performance isolation across VMs.</a:t>
            </a:r>
          </a:p>
          <a:p>
            <a:r>
              <a:rPr lang="en-CN" dirty="0"/>
              <a:t>For example, let’s say we have two VMs. It’s likely that they are mapped to a common local memory range.</a:t>
            </a:r>
          </a:p>
          <a:p>
            <a:r>
              <a:rPr lang="en-CN" dirty="0"/>
              <a:t>In this case, they will compete for the local memory depending on which VM is more memory intensive.</a:t>
            </a:r>
          </a:p>
          <a:p>
            <a:endParaRPr lang="en-CN" dirty="0"/>
          </a:p>
          <a:p>
            <a:r>
              <a:rPr lang="en-CN" dirty="0"/>
              <a:t>We find that this local memory contention across VMs can cause more than 50% slowdown.</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15</a:t>
            </a:fld>
            <a:endParaRPr lang="en-CN"/>
          </a:p>
        </p:txBody>
      </p:sp>
    </p:spTree>
    <p:extLst>
      <p:ext uri="{BB962C8B-B14F-4D97-AF65-F5344CB8AC3E}">
        <p14:creationId xmlns:p14="http://schemas.microsoft.com/office/powerpoint/2010/main" val="722626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To mitigate the performance degradation of outliers, we can increase the amount of local memory by add dedicated local memory besides hardware-tiered memory.</a:t>
            </a:r>
          </a:p>
          <a:p>
            <a:r>
              <a:rPr lang="en-CN" dirty="0"/>
              <a:t>The dedicated local memory is directly exposed to the host physical memory address space.</a:t>
            </a:r>
          </a:p>
          <a:p>
            <a:r>
              <a:rPr lang="en-CN" dirty="0"/>
              <a:t>The data there always stays in local memory.</a:t>
            </a:r>
          </a:p>
          <a:p>
            <a:endParaRPr lang="en-CN" dirty="0"/>
          </a:p>
          <a:p>
            <a:r>
              <a:rPr lang="en-CN" dirty="0"/>
              <a:t>However, in virtualized environments, the question is, how to allocate dedicated local memory across VMs.</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16</a:t>
            </a:fld>
            <a:endParaRPr lang="en-CN"/>
          </a:p>
        </p:txBody>
      </p:sp>
    </p:spTree>
    <p:extLst>
      <p:ext uri="{BB962C8B-B14F-4D97-AF65-F5344CB8AC3E}">
        <p14:creationId xmlns:p14="http://schemas.microsoft.com/office/powerpoint/2010/main" val="3541180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We introduce...</a:t>
            </a:r>
          </a:p>
          <a:p>
            <a:endParaRPr lang="en-CN" dirty="0"/>
          </a:p>
          <a:p>
            <a:r>
              <a:rPr lang="en-CN" dirty="0"/>
              <a:t>...</a:t>
            </a:r>
          </a:p>
          <a:p>
            <a:endParaRPr lang="en-CN" dirty="0"/>
          </a:p>
          <a:p>
            <a:r>
              <a:rPr lang="en-CN" dirty="0"/>
              <a:t>...</a:t>
            </a:r>
          </a:p>
          <a:p>
            <a:endParaRPr lang="en-CN" dirty="0"/>
          </a:p>
          <a:p>
            <a:r>
              <a:rPr lang="en-CN" dirty="0"/>
              <a:t>...</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17</a:t>
            </a:fld>
            <a:endParaRPr lang="en-CN"/>
          </a:p>
        </p:txBody>
      </p:sp>
    </p:spTree>
    <p:extLst>
      <p:ext uri="{BB962C8B-B14F-4D97-AF65-F5344CB8AC3E}">
        <p14:creationId xmlns:p14="http://schemas.microsoft.com/office/powerpoint/2010/main" val="1204295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Let me show how Memstrata allocates dedicated local memory across VMs dynamically.</a:t>
            </a:r>
          </a:p>
          <a:p>
            <a:endParaRPr lang="en-CN" dirty="0"/>
          </a:p>
          <a:p>
            <a:r>
              <a:rPr lang="en-CN" dirty="0"/>
              <a:t>On the hardware side, hardware-tiered memory and dedicated local memory are exposed as two separate range in the host physical address space to the software.</a:t>
            </a:r>
          </a:p>
          <a:p>
            <a:endParaRPr lang="en-CN" dirty="0"/>
          </a:p>
          <a:p>
            <a:r>
              <a:rPr lang="en-CN" dirty="0"/>
              <a:t>Let’s say we have 3 VMs running on the host, each with a fixed percentage of HW-tiered pages and dedicated pages.</a:t>
            </a:r>
          </a:p>
          <a:p>
            <a:r>
              <a:rPr lang="en-CN" dirty="0"/>
              <a:t>Different VMs could experience different slowdowns compared to only using local memory because they run different workloads.</a:t>
            </a:r>
          </a:p>
          <a:p>
            <a:endParaRPr lang="en-CN" dirty="0"/>
          </a:p>
          <a:p>
            <a:r>
              <a:rPr lang="en-CN" dirty="0"/>
              <a:t>For example, ...</a:t>
            </a:r>
          </a:p>
          <a:p>
            <a:endParaRPr lang="en-CN" dirty="0"/>
          </a:p>
          <a:p>
            <a:r>
              <a:rPr lang="en-CN" dirty="0"/>
              <a:t>In order to mitigate the performance of the outlier. Memstrata will need to first identify the outlier VM.</a:t>
            </a:r>
          </a:p>
          <a:p>
            <a:r>
              <a:rPr lang="en-CN" dirty="0"/>
              <a:t>After identifying the outlier VM, it can then give it more dedicated local memory.</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18</a:t>
            </a:fld>
            <a:endParaRPr lang="en-CN"/>
          </a:p>
        </p:txBody>
      </p:sp>
    </p:spTree>
    <p:extLst>
      <p:ext uri="{BB962C8B-B14F-4D97-AF65-F5344CB8AC3E}">
        <p14:creationId xmlns:p14="http://schemas.microsoft.com/office/powerpoint/2010/main" val="19279987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However, identifying outlier VMs in the hypervisor is challenging.</a:t>
            </a:r>
          </a:p>
          <a:p>
            <a:endParaRPr lang="en-CN" dirty="0"/>
          </a:p>
          <a:p>
            <a:r>
              <a:rPr lang="en-CN" dirty="0"/>
              <a:t>This is because hypervisor is usually unaware of the workloads run inside VMs.</a:t>
            </a:r>
          </a:p>
          <a:p>
            <a:endParaRPr lang="en-CN" dirty="0"/>
          </a:p>
          <a:p>
            <a:r>
              <a:rPr lang="en-CN" dirty="0"/>
              <a:t>You might think maybe we can measure the local memory miss ratio in each VM as a proxy of the slowdown.</a:t>
            </a:r>
          </a:p>
          <a:p>
            <a:r>
              <a:rPr lang="en-CN" dirty="0"/>
              <a:t>However, hardware tiering only provides a system-wide local memory miss ratio, and cannot report per-VM miss rate.</a:t>
            </a:r>
          </a:p>
          <a:p>
            <a:r>
              <a:rPr lang="en-CN" dirty="0"/>
              <a:t>This is because the data placement is managed by the CPU memory controller, not by individual cores.</a:t>
            </a:r>
          </a:p>
          <a:p>
            <a:endParaRPr lang="en-CN" dirty="0"/>
          </a:p>
          <a:p>
            <a:r>
              <a:rPr lang="en-CN" dirty="0"/>
              <a:t>To this end, ...</a:t>
            </a:r>
          </a:p>
          <a:p>
            <a:endParaRPr lang="en-CN" dirty="0"/>
          </a:p>
          <a:p>
            <a:r>
              <a:rPr lang="en-CN" dirty="0"/>
              <a:t>The key thing here is that we can use some per-core performance metrics that correlates well with miss ratio, for example, L3 miss latency.</a:t>
            </a:r>
          </a:p>
          <a:p>
            <a:endParaRPr lang="en-CN" dirty="0"/>
          </a:p>
          <a:p>
            <a:r>
              <a:rPr lang="en-CN" dirty="0"/>
              <a:t>You can check out the details in the paper.</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19</a:t>
            </a:fld>
            <a:endParaRPr lang="en-CN"/>
          </a:p>
        </p:txBody>
      </p:sp>
    </p:spTree>
    <p:extLst>
      <p:ext uri="{BB962C8B-B14F-4D97-AF65-F5344CB8AC3E}">
        <p14:creationId xmlns:p14="http://schemas.microsoft.com/office/powerpoint/2010/main" val="13695994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After identifying the outlier VM, Memstrata will invoke the dynamic page allocator to give the outlier VM more dedicated local memory pages, while moving its HW-tiered pages to other VMs.</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20</a:t>
            </a:fld>
            <a:endParaRPr lang="en-CN"/>
          </a:p>
        </p:txBody>
      </p:sp>
    </p:spTree>
    <p:extLst>
      <p:ext uri="{BB962C8B-B14F-4D97-AF65-F5344CB8AC3E}">
        <p14:creationId xmlns:p14="http://schemas.microsoft.com/office/powerpoint/2010/main" val="2502543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After getting more dedicated local memory, the outlier VM can then recover from the high slowdown. </a:t>
            </a:r>
          </a:p>
        </p:txBody>
      </p:sp>
      <p:sp>
        <p:nvSpPr>
          <p:cNvPr id="4" name="Slide Number Placeholder 3"/>
          <p:cNvSpPr>
            <a:spLocks noGrp="1"/>
          </p:cNvSpPr>
          <p:nvPr>
            <p:ph type="sldNum" sz="quarter" idx="5"/>
          </p:nvPr>
        </p:nvSpPr>
        <p:spPr/>
        <p:txBody>
          <a:bodyPr/>
          <a:lstStyle/>
          <a:p>
            <a:fld id="{28A7D6FD-758D-2942-AFDA-BC81D8DDE17A}" type="slidenum">
              <a:rPr lang="en-CN" smtClean="0"/>
              <a:t>21</a:t>
            </a:fld>
            <a:endParaRPr lang="en-CN"/>
          </a:p>
        </p:txBody>
      </p:sp>
    </p:spTree>
    <p:extLst>
      <p:ext uri="{BB962C8B-B14F-4D97-AF65-F5344CB8AC3E}">
        <p14:creationId xmlns:p14="http://schemas.microsoft.com/office/powerpoint/2010/main" val="1200534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dirty="0"/>
              <a:t>In the evaluation, we use a </a:t>
            </a:r>
            <a:r>
              <a:rPr lang="en-US" altLang="zh-CN" dirty="0"/>
              <a:t>preproduction</a:t>
            </a:r>
            <a:r>
              <a:rPr lang="en-CN" dirty="0"/>
              <a:t> Intel Xeon 6 Processor and real CXL cards from Astera Labs</a:t>
            </a:r>
            <a:r>
              <a:rPr lang="en-US" altLang="zh-CN" dirty="0"/>
              <a:t>.</a:t>
            </a:r>
            <a:endParaRPr lang="en-CN" dirty="0"/>
          </a:p>
          <a:p>
            <a:endParaRPr lang="en-CN" dirty="0"/>
          </a:p>
          <a:p>
            <a:r>
              <a:rPr lang="en-CN" dirty="0"/>
              <a:t>We evaluate hardware tiering and Memstrata using 115 popular cloud workloads from different categories.</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22</a:t>
            </a:fld>
            <a:endParaRPr lang="en-CN"/>
          </a:p>
        </p:txBody>
      </p:sp>
    </p:spTree>
    <p:extLst>
      <p:ext uri="{BB962C8B-B14F-4D97-AF65-F5344CB8AC3E}">
        <p14:creationId xmlns:p14="http://schemas.microsoft.com/office/powerpoint/2010/main" val="17802706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To see if Memstrata can eliminate outliers, we ...</a:t>
            </a:r>
          </a:p>
          <a:p>
            <a:endParaRPr lang="en-CN" dirty="0"/>
          </a:p>
          <a:p>
            <a:r>
              <a:rPr lang="en-CN" dirty="0"/>
              <a:t>Also, in our setting, VMs continuously arrive and departure, representing a realistic cloud scenario.</a:t>
            </a:r>
          </a:p>
          <a:p>
            <a:endParaRPr lang="en-CN" dirty="0"/>
          </a:p>
          <a:p>
            <a:r>
              <a:rPr lang="en-CN" dirty="0"/>
              <a:t>This graph compares hardware tiering with and without Memstrata in one experiment.</a:t>
            </a:r>
          </a:p>
          <a:p>
            <a:r>
              <a:rPr lang="en-CN" dirty="0"/>
              <a:t>The x-axis shows the workloads used in this experiment, and the y-axis shows the workload slowdown compared to only using local memory. Lower is better in the y-axis.</a:t>
            </a:r>
          </a:p>
          <a:p>
            <a:endParaRPr lang="en-CN" dirty="0"/>
          </a:p>
          <a:p>
            <a:r>
              <a:rPr lang="en-CN" dirty="0"/>
              <a:t>The red bar represents the slowdown of hardware tiering without Memstrata. As we can see, although many workloads do not have significant slowdowns, there are some outliers with up to 34% slowdown.</a:t>
            </a:r>
          </a:p>
          <a:p>
            <a:r>
              <a:rPr lang="en-CN" dirty="0"/>
              <a:t>The one with the most slowdown is 649 fotonick3d, which is a scientific compute workloads.</a:t>
            </a:r>
          </a:p>
          <a:p>
            <a:endParaRPr lang="en-CN" dirty="0"/>
          </a:p>
          <a:p>
            <a:r>
              <a:rPr lang="en-CN" dirty="0"/>
              <a:t>The blue bar represents the slowdown of hardware tiering with Memstrata. As shown in the graph, Memstrata is able to reduce the slowdown of all workloads, including the scientific compute outlier, to close to 5%.</a:t>
            </a:r>
          </a:p>
          <a:p>
            <a:endParaRPr lang="en-CN" dirty="0"/>
          </a:p>
          <a:p>
            <a:r>
              <a:rPr lang="en-CN" dirty="0"/>
              <a:t>In summary, ...</a:t>
            </a:r>
          </a:p>
          <a:p>
            <a:endParaRPr lang="en-CN" dirty="0"/>
          </a:p>
          <a:p>
            <a:r>
              <a:rPr lang="en-CN" dirty="0"/>
              <a:t>You can check the paper for details and more experiments.</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23</a:t>
            </a:fld>
            <a:endParaRPr lang="en-CN"/>
          </a:p>
        </p:txBody>
      </p:sp>
    </p:spTree>
    <p:extLst>
      <p:ext uri="{BB962C8B-B14F-4D97-AF65-F5344CB8AC3E}">
        <p14:creationId xmlns:p14="http://schemas.microsoft.com/office/powerpoint/2010/main" val="1148667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24</a:t>
            </a:fld>
            <a:endParaRPr lang="en-CN"/>
          </a:p>
        </p:txBody>
      </p:sp>
    </p:spTree>
    <p:extLst>
      <p:ext uri="{BB962C8B-B14F-4D97-AF65-F5344CB8AC3E}">
        <p14:creationId xmlns:p14="http://schemas.microsoft.com/office/powerpoint/2010/main" val="36328043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Let me motivate our work by showing how the core count of general-purpose CPU changes over time. As we can see, the core count of a single CPU socket is increasing rapidly in recent years.</a:t>
            </a:r>
          </a:p>
          <a:p>
            <a:endParaRPr lang="en-CN" dirty="0"/>
          </a:p>
          <a:p>
            <a:r>
              <a:rPr lang="en-CN" dirty="0"/>
              <a:t>However, on the other hand, although the DRAM price per GB dropped at a log-linear rate before 2012, the DRAM price is flattening recently.</a:t>
            </a:r>
          </a:p>
          <a:p>
            <a:endParaRPr lang="en-CN" dirty="0"/>
          </a:p>
          <a:p>
            <a:r>
              <a:rPr lang="en-CN" dirty="0"/>
              <a:t>...</a:t>
            </a:r>
          </a:p>
          <a:p>
            <a:endParaRPr lang="en-CN" dirty="0"/>
          </a:p>
          <a:p>
            <a:r>
              <a:rPr lang="en-CN" dirty="0"/>
              <a:t>...</a:t>
            </a:r>
          </a:p>
          <a:p>
            <a:endParaRPr lang="en-CN" dirty="0"/>
          </a:p>
          <a:p>
            <a:r>
              <a:rPr lang="en-CN" dirty="0"/>
              <a:t>[question]: the reason behind the trends</a:t>
            </a:r>
          </a:p>
          <a:p>
            <a:endParaRPr lang="en-CN" dirty="0"/>
          </a:p>
          <a:p>
            <a:r>
              <a:rPr lang="en-CN" dirty="0"/>
              <a:t>[note]</a:t>
            </a:r>
          </a:p>
          <a:p>
            <a:r>
              <a:rPr lang="en-CN" dirty="0"/>
              <a:t>slide 2n: (1 minute), reduce words</a:t>
            </a:r>
          </a:p>
          <a:p>
            <a:r>
              <a:rPr lang="en-CN" dirty="0"/>
              <a:t>memory channel</a:t>
            </a:r>
          </a:p>
          <a:p>
            <a:r>
              <a:rPr lang="en-CN" dirty="0"/>
              <a:t>core proprotyion area of the chip</a:t>
            </a:r>
          </a:p>
          <a:p>
            <a:r>
              <a:rPr lang="en-CN" dirty="0"/>
              <a:t>periherp of the chip</a:t>
            </a:r>
          </a:p>
          <a:p>
            <a:r>
              <a:rPr lang="en-CN" dirty="0"/>
              <a:t>DIMM size</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25</a:t>
            </a:fld>
            <a:endParaRPr lang="en-CN"/>
          </a:p>
        </p:txBody>
      </p:sp>
    </p:spTree>
    <p:extLst>
      <p:ext uri="{BB962C8B-B14F-4D97-AF65-F5344CB8AC3E}">
        <p14:creationId xmlns:p14="http://schemas.microsoft.com/office/powerpoint/2010/main" val="27141829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[question] generalize to other hardware solutions, go back to rebuttal </a:t>
            </a:r>
          </a:p>
          <a:p>
            <a:r>
              <a:rPr lang="en-CN" dirty="0"/>
              <a:t>[concise] summary, backup slides</a:t>
            </a:r>
          </a:p>
          <a:p>
            <a:r>
              <a:rPr lang="en-CN" dirty="0"/>
              <a:t>hardware tiering for Arm, direct-swpped caching</a:t>
            </a:r>
          </a:p>
          <a:p>
            <a:endParaRPr lang="en-CN" dirty="0"/>
          </a:p>
          <a:p>
            <a:r>
              <a:rPr lang="en-CN" dirty="0"/>
              <a:t>contribution: motivation experiment of Memstrata</a:t>
            </a:r>
          </a:p>
          <a:p>
            <a:endParaRPr lang="en-CN" dirty="0"/>
          </a:p>
          <a:p>
            <a:r>
              <a:rPr lang="en-CN" dirty="0"/>
              <a:t>[question] specific to Intel? work for HBM? </a:t>
            </a:r>
          </a:p>
          <a:p>
            <a:r>
              <a:rPr lang="en-CN" dirty="0"/>
              <a:t>[note] repharse</a:t>
            </a:r>
          </a:p>
          <a:p>
            <a:r>
              <a:rPr lang="en-CN" dirty="0"/>
              <a:t>[question] why higher core count, go to way to reduce total cost of ownership, assert</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26</a:t>
            </a:fld>
            <a:endParaRPr lang="en-CN"/>
          </a:p>
        </p:txBody>
      </p:sp>
    </p:spTree>
    <p:extLst>
      <p:ext uri="{BB962C8B-B14F-4D97-AF65-F5344CB8AC3E}">
        <p14:creationId xmlns:p14="http://schemas.microsoft.com/office/powerpoint/2010/main" val="9720321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6 VMs: hardware prototype (limited capacity)</a:t>
            </a:r>
          </a:p>
          <a:p>
            <a:r>
              <a:rPr lang="en-CN" dirty="0"/>
              <a:t> tighten up the last sentence</a:t>
            </a:r>
          </a:p>
          <a:p>
            <a:endParaRPr lang="en-CN" dirty="0"/>
          </a:p>
          <a:p>
            <a:r>
              <a:rPr lang="en-CN" dirty="0"/>
              <a:t>When one finish, start another with the same type</a:t>
            </a:r>
          </a:p>
          <a:p>
            <a:endParaRPr lang="en-CN" dirty="0"/>
          </a:p>
          <a:p>
            <a:r>
              <a:rPr lang="en-CN" dirty="0"/>
              <a:t>local memory setting</a:t>
            </a:r>
          </a:p>
        </p:txBody>
      </p:sp>
      <p:sp>
        <p:nvSpPr>
          <p:cNvPr id="4" name="Slide Number Placeholder 3"/>
          <p:cNvSpPr>
            <a:spLocks noGrp="1"/>
          </p:cNvSpPr>
          <p:nvPr>
            <p:ph type="sldNum" sz="quarter" idx="5"/>
          </p:nvPr>
        </p:nvSpPr>
        <p:spPr/>
        <p:txBody>
          <a:bodyPr/>
          <a:lstStyle/>
          <a:p>
            <a:fld id="{28A7D6FD-758D-2942-AFDA-BC81D8DDE17A}" type="slidenum">
              <a:rPr lang="en-CN" smtClean="0"/>
              <a:t>27</a:t>
            </a:fld>
            <a:endParaRPr lang="en-CN"/>
          </a:p>
        </p:txBody>
      </p:sp>
    </p:spTree>
    <p:extLst>
      <p:ext uri="{BB962C8B-B14F-4D97-AF65-F5344CB8AC3E}">
        <p14:creationId xmlns:p14="http://schemas.microsoft.com/office/powerpoint/2010/main" val="9186133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Not SW-HW </a:t>
            </a:r>
          </a:p>
          <a:p>
            <a:endParaRPr lang="en-CN" dirty="0"/>
          </a:p>
          <a:p>
            <a:r>
              <a:rPr lang="en-CN" dirty="0"/>
              <a:t>6 VM -&gt; so many workloads?? explain</a:t>
            </a:r>
          </a:p>
          <a:p>
            <a:endParaRPr lang="en-CN" dirty="0"/>
          </a:p>
          <a:p>
            <a:r>
              <a:rPr lang="en-CN" dirty="0"/>
              <a:t>Conclude that point:</a:t>
            </a:r>
          </a:p>
          <a:p>
            <a:r>
              <a:rPr lang="en-CN" dirty="0"/>
              <a:t>Issues with software,</a:t>
            </a:r>
          </a:p>
          <a:p>
            <a:r>
              <a:rPr lang="en-CN" dirty="0"/>
              <a:t> issue with hardware,</a:t>
            </a:r>
          </a:p>
          <a:p>
            <a:r>
              <a:rPr lang="en-CN" dirty="0"/>
              <a:t>combine software and hardware</a:t>
            </a:r>
          </a:p>
          <a:p>
            <a:endParaRPr lang="en-CN" dirty="0"/>
          </a:p>
          <a:p>
            <a:r>
              <a:rPr lang="en-CN" dirty="0"/>
              <a:t>one fig at a time</a:t>
            </a:r>
          </a:p>
          <a:p>
            <a:endParaRPr lang="en-CN" dirty="0"/>
          </a:p>
          <a:p>
            <a:r>
              <a:rPr lang="en-CN" dirty="0"/>
              <a:t>eval: target 2 minutes</a:t>
            </a:r>
          </a:p>
          <a:p>
            <a:endParaRPr lang="en-CN" dirty="0"/>
          </a:p>
          <a:p>
            <a:r>
              <a:rPr lang="en-CN" dirty="0"/>
              <a:t>animation: highlight insights</a:t>
            </a:r>
          </a:p>
        </p:txBody>
      </p:sp>
      <p:sp>
        <p:nvSpPr>
          <p:cNvPr id="4" name="Slide Number Placeholder 3"/>
          <p:cNvSpPr>
            <a:spLocks noGrp="1"/>
          </p:cNvSpPr>
          <p:nvPr>
            <p:ph type="sldNum" sz="quarter" idx="5"/>
          </p:nvPr>
        </p:nvSpPr>
        <p:spPr/>
        <p:txBody>
          <a:bodyPr/>
          <a:lstStyle/>
          <a:p>
            <a:fld id="{28A7D6FD-758D-2942-AFDA-BC81D8DDE17A}" type="slidenum">
              <a:rPr lang="en-CN" smtClean="0"/>
              <a:t>28</a:t>
            </a:fld>
            <a:endParaRPr lang="en-CN"/>
          </a:p>
        </p:txBody>
      </p:sp>
    </p:spTree>
    <p:extLst>
      <p:ext uri="{BB962C8B-B14F-4D97-AF65-F5344CB8AC3E}">
        <p14:creationId xmlns:p14="http://schemas.microsoft.com/office/powerpoint/2010/main" val="2965152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page exchange</a:t>
            </a:r>
          </a:p>
          <a:p>
            <a:endParaRPr lang="en-CN" dirty="0"/>
          </a:p>
          <a:p>
            <a:r>
              <a:rPr lang="en-CN" dirty="0"/>
              <a:t>improve page exchange animation</a:t>
            </a:r>
          </a:p>
          <a:p>
            <a:endParaRPr lang="en-CN" dirty="0"/>
          </a:p>
          <a:p>
            <a:r>
              <a:rPr lang="en-CN" dirty="0"/>
              <a:t>define sensitivity</a:t>
            </a:r>
          </a:p>
        </p:txBody>
      </p:sp>
      <p:sp>
        <p:nvSpPr>
          <p:cNvPr id="4" name="Slide Number Placeholder 3"/>
          <p:cNvSpPr>
            <a:spLocks noGrp="1"/>
          </p:cNvSpPr>
          <p:nvPr>
            <p:ph type="sldNum" sz="quarter" idx="5"/>
          </p:nvPr>
        </p:nvSpPr>
        <p:spPr/>
        <p:txBody>
          <a:bodyPr/>
          <a:lstStyle/>
          <a:p>
            <a:fld id="{28A7D6FD-758D-2942-AFDA-BC81D8DDE17A}" type="slidenum">
              <a:rPr lang="en-CN" smtClean="0"/>
              <a:t>29</a:t>
            </a:fld>
            <a:endParaRPr lang="en-CN"/>
          </a:p>
        </p:txBody>
      </p:sp>
    </p:spTree>
    <p:extLst>
      <p:ext uri="{BB962C8B-B14F-4D97-AF65-F5344CB8AC3E}">
        <p14:creationId xmlns:p14="http://schemas.microsoft.com/office/powerpoint/2010/main" val="31105403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Make the visual better</a:t>
            </a:r>
          </a:p>
          <a:p>
            <a:endParaRPr lang="en-CN"/>
          </a:p>
          <a:p>
            <a:r>
              <a:rPr lang="en-CN"/>
              <a:t>shorten eval, cut</a:t>
            </a:r>
          </a:p>
          <a:p>
            <a:endParaRPr lang="en-CN"/>
          </a:p>
          <a:p>
            <a:r>
              <a:rPr lang="en-CN"/>
              <a:t>Syncetic -&gt; scientific cmpute</a:t>
            </a:r>
          </a:p>
          <a:p>
            <a:endParaRPr lang="en-CN"/>
          </a:p>
          <a:p>
            <a:r>
              <a:rPr lang="en-CN"/>
              <a:t>Evaluate 115 Popular Cloud Workloads</a:t>
            </a:r>
          </a:p>
          <a:p>
            <a:endParaRPr lang="en-CN"/>
          </a:p>
          <a:p>
            <a:r>
              <a:rPr lang="en-CN"/>
              <a:t>lambda/serverless vs. monolithic</a:t>
            </a:r>
          </a:p>
          <a:p>
            <a:endParaRPr lang="en-CN"/>
          </a:p>
        </p:txBody>
      </p:sp>
      <p:sp>
        <p:nvSpPr>
          <p:cNvPr id="4" name="Slide Number Placeholder 3"/>
          <p:cNvSpPr>
            <a:spLocks noGrp="1"/>
          </p:cNvSpPr>
          <p:nvPr>
            <p:ph type="sldNum" sz="quarter" idx="5"/>
          </p:nvPr>
        </p:nvSpPr>
        <p:spPr/>
        <p:txBody>
          <a:bodyPr/>
          <a:lstStyle/>
          <a:p>
            <a:fld id="{28A7D6FD-758D-2942-AFDA-BC81D8DDE17A}" type="slidenum">
              <a:rPr lang="en-CN" smtClean="0"/>
              <a:t>30</a:t>
            </a:fld>
            <a:endParaRPr lang="en-CN"/>
          </a:p>
        </p:txBody>
      </p:sp>
    </p:spTree>
    <p:extLst>
      <p:ext uri="{BB962C8B-B14F-4D97-AF65-F5344CB8AC3E}">
        <p14:creationId xmlns:p14="http://schemas.microsoft.com/office/powerpoint/2010/main" val="20926655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a:p>
        </p:txBody>
      </p:sp>
      <p:sp>
        <p:nvSpPr>
          <p:cNvPr id="4" name="Slide Number Placeholder 3"/>
          <p:cNvSpPr>
            <a:spLocks noGrp="1"/>
          </p:cNvSpPr>
          <p:nvPr>
            <p:ph type="sldNum" sz="quarter" idx="5"/>
          </p:nvPr>
        </p:nvSpPr>
        <p:spPr/>
        <p:txBody>
          <a:bodyPr/>
          <a:lstStyle/>
          <a:p>
            <a:fld id="{28A7D6FD-758D-2942-AFDA-BC81D8DDE17A}" type="slidenum">
              <a:rPr lang="en-CN" smtClean="0"/>
              <a:t>31</a:t>
            </a:fld>
            <a:endParaRPr lang="en-CN"/>
          </a:p>
        </p:txBody>
      </p:sp>
    </p:spTree>
    <p:extLst>
      <p:ext uri="{BB962C8B-B14F-4D97-AF65-F5344CB8AC3E}">
        <p14:creationId xmlns:p14="http://schemas.microsoft.com/office/powerpoint/2010/main" val="6868624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add TPP here</a:t>
            </a:r>
          </a:p>
          <a:p>
            <a:endParaRPr lang="en-CN" dirty="0"/>
          </a:p>
          <a:p>
            <a:r>
              <a:rPr lang="en-CN" dirty="0"/>
              <a:t>[question] security concern</a:t>
            </a:r>
          </a:p>
          <a:p>
            <a:r>
              <a:rPr lang="en-CN" dirty="0"/>
              <a:t>[question] gaming: VMs try to get more local memory, oversubscription for power -&gt; game the system</a:t>
            </a:r>
          </a:p>
          <a:p>
            <a:endParaRPr lang="en-CN" dirty="0"/>
          </a:p>
          <a:p>
            <a:r>
              <a:rPr lang="en-CN" dirty="0"/>
              <a:t>[note] transition here at here</a:t>
            </a:r>
          </a:p>
          <a:p>
            <a:endParaRPr lang="en-CN" dirty="0"/>
          </a:p>
        </p:txBody>
      </p:sp>
      <p:sp>
        <p:nvSpPr>
          <p:cNvPr id="4" name="Slide Number Placeholder 3"/>
          <p:cNvSpPr>
            <a:spLocks noGrp="1"/>
          </p:cNvSpPr>
          <p:nvPr>
            <p:ph type="sldNum" sz="quarter" idx="5"/>
          </p:nvPr>
        </p:nvSpPr>
        <p:spPr/>
        <p:txBody>
          <a:bodyPr/>
          <a:lstStyle/>
          <a:p>
            <a:fld id="{28A7D6FD-758D-2942-AFDA-BC81D8DDE17A}" type="slidenum">
              <a:rPr lang="en-CN" smtClean="0"/>
              <a:t>32</a:t>
            </a:fld>
            <a:endParaRPr lang="en-CN"/>
          </a:p>
        </p:txBody>
      </p:sp>
    </p:spTree>
    <p:extLst>
      <p:ext uri="{BB962C8B-B14F-4D97-AF65-F5344CB8AC3E}">
        <p14:creationId xmlns:p14="http://schemas.microsoft.com/office/powerpoint/2010/main" val="41149757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TPP: Meta</a:t>
            </a:r>
          </a:p>
          <a:p>
            <a:r>
              <a:rPr lang="en-CN"/>
              <a:t>too much text</a:t>
            </a:r>
          </a:p>
          <a:p>
            <a:endParaRPr lang="en-CN"/>
          </a:p>
          <a:p>
            <a:r>
              <a:rPr lang="en-CN"/>
              <a:t>Move it earlier </a:t>
            </a:r>
          </a:p>
        </p:txBody>
      </p:sp>
      <p:sp>
        <p:nvSpPr>
          <p:cNvPr id="4" name="Slide Number Placeholder 3"/>
          <p:cNvSpPr>
            <a:spLocks noGrp="1"/>
          </p:cNvSpPr>
          <p:nvPr>
            <p:ph type="sldNum" sz="quarter" idx="5"/>
          </p:nvPr>
        </p:nvSpPr>
        <p:spPr/>
        <p:txBody>
          <a:bodyPr/>
          <a:lstStyle/>
          <a:p>
            <a:fld id="{28A7D6FD-758D-2942-AFDA-BC81D8DDE17A}" type="slidenum">
              <a:rPr lang="en-CN" smtClean="0"/>
              <a:t>33</a:t>
            </a:fld>
            <a:endParaRPr lang="en-CN"/>
          </a:p>
        </p:txBody>
      </p:sp>
    </p:spTree>
    <p:extLst>
      <p:ext uri="{BB962C8B-B14F-4D97-AF65-F5344CB8AC3E}">
        <p14:creationId xmlns:p14="http://schemas.microsoft.com/office/powerpoint/2010/main" val="22311606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a:t>[take questions]</a:t>
            </a:r>
          </a:p>
          <a:p>
            <a:endParaRPr lang="en-CN"/>
          </a:p>
          <a:p>
            <a:r>
              <a:rPr lang="en-CN"/>
              <a:t>illustrate how Memstrata works</a:t>
            </a:r>
          </a:p>
        </p:txBody>
      </p:sp>
      <p:sp>
        <p:nvSpPr>
          <p:cNvPr id="4" name="Slide Number Placeholder 3"/>
          <p:cNvSpPr>
            <a:spLocks noGrp="1"/>
          </p:cNvSpPr>
          <p:nvPr>
            <p:ph type="sldNum" sz="quarter" idx="5"/>
          </p:nvPr>
        </p:nvSpPr>
        <p:spPr/>
        <p:txBody>
          <a:bodyPr/>
          <a:lstStyle/>
          <a:p>
            <a:fld id="{26D95BED-3AC8-4161-92A8-BDD2B069934B}" type="slidenum">
              <a:rPr lang="en-US" smtClean="0"/>
              <a:t>34</a:t>
            </a:fld>
            <a:endParaRPr lang="en-US"/>
          </a:p>
        </p:txBody>
      </p:sp>
    </p:spTree>
    <p:extLst>
      <p:ext uri="{BB962C8B-B14F-4D97-AF65-F5344CB8AC3E}">
        <p14:creationId xmlns:p14="http://schemas.microsoft.com/office/powerpoint/2010/main" val="6215329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evaluate this case, not that interesting</a:t>
            </a:r>
          </a:p>
        </p:txBody>
      </p:sp>
      <p:sp>
        <p:nvSpPr>
          <p:cNvPr id="4" name="Slide Number Placeholder 3"/>
          <p:cNvSpPr>
            <a:spLocks noGrp="1"/>
          </p:cNvSpPr>
          <p:nvPr>
            <p:ph type="sldNum" sz="quarter" idx="5"/>
          </p:nvPr>
        </p:nvSpPr>
        <p:spPr/>
        <p:txBody>
          <a:bodyPr/>
          <a:lstStyle/>
          <a:p>
            <a:fld id="{26D95BED-3AC8-4161-92A8-BDD2B069934B}" type="slidenum">
              <a:rPr lang="en-US" smtClean="0"/>
              <a:t>35</a:t>
            </a:fld>
            <a:endParaRPr lang="en-US"/>
          </a:p>
        </p:txBody>
      </p:sp>
    </p:spTree>
    <p:extLst>
      <p:ext uri="{BB962C8B-B14F-4D97-AF65-F5344CB8AC3E}">
        <p14:creationId xmlns:p14="http://schemas.microsoft.com/office/powerpoint/2010/main" val="1179386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7B2E3-F2EF-E955-5868-527E35B52F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3907C596-783A-414A-4D73-09DBAB4AFD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E3322F90-0587-48F9-DC06-957FBB324BE1}"/>
              </a:ext>
            </a:extLst>
          </p:cNvPr>
          <p:cNvSpPr>
            <a:spLocks noGrp="1"/>
          </p:cNvSpPr>
          <p:nvPr>
            <p:ph type="dt" sz="half" idx="10"/>
          </p:nvPr>
        </p:nvSpPr>
        <p:spPr/>
        <p:txBody>
          <a:bodyPr/>
          <a:lstStyle/>
          <a:p>
            <a:fld id="{17A32117-4014-BE4F-8A27-2F754E0E2BCA}" type="datetime1">
              <a:rPr lang="en-US" smtClean="0"/>
              <a:t>7/10/24</a:t>
            </a:fld>
            <a:endParaRPr lang="en-CN"/>
          </a:p>
        </p:txBody>
      </p:sp>
      <p:sp>
        <p:nvSpPr>
          <p:cNvPr id="5" name="Footer Placeholder 4">
            <a:extLst>
              <a:ext uri="{FF2B5EF4-FFF2-40B4-BE49-F238E27FC236}">
                <a16:creationId xmlns:a16="http://schemas.microsoft.com/office/drawing/2014/main" id="{79112E66-3590-5FE9-C49F-9845DE73C18C}"/>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6" name="Slide Number Placeholder 5">
            <a:extLst>
              <a:ext uri="{FF2B5EF4-FFF2-40B4-BE49-F238E27FC236}">
                <a16:creationId xmlns:a16="http://schemas.microsoft.com/office/drawing/2014/main" id="{D428998B-EFA3-E63B-E5EC-C03C284F80AC}"/>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729449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15848-B563-A685-FDDF-A0553AC07D25}"/>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CD3CF429-8E8C-9E51-38A4-A3B6B5BD5D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BD10E3F9-0298-8325-C29B-9B1F178A7F6B}"/>
              </a:ext>
            </a:extLst>
          </p:cNvPr>
          <p:cNvSpPr>
            <a:spLocks noGrp="1"/>
          </p:cNvSpPr>
          <p:nvPr>
            <p:ph type="dt" sz="half" idx="10"/>
          </p:nvPr>
        </p:nvSpPr>
        <p:spPr/>
        <p:txBody>
          <a:bodyPr/>
          <a:lstStyle/>
          <a:p>
            <a:fld id="{45F31676-4C72-694E-A53A-CAAF5AA97D1F}" type="datetime1">
              <a:rPr lang="en-US" smtClean="0"/>
              <a:t>7/10/24</a:t>
            </a:fld>
            <a:endParaRPr lang="en-CN"/>
          </a:p>
        </p:txBody>
      </p:sp>
      <p:sp>
        <p:nvSpPr>
          <p:cNvPr id="5" name="Footer Placeholder 4">
            <a:extLst>
              <a:ext uri="{FF2B5EF4-FFF2-40B4-BE49-F238E27FC236}">
                <a16:creationId xmlns:a16="http://schemas.microsoft.com/office/drawing/2014/main" id="{A409B613-8CBA-BC52-49B0-43FC5897FB8F}"/>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6" name="Slide Number Placeholder 5">
            <a:extLst>
              <a:ext uri="{FF2B5EF4-FFF2-40B4-BE49-F238E27FC236}">
                <a16:creationId xmlns:a16="http://schemas.microsoft.com/office/drawing/2014/main" id="{258D47E0-6A66-04F4-30DB-47276D50FCA0}"/>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2119783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14294-0C9C-3B54-B0F7-379E05F082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FD3EEE3A-0296-7800-C2A9-4799A96E65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7BDB59-4330-3283-3300-F85E081D68CB}"/>
              </a:ext>
            </a:extLst>
          </p:cNvPr>
          <p:cNvSpPr>
            <a:spLocks noGrp="1"/>
          </p:cNvSpPr>
          <p:nvPr>
            <p:ph type="dt" sz="half" idx="10"/>
          </p:nvPr>
        </p:nvSpPr>
        <p:spPr/>
        <p:txBody>
          <a:bodyPr/>
          <a:lstStyle/>
          <a:p>
            <a:fld id="{68CE03C7-B581-4B4D-B8C3-0CAC9F4BE4C7}" type="datetime1">
              <a:rPr lang="en-US" smtClean="0"/>
              <a:t>7/10/24</a:t>
            </a:fld>
            <a:endParaRPr lang="en-CN"/>
          </a:p>
        </p:txBody>
      </p:sp>
      <p:sp>
        <p:nvSpPr>
          <p:cNvPr id="5" name="Footer Placeholder 4">
            <a:extLst>
              <a:ext uri="{FF2B5EF4-FFF2-40B4-BE49-F238E27FC236}">
                <a16:creationId xmlns:a16="http://schemas.microsoft.com/office/drawing/2014/main" id="{14E102B5-137E-0A53-4D72-A52A7596DA48}"/>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6" name="Slide Number Placeholder 5">
            <a:extLst>
              <a:ext uri="{FF2B5EF4-FFF2-40B4-BE49-F238E27FC236}">
                <a16:creationId xmlns:a16="http://schemas.microsoft.com/office/drawing/2014/main" id="{EFB20D32-49B0-7108-DDF7-D9C43FAF83A1}"/>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3483697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933A8-5112-F30C-2C9C-F55D2081FCE2}"/>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0EFB476-EC46-A431-A6FA-196D4B227E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7494AE41-FA16-6C5A-601C-5B47A08857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EB024E03-D8A6-97D4-D291-0E4BBC65BE18}"/>
              </a:ext>
            </a:extLst>
          </p:cNvPr>
          <p:cNvSpPr>
            <a:spLocks noGrp="1"/>
          </p:cNvSpPr>
          <p:nvPr>
            <p:ph type="dt" sz="half" idx="10"/>
          </p:nvPr>
        </p:nvSpPr>
        <p:spPr/>
        <p:txBody>
          <a:bodyPr/>
          <a:lstStyle/>
          <a:p>
            <a:fld id="{FFC424E4-BF0A-8848-AF98-5425CFC94F1E}" type="datetime1">
              <a:rPr lang="en-US" smtClean="0"/>
              <a:t>7/10/24</a:t>
            </a:fld>
            <a:endParaRPr lang="en-CN"/>
          </a:p>
        </p:txBody>
      </p:sp>
      <p:sp>
        <p:nvSpPr>
          <p:cNvPr id="6" name="Footer Placeholder 5">
            <a:extLst>
              <a:ext uri="{FF2B5EF4-FFF2-40B4-BE49-F238E27FC236}">
                <a16:creationId xmlns:a16="http://schemas.microsoft.com/office/drawing/2014/main" id="{1BF6CF94-A66D-BD5F-BB56-232EA54966F4}"/>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7" name="Slide Number Placeholder 6">
            <a:extLst>
              <a:ext uri="{FF2B5EF4-FFF2-40B4-BE49-F238E27FC236}">
                <a16:creationId xmlns:a16="http://schemas.microsoft.com/office/drawing/2014/main" id="{959F95A8-D556-9CF5-DD15-87C9C5DE5C59}"/>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2619742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8A165-5456-6360-DE1C-95DD78B59687}"/>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19B7E31E-2D07-8A09-608D-EF831F05EF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50A580-DF65-C880-EB9A-BC3E538DA1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6E1836BF-B8ED-9F26-0280-F991224EFB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B70321-3B8A-C22E-0D2A-7E99964721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F68C62BC-27C2-238B-157D-8EBDDB775CFB}"/>
              </a:ext>
            </a:extLst>
          </p:cNvPr>
          <p:cNvSpPr>
            <a:spLocks noGrp="1"/>
          </p:cNvSpPr>
          <p:nvPr>
            <p:ph type="dt" sz="half" idx="10"/>
          </p:nvPr>
        </p:nvSpPr>
        <p:spPr/>
        <p:txBody>
          <a:bodyPr/>
          <a:lstStyle/>
          <a:p>
            <a:fld id="{B64B8470-AADA-E640-972C-4FB45D5EAD3E}" type="datetime1">
              <a:rPr lang="en-US" smtClean="0"/>
              <a:t>7/10/24</a:t>
            </a:fld>
            <a:endParaRPr lang="en-CN"/>
          </a:p>
        </p:txBody>
      </p:sp>
      <p:sp>
        <p:nvSpPr>
          <p:cNvPr id="8" name="Footer Placeholder 7">
            <a:extLst>
              <a:ext uri="{FF2B5EF4-FFF2-40B4-BE49-F238E27FC236}">
                <a16:creationId xmlns:a16="http://schemas.microsoft.com/office/drawing/2014/main" id="{515D2271-4202-0305-8EDA-6B27C939053B}"/>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9" name="Slide Number Placeholder 8">
            <a:extLst>
              <a:ext uri="{FF2B5EF4-FFF2-40B4-BE49-F238E27FC236}">
                <a16:creationId xmlns:a16="http://schemas.microsoft.com/office/drawing/2014/main" id="{A882208A-CC7F-7ECB-A009-D7D19AC2A272}"/>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181400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7105-BF04-2B56-998A-90AA3B92A63E}"/>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317D03D-B23C-1F17-DB45-770F21F52E51}"/>
              </a:ext>
            </a:extLst>
          </p:cNvPr>
          <p:cNvSpPr>
            <a:spLocks noGrp="1"/>
          </p:cNvSpPr>
          <p:nvPr>
            <p:ph type="dt" sz="half" idx="10"/>
          </p:nvPr>
        </p:nvSpPr>
        <p:spPr/>
        <p:txBody>
          <a:bodyPr/>
          <a:lstStyle/>
          <a:p>
            <a:fld id="{7524547D-05FB-504E-A89F-E1855A58DAFE}" type="datetime1">
              <a:rPr lang="en-US" smtClean="0"/>
              <a:t>7/10/24</a:t>
            </a:fld>
            <a:endParaRPr lang="en-CN"/>
          </a:p>
        </p:txBody>
      </p:sp>
      <p:sp>
        <p:nvSpPr>
          <p:cNvPr id="4" name="Footer Placeholder 3">
            <a:extLst>
              <a:ext uri="{FF2B5EF4-FFF2-40B4-BE49-F238E27FC236}">
                <a16:creationId xmlns:a16="http://schemas.microsoft.com/office/drawing/2014/main" id="{57B9A343-BA30-F446-FC21-3D4D5E0FB072}"/>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5" name="Slide Number Placeholder 4">
            <a:extLst>
              <a:ext uri="{FF2B5EF4-FFF2-40B4-BE49-F238E27FC236}">
                <a16:creationId xmlns:a16="http://schemas.microsoft.com/office/drawing/2014/main" id="{2F2EAF24-06A2-324A-9A16-65E5CA41015D}"/>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32219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B6601D-ED76-9C26-8B79-79649F19805A}"/>
              </a:ext>
            </a:extLst>
          </p:cNvPr>
          <p:cNvSpPr>
            <a:spLocks noGrp="1"/>
          </p:cNvSpPr>
          <p:nvPr>
            <p:ph type="dt" sz="half" idx="10"/>
          </p:nvPr>
        </p:nvSpPr>
        <p:spPr/>
        <p:txBody>
          <a:bodyPr/>
          <a:lstStyle/>
          <a:p>
            <a:fld id="{1B03AE08-D0CB-6541-B3B8-8847A3CE6150}" type="datetime1">
              <a:rPr lang="en-US" smtClean="0"/>
              <a:t>7/10/24</a:t>
            </a:fld>
            <a:endParaRPr lang="en-CN"/>
          </a:p>
        </p:txBody>
      </p:sp>
      <p:sp>
        <p:nvSpPr>
          <p:cNvPr id="3" name="Footer Placeholder 2">
            <a:extLst>
              <a:ext uri="{FF2B5EF4-FFF2-40B4-BE49-F238E27FC236}">
                <a16:creationId xmlns:a16="http://schemas.microsoft.com/office/drawing/2014/main" id="{9B328856-7F4B-A415-CE55-F775EBFF4DA7}"/>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4" name="Slide Number Placeholder 3">
            <a:extLst>
              <a:ext uri="{FF2B5EF4-FFF2-40B4-BE49-F238E27FC236}">
                <a16:creationId xmlns:a16="http://schemas.microsoft.com/office/drawing/2014/main" id="{C7FFB604-8148-7CD9-1A8F-71ACA487903E}"/>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1181550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F9A50-6DAF-BB60-AAF5-AA93A25229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3F747350-D7B4-A16E-1EA7-3004687786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0D74D7E6-D900-377A-A12A-AF8B16B167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0E2C87-150E-97A0-F056-B5D8D1369C8C}"/>
              </a:ext>
            </a:extLst>
          </p:cNvPr>
          <p:cNvSpPr>
            <a:spLocks noGrp="1"/>
          </p:cNvSpPr>
          <p:nvPr>
            <p:ph type="dt" sz="half" idx="10"/>
          </p:nvPr>
        </p:nvSpPr>
        <p:spPr/>
        <p:txBody>
          <a:bodyPr/>
          <a:lstStyle/>
          <a:p>
            <a:fld id="{34B4D04D-AE2E-8E41-9030-EFF42DD24EDD}" type="datetime1">
              <a:rPr lang="en-US" smtClean="0"/>
              <a:t>7/10/24</a:t>
            </a:fld>
            <a:endParaRPr lang="en-CN"/>
          </a:p>
        </p:txBody>
      </p:sp>
      <p:sp>
        <p:nvSpPr>
          <p:cNvPr id="6" name="Footer Placeholder 5">
            <a:extLst>
              <a:ext uri="{FF2B5EF4-FFF2-40B4-BE49-F238E27FC236}">
                <a16:creationId xmlns:a16="http://schemas.microsoft.com/office/drawing/2014/main" id="{BF92C208-1BC8-6759-D655-0007D5A270A3}"/>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7" name="Slide Number Placeholder 6">
            <a:extLst>
              <a:ext uri="{FF2B5EF4-FFF2-40B4-BE49-F238E27FC236}">
                <a16:creationId xmlns:a16="http://schemas.microsoft.com/office/drawing/2014/main" id="{74362B30-6C14-1D80-46BF-8445EBBB046A}"/>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2496118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5C2EB-8528-81AB-81F5-ACD0444C60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E8BCDA5D-B895-CC0B-A1D8-F97260D062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8041BAD2-ADEC-97CC-F277-D52B86789F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466051-C6B0-D107-A26B-340D1CBBA16E}"/>
              </a:ext>
            </a:extLst>
          </p:cNvPr>
          <p:cNvSpPr>
            <a:spLocks noGrp="1"/>
          </p:cNvSpPr>
          <p:nvPr>
            <p:ph type="dt" sz="half" idx="10"/>
          </p:nvPr>
        </p:nvSpPr>
        <p:spPr/>
        <p:txBody>
          <a:bodyPr/>
          <a:lstStyle/>
          <a:p>
            <a:fld id="{3D52A326-BB80-7843-824E-50C38FD70324}" type="datetime1">
              <a:rPr lang="en-US" smtClean="0"/>
              <a:t>7/10/24</a:t>
            </a:fld>
            <a:endParaRPr lang="en-CN"/>
          </a:p>
        </p:txBody>
      </p:sp>
      <p:sp>
        <p:nvSpPr>
          <p:cNvPr id="6" name="Footer Placeholder 5">
            <a:extLst>
              <a:ext uri="{FF2B5EF4-FFF2-40B4-BE49-F238E27FC236}">
                <a16:creationId xmlns:a16="http://schemas.microsoft.com/office/drawing/2014/main" id="{1BA833EB-0E7D-152F-28BF-09DAD64CACC3}"/>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7" name="Slide Number Placeholder 6">
            <a:extLst>
              <a:ext uri="{FF2B5EF4-FFF2-40B4-BE49-F238E27FC236}">
                <a16:creationId xmlns:a16="http://schemas.microsoft.com/office/drawing/2014/main" id="{BEF7FE7B-67C5-3F72-F0BA-4DE15CB3B2E8}"/>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1960277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DD055-71B7-6A41-9D24-D7BBC4412B7A}"/>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A9DECC23-E048-F053-D3B5-A78D4394DD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5030F4FA-AB5B-0731-28D3-90178362E68C}"/>
              </a:ext>
            </a:extLst>
          </p:cNvPr>
          <p:cNvSpPr>
            <a:spLocks noGrp="1"/>
          </p:cNvSpPr>
          <p:nvPr>
            <p:ph type="dt" sz="half" idx="10"/>
          </p:nvPr>
        </p:nvSpPr>
        <p:spPr/>
        <p:txBody>
          <a:bodyPr/>
          <a:lstStyle/>
          <a:p>
            <a:fld id="{24F2416A-E054-E749-AB39-4F05E9C7B206}" type="datetime1">
              <a:rPr lang="en-US" smtClean="0"/>
              <a:t>7/10/24</a:t>
            </a:fld>
            <a:endParaRPr lang="en-CN"/>
          </a:p>
        </p:txBody>
      </p:sp>
      <p:sp>
        <p:nvSpPr>
          <p:cNvPr id="5" name="Footer Placeholder 4">
            <a:extLst>
              <a:ext uri="{FF2B5EF4-FFF2-40B4-BE49-F238E27FC236}">
                <a16:creationId xmlns:a16="http://schemas.microsoft.com/office/drawing/2014/main" id="{B0CACAD9-2CC3-E04D-5100-36C52EC9AE50}"/>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6" name="Slide Number Placeholder 5">
            <a:extLst>
              <a:ext uri="{FF2B5EF4-FFF2-40B4-BE49-F238E27FC236}">
                <a16:creationId xmlns:a16="http://schemas.microsoft.com/office/drawing/2014/main" id="{5514FB08-38A3-D87B-B448-DDBFF68BEDC1}"/>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537488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41CC33-E1E9-C822-D8E9-AEF3AEE3B1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0980C3C8-8D9E-369C-5E1B-E43DD8E2E5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6FEF1745-27A4-3947-857B-C66AE6F2C96E}"/>
              </a:ext>
            </a:extLst>
          </p:cNvPr>
          <p:cNvSpPr>
            <a:spLocks noGrp="1"/>
          </p:cNvSpPr>
          <p:nvPr>
            <p:ph type="dt" sz="half" idx="10"/>
          </p:nvPr>
        </p:nvSpPr>
        <p:spPr/>
        <p:txBody>
          <a:bodyPr/>
          <a:lstStyle/>
          <a:p>
            <a:fld id="{AC4FC0F3-3796-184C-9195-3332DB4523A0}" type="datetime1">
              <a:rPr lang="en-US" smtClean="0"/>
              <a:t>7/10/24</a:t>
            </a:fld>
            <a:endParaRPr lang="en-CN"/>
          </a:p>
        </p:txBody>
      </p:sp>
      <p:sp>
        <p:nvSpPr>
          <p:cNvPr id="5" name="Footer Placeholder 4">
            <a:extLst>
              <a:ext uri="{FF2B5EF4-FFF2-40B4-BE49-F238E27FC236}">
                <a16:creationId xmlns:a16="http://schemas.microsoft.com/office/drawing/2014/main" id="{EECD2496-9686-C7FA-FE2E-9A0DB4EA245D}"/>
              </a:ext>
            </a:extLst>
          </p:cNvPr>
          <p:cNvSpPr>
            <a:spLocks noGrp="1"/>
          </p:cNvSpPr>
          <p:nvPr>
            <p:ph type="ftr" sz="quarter" idx="11"/>
          </p:nvPr>
        </p:nvSpPr>
        <p:spPr>
          <a:xfrm>
            <a:off x="4038600" y="6356350"/>
            <a:ext cx="4114800" cy="365125"/>
          </a:xfrm>
          <a:prstGeom prst="rect">
            <a:avLst/>
          </a:prstGeom>
        </p:spPr>
        <p:txBody>
          <a:bodyPr/>
          <a:lstStyle/>
          <a:p>
            <a:endParaRPr lang="en-CN"/>
          </a:p>
        </p:txBody>
      </p:sp>
      <p:sp>
        <p:nvSpPr>
          <p:cNvPr id="6" name="Slide Number Placeholder 5">
            <a:extLst>
              <a:ext uri="{FF2B5EF4-FFF2-40B4-BE49-F238E27FC236}">
                <a16:creationId xmlns:a16="http://schemas.microsoft.com/office/drawing/2014/main" id="{1AB175B0-62C8-BF8C-966A-28C113B49E71}"/>
              </a:ext>
            </a:extLst>
          </p:cNvPr>
          <p:cNvSpPr>
            <a:spLocks noGrp="1"/>
          </p:cNvSpPr>
          <p:nvPr>
            <p:ph type="sldNum" sz="quarter" idx="12"/>
          </p:nvPr>
        </p:nvSpPr>
        <p:spPr/>
        <p:txBody>
          <a:bodyPr/>
          <a:lstStyle/>
          <a:p>
            <a:fld id="{5D76F006-5496-B946-A476-FEDACCAB686D}" type="slidenum">
              <a:rPr lang="en-CN" smtClean="0"/>
              <a:t>‹#›</a:t>
            </a:fld>
            <a:endParaRPr lang="en-CN"/>
          </a:p>
        </p:txBody>
      </p:sp>
    </p:spTree>
    <p:extLst>
      <p:ext uri="{BB962C8B-B14F-4D97-AF65-F5344CB8AC3E}">
        <p14:creationId xmlns:p14="http://schemas.microsoft.com/office/powerpoint/2010/main" val="808204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C18971-C10D-6C20-29F6-DDC0CBB9D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58284A72-9655-9C3A-6DB0-7FA4361F15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2710CE9B-DB2D-F9C2-4B27-5816D88661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158C5B-A22F-5448-B088-F6911CF5DC49}" type="datetime1">
              <a:rPr lang="en-US" smtClean="0"/>
              <a:t>7/10/24</a:t>
            </a:fld>
            <a:endParaRPr lang="en-CN"/>
          </a:p>
        </p:txBody>
      </p:sp>
      <p:sp>
        <p:nvSpPr>
          <p:cNvPr id="6" name="Slide Number Placeholder 5">
            <a:extLst>
              <a:ext uri="{FF2B5EF4-FFF2-40B4-BE49-F238E27FC236}">
                <a16:creationId xmlns:a16="http://schemas.microsoft.com/office/drawing/2014/main" id="{9BD8A32F-E499-E7E4-DA36-EE30D6DE3C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76F006-5496-B946-A476-FEDACCAB686D}" type="slidenum">
              <a:rPr lang="en-CN" smtClean="0"/>
              <a:t>‹#›</a:t>
            </a:fld>
            <a:endParaRPr lang="en-CN"/>
          </a:p>
        </p:txBody>
      </p:sp>
      <p:sp>
        <p:nvSpPr>
          <p:cNvPr id="8" name="Footer Placeholder 7">
            <a:extLst>
              <a:ext uri="{FF2B5EF4-FFF2-40B4-BE49-F238E27FC236}">
                <a16:creationId xmlns:a16="http://schemas.microsoft.com/office/drawing/2014/main" id="{631F6D24-6710-6D6A-F45A-07BFDEF1E1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N"/>
          </a:p>
        </p:txBody>
      </p:sp>
    </p:spTree>
    <p:extLst>
      <p:ext uri="{BB962C8B-B14F-4D97-AF65-F5344CB8AC3E}">
        <p14:creationId xmlns:p14="http://schemas.microsoft.com/office/powerpoint/2010/main" val="838411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hart" Target="../charts/chart1.xml"/><Relationship Id="rId7"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26.xml.rels><?xml version="1.0" encoding="UTF-8" standalone="yes"?>
<Relationships xmlns="http://schemas.openxmlformats.org/package/2006/relationships"><Relationship Id="rId3" Type="http://schemas.openxmlformats.org/officeDocument/2006/relationships/hyperlink" Target="mailto:yz@cs.columbia.edu"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62D8-0BB5-F3FB-9A4C-670B9F5F9FF3}"/>
              </a:ext>
            </a:extLst>
          </p:cNvPr>
          <p:cNvSpPr>
            <a:spLocks noGrp="1"/>
          </p:cNvSpPr>
          <p:nvPr>
            <p:ph type="ctrTitle"/>
          </p:nvPr>
        </p:nvSpPr>
        <p:spPr>
          <a:xfrm>
            <a:off x="1299377" y="664515"/>
            <a:ext cx="9593245" cy="2387600"/>
          </a:xfrm>
        </p:spPr>
        <p:txBody>
          <a:bodyPr>
            <a:normAutofit fontScale="90000"/>
          </a:bodyPr>
          <a:lstStyle/>
          <a:p>
            <a:r>
              <a:rPr lang="en-US" dirty="0"/>
              <a:t>Managing Memory Tiers with CXL in Virtualized Environments</a:t>
            </a:r>
            <a:endParaRPr lang="en-CN" dirty="0"/>
          </a:p>
        </p:txBody>
      </p:sp>
      <p:sp>
        <p:nvSpPr>
          <p:cNvPr id="3" name="Subtitle 2">
            <a:extLst>
              <a:ext uri="{FF2B5EF4-FFF2-40B4-BE49-F238E27FC236}">
                <a16:creationId xmlns:a16="http://schemas.microsoft.com/office/drawing/2014/main" id="{B3124427-221C-87A5-75DB-E21E6DD4DE70}"/>
              </a:ext>
            </a:extLst>
          </p:cNvPr>
          <p:cNvSpPr>
            <a:spLocks noGrp="1"/>
          </p:cNvSpPr>
          <p:nvPr>
            <p:ph type="subTitle" idx="1"/>
          </p:nvPr>
        </p:nvSpPr>
        <p:spPr>
          <a:xfrm>
            <a:off x="569450" y="3824229"/>
            <a:ext cx="10933455" cy="1655762"/>
          </a:xfrm>
        </p:spPr>
        <p:txBody>
          <a:bodyPr>
            <a:normAutofit/>
          </a:bodyPr>
          <a:lstStyle/>
          <a:p>
            <a:r>
              <a:rPr lang="en-CN" b="1" dirty="0"/>
              <a:t>Yuhong Zhong</a:t>
            </a:r>
            <a:r>
              <a:rPr lang="en-CN" dirty="0"/>
              <a:t>                 Daniel S. Berger                Carl Waldspurger*       Ryan Wee</a:t>
            </a:r>
          </a:p>
          <a:p>
            <a:r>
              <a:rPr lang="en-US" b="0" i="0" dirty="0">
                <a:solidFill>
                  <a:srgbClr val="333333"/>
                </a:solidFill>
                <a:effectLst/>
              </a:rPr>
              <a:t>Ishwar Agarwal         Rajat Agarwal         Frank Hady         Karthik Kumar</a:t>
            </a:r>
          </a:p>
          <a:p>
            <a:r>
              <a:rPr lang="en-US" b="0" i="0" dirty="0">
                <a:solidFill>
                  <a:srgbClr val="333333"/>
                </a:solidFill>
                <a:effectLst/>
              </a:rPr>
              <a:t>Mark D. Hill</a:t>
            </a:r>
            <a:r>
              <a:rPr lang="en-US" dirty="0">
                <a:solidFill>
                  <a:srgbClr val="333333"/>
                </a:solidFill>
              </a:rPr>
              <a:t>            </a:t>
            </a:r>
            <a:r>
              <a:rPr lang="en-US" b="0" i="0" dirty="0" err="1">
                <a:solidFill>
                  <a:srgbClr val="333333"/>
                </a:solidFill>
                <a:effectLst/>
              </a:rPr>
              <a:t>Mosharaf</a:t>
            </a:r>
            <a:r>
              <a:rPr lang="en-US" b="0" i="0" dirty="0">
                <a:solidFill>
                  <a:srgbClr val="333333"/>
                </a:solidFill>
                <a:effectLst/>
              </a:rPr>
              <a:t> Chowdhury       </a:t>
            </a:r>
            <a:r>
              <a:rPr lang="en-US" dirty="0">
                <a:solidFill>
                  <a:srgbClr val="333333"/>
                </a:solidFill>
              </a:rPr>
              <a:t>     </a:t>
            </a:r>
            <a:r>
              <a:rPr lang="en-US" b="0" i="0" dirty="0">
                <a:solidFill>
                  <a:srgbClr val="333333"/>
                </a:solidFill>
                <a:effectLst/>
              </a:rPr>
              <a:t>Asaf Cidon</a:t>
            </a:r>
            <a:endParaRPr lang="en-CN" dirty="0"/>
          </a:p>
        </p:txBody>
      </p:sp>
      <p:pic>
        <p:nvPicPr>
          <p:cNvPr id="5" name="Picture 4">
            <a:extLst>
              <a:ext uri="{FF2B5EF4-FFF2-40B4-BE49-F238E27FC236}">
                <a16:creationId xmlns:a16="http://schemas.microsoft.com/office/drawing/2014/main" id="{34933086-60A4-664A-51B6-B7E203F86E60}"/>
              </a:ext>
            </a:extLst>
          </p:cNvPr>
          <p:cNvPicPr>
            <a:picLocks noChangeAspect="1"/>
          </p:cNvPicPr>
          <p:nvPr/>
        </p:nvPicPr>
        <p:blipFill>
          <a:blip r:embed="rId3"/>
          <a:stretch>
            <a:fillRect/>
          </a:stretch>
        </p:blipFill>
        <p:spPr>
          <a:xfrm>
            <a:off x="9691882" y="4732119"/>
            <a:ext cx="340746" cy="324325"/>
          </a:xfrm>
          <a:prstGeom prst="rect">
            <a:avLst/>
          </a:prstGeom>
        </p:spPr>
      </p:pic>
      <p:pic>
        <p:nvPicPr>
          <p:cNvPr id="6" name="Picture 5">
            <a:extLst>
              <a:ext uri="{FF2B5EF4-FFF2-40B4-BE49-F238E27FC236}">
                <a16:creationId xmlns:a16="http://schemas.microsoft.com/office/drawing/2014/main" id="{28F3EA9F-3DA3-5AAC-2D57-0597A5775F4C}"/>
              </a:ext>
            </a:extLst>
          </p:cNvPr>
          <p:cNvPicPr>
            <a:picLocks noChangeAspect="1"/>
          </p:cNvPicPr>
          <p:nvPr/>
        </p:nvPicPr>
        <p:blipFill>
          <a:blip r:embed="rId3"/>
          <a:stretch>
            <a:fillRect/>
          </a:stretch>
        </p:blipFill>
        <p:spPr>
          <a:xfrm>
            <a:off x="11191258" y="3820259"/>
            <a:ext cx="340746" cy="324325"/>
          </a:xfrm>
          <a:prstGeom prst="rect">
            <a:avLst/>
          </a:prstGeom>
        </p:spPr>
      </p:pic>
      <p:pic>
        <p:nvPicPr>
          <p:cNvPr id="7" name="Picture 6">
            <a:extLst>
              <a:ext uri="{FF2B5EF4-FFF2-40B4-BE49-F238E27FC236}">
                <a16:creationId xmlns:a16="http://schemas.microsoft.com/office/drawing/2014/main" id="{548F6DAA-5726-9D6B-35B9-2AD60744D0C4}"/>
              </a:ext>
            </a:extLst>
          </p:cNvPr>
          <p:cNvPicPr>
            <a:picLocks noChangeAspect="1"/>
          </p:cNvPicPr>
          <p:nvPr/>
        </p:nvPicPr>
        <p:blipFill>
          <a:blip r:embed="rId4"/>
          <a:stretch>
            <a:fillRect/>
          </a:stretch>
        </p:blipFill>
        <p:spPr>
          <a:xfrm>
            <a:off x="3259551" y="3828280"/>
            <a:ext cx="332749" cy="324325"/>
          </a:xfrm>
          <a:prstGeom prst="rect">
            <a:avLst/>
          </a:prstGeom>
        </p:spPr>
      </p:pic>
      <p:pic>
        <p:nvPicPr>
          <p:cNvPr id="8" name="Picture 7">
            <a:extLst>
              <a:ext uri="{FF2B5EF4-FFF2-40B4-BE49-F238E27FC236}">
                <a16:creationId xmlns:a16="http://schemas.microsoft.com/office/drawing/2014/main" id="{57FE09E8-4D59-1415-62D2-AEF79BDADC4D}"/>
              </a:ext>
            </a:extLst>
          </p:cNvPr>
          <p:cNvPicPr>
            <a:picLocks noChangeAspect="1"/>
          </p:cNvPicPr>
          <p:nvPr/>
        </p:nvPicPr>
        <p:blipFill>
          <a:blip r:embed="rId3"/>
          <a:stretch>
            <a:fillRect/>
          </a:stretch>
        </p:blipFill>
        <p:spPr>
          <a:xfrm>
            <a:off x="2910259" y="3828280"/>
            <a:ext cx="340746" cy="324325"/>
          </a:xfrm>
          <a:prstGeom prst="rect">
            <a:avLst/>
          </a:prstGeom>
        </p:spPr>
      </p:pic>
      <p:pic>
        <p:nvPicPr>
          <p:cNvPr id="9" name="Picture 8">
            <a:extLst>
              <a:ext uri="{FF2B5EF4-FFF2-40B4-BE49-F238E27FC236}">
                <a16:creationId xmlns:a16="http://schemas.microsoft.com/office/drawing/2014/main" id="{A8962557-0E98-81A6-C3F8-732994402DBE}"/>
              </a:ext>
            </a:extLst>
          </p:cNvPr>
          <p:cNvPicPr>
            <a:picLocks noChangeAspect="1"/>
          </p:cNvPicPr>
          <p:nvPr/>
        </p:nvPicPr>
        <p:blipFill>
          <a:blip r:embed="rId4"/>
          <a:stretch>
            <a:fillRect/>
          </a:stretch>
        </p:blipFill>
        <p:spPr>
          <a:xfrm>
            <a:off x="6031101" y="3824229"/>
            <a:ext cx="332749" cy="324325"/>
          </a:xfrm>
          <a:prstGeom prst="rect">
            <a:avLst/>
          </a:prstGeom>
        </p:spPr>
      </p:pic>
      <p:pic>
        <p:nvPicPr>
          <p:cNvPr id="10" name="Picture 9">
            <a:extLst>
              <a:ext uri="{FF2B5EF4-FFF2-40B4-BE49-F238E27FC236}">
                <a16:creationId xmlns:a16="http://schemas.microsoft.com/office/drawing/2014/main" id="{036A76BD-118E-542D-4B88-31DFBBC22A89}"/>
              </a:ext>
            </a:extLst>
          </p:cNvPr>
          <p:cNvPicPr>
            <a:picLocks noChangeAspect="1"/>
          </p:cNvPicPr>
          <p:nvPr/>
        </p:nvPicPr>
        <p:blipFill>
          <a:blip r:embed="rId5"/>
          <a:stretch>
            <a:fillRect/>
          </a:stretch>
        </p:blipFill>
        <p:spPr>
          <a:xfrm>
            <a:off x="6363850" y="3858938"/>
            <a:ext cx="340746" cy="237813"/>
          </a:xfrm>
          <a:prstGeom prst="rect">
            <a:avLst/>
          </a:prstGeom>
        </p:spPr>
      </p:pic>
      <p:pic>
        <p:nvPicPr>
          <p:cNvPr id="11" name="Picture 10">
            <a:extLst>
              <a:ext uri="{FF2B5EF4-FFF2-40B4-BE49-F238E27FC236}">
                <a16:creationId xmlns:a16="http://schemas.microsoft.com/office/drawing/2014/main" id="{0C9DABA9-8E17-8D32-BD95-025FB131917B}"/>
              </a:ext>
            </a:extLst>
          </p:cNvPr>
          <p:cNvPicPr>
            <a:picLocks noChangeAspect="1"/>
          </p:cNvPicPr>
          <p:nvPr/>
        </p:nvPicPr>
        <p:blipFill>
          <a:blip r:embed="rId6"/>
          <a:stretch>
            <a:fillRect/>
          </a:stretch>
        </p:blipFill>
        <p:spPr>
          <a:xfrm>
            <a:off x="3721929" y="4316342"/>
            <a:ext cx="106584" cy="266460"/>
          </a:xfrm>
          <a:prstGeom prst="rect">
            <a:avLst/>
          </a:prstGeom>
        </p:spPr>
      </p:pic>
      <p:pic>
        <p:nvPicPr>
          <p:cNvPr id="12" name="Picture 11">
            <a:extLst>
              <a:ext uri="{FF2B5EF4-FFF2-40B4-BE49-F238E27FC236}">
                <a16:creationId xmlns:a16="http://schemas.microsoft.com/office/drawing/2014/main" id="{313738AB-4758-7F61-B1A8-62CB6959EB88}"/>
              </a:ext>
            </a:extLst>
          </p:cNvPr>
          <p:cNvPicPr>
            <a:picLocks noChangeAspect="1"/>
          </p:cNvPicPr>
          <p:nvPr/>
        </p:nvPicPr>
        <p:blipFill>
          <a:blip r:embed="rId6"/>
          <a:stretch>
            <a:fillRect/>
          </a:stretch>
        </p:blipFill>
        <p:spPr>
          <a:xfrm>
            <a:off x="6036177" y="4316342"/>
            <a:ext cx="106584" cy="266460"/>
          </a:xfrm>
          <a:prstGeom prst="rect">
            <a:avLst/>
          </a:prstGeom>
        </p:spPr>
      </p:pic>
      <p:pic>
        <p:nvPicPr>
          <p:cNvPr id="13" name="Picture 12">
            <a:extLst>
              <a:ext uri="{FF2B5EF4-FFF2-40B4-BE49-F238E27FC236}">
                <a16:creationId xmlns:a16="http://schemas.microsoft.com/office/drawing/2014/main" id="{2A94CA16-FAD2-411C-2FDD-DE2C494576BD}"/>
              </a:ext>
            </a:extLst>
          </p:cNvPr>
          <p:cNvPicPr>
            <a:picLocks noChangeAspect="1"/>
          </p:cNvPicPr>
          <p:nvPr/>
        </p:nvPicPr>
        <p:blipFill>
          <a:blip r:embed="rId6"/>
          <a:stretch>
            <a:fillRect/>
          </a:stretch>
        </p:blipFill>
        <p:spPr>
          <a:xfrm>
            <a:off x="8070314" y="4316342"/>
            <a:ext cx="106584" cy="266460"/>
          </a:xfrm>
          <a:prstGeom prst="rect">
            <a:avLst/>
          </a:prstGeom>
        </p:spPr>
      </p:pic>
      <p:pic>
        <p:nvPicPr>
          <p:cNvPr id="14" name="Picture 13">
            <a:extLst>
              <a:ext uri="{FF2B5EF4-FFF2-40B4-BE49-F238E27FC236}">
                <a16:creationId xmlns:a16="http://schemas.microsoft.com/office/drawing/2014/main" id="{878EA31F-C4D7-BD80-7F9F-5B9EE99B084F}"/>
              </a:ext>
            </a:extLst>
          </p:cNvPr>
          <p:cNvPicPr>
            <a:picLocks noChangeAspect="1"/>
          </p:cNvPicPr>
          <p:nvPr/>
        </p:nvPicPr>
        <p:blipFill>
          <a:blip r:embed="rId6"/>
          <a:stretch>
            <a:fillRect/>
          </a:stretch>
        </p:blipFill>
        <p:spPr>
          <a:xfrm>
            <a:off x="10484502" y="4316342"/>
            <a:ext cx="106584" cy="266460"/>
          </a:xfrm>
          <a:prstGeom prst="rect">
            <a:avLst/>
          </a:prstGeom>
        </p:spPr>
      </p:pic>
      <p:pic>
        <p:nvPicPr>
          <p:cNvPr id="15" name="Picture 14">
            <a:extLst>
              <a:ext uri="{FF2B5EF4-FFF2-40B4-BE49-F238E27FC236}">
                <a16:creationId xmlns:a16="http://schemas.microsoft.com/office/drawing/2014/main" id="{BF127FB3-B846-A1C4-DFDC-417363D7A31E}"/>
              </a:ext>
            </a:extLst>
          </p:cNvPr>
          <p:cNvPicPr>
            <a:picLocks noChangeAspect="1"/>
          </p:cNvPicPr>
          <p:nvPr/>
        </p:nvPicPr>
        <p:blipFill>
          <a:blip r:embed="rId7"/>
          <a:stretch>
            <a:fillRect/>
          </a:stretch>
        </p:blipFill>
        <p:spPr>
          <a:xfrm>
            <a:off x="7518629" y="4785686"/>
            <a:ext cx="340746" cy="253666"/>
          </a:xfrm>
          <a:prstGeom prst="rect">
            <a:avLst/>
          </a:prstGeom>
        </p:spPr>
      </p:pic>
      <p:pic>
        <p:nvPicPr>
          <p:cNvPr id="16" name="Picture 15">
            <a:extLst>
              <a:ext uri="{FF2B5EF4-FFF2-40B4-BE49-F238E27FC236}">
                <a16:creationId xmlns:a16="http://schemas.microsoft.com/office/drawing/2014/main" id="{4650D80D-DD75-A201-E0B8-DC9DB97A8369}"/>
              </a:ext>
            </a:extLst>
          </p:cNvPr>
          <p:cNvPicPr>
            <a:picLocks noChangeAspect="1"/>
          </p:cNvPicPr>
          <p:nvPr/>
        </p:nvPicPr>
        <p:blipFill>
          <a:blip r:embed="rId8"/>
          <a:stretch>
            <a:fillRect/>
          </a:stretch>
        </p:blipFill>
        <p:spPr>
          <a:xfrm>
            <a:off x="3965577" y="4732119"/>
            <a:ext cx="362959" cy="328391"/>
          </a:xfrm>
          <a:prstGeom prst="rect">
            <a:avLst/>
          </a:prstGeom>
        </p:spPr>
      </p:pic>
      <p:sp>
        <p:nvSpPr>
          <p:cNvPr id="17" name="TextBox 16">
            <a:extLst>
              <a:ext uri="{FF2B5EF4-FFF2-40B4-BE49-F238E27FC236}">
                <a16:creationId xmlns:a16="http://schemas.microsoft.com/office/drawing/2014/main" id="{51C6BB2E-6FD1-C6E3-9BD0-55B03C5B9CD3}"/>
              </a:ext>
            </a:extLst>
          </p:cNvPr>
          <p:cNvSpPr txBox="1"/>
          <p:nvPr/>
        </p:nvSpPr>
        <p:spPr>
          <a:xfrm>
            <a:off x="777667" y="5660741"/>
            <a:ext cx="10865426" cy="646331"/>
          </a:xfrm>
          <a:prstGeom prst="rect">
            <a:avLst/>
          </a:prstGeom>
          <a:noFill/>
        </p:spPr>
        <p:txBody>
          <a:bodyPr wrap="square" rtlCol="0">
            <a:spAutoFit/>
          </a:bodyPr>
          <a:lstStyle/>
          <a:p>
            <a:pPr algn="ctr"/>
            <a:r>
              <a:rPr lang="en-CN" i="1"/>
              <a:t>Columbia University              Microsoft Azure              University of Washington</a:t>
            </a:r>
          </a:p>
          <a:p>
            <a:pPr algn="ctr"/>
            <a:r>
              <a:rPr lang="en-CN" i="1"/>
              <a:t>*Carl Waldspurger Consulting             Intel            University of Wisconsin-Madison              University of Michigan</a:t>
            </a:r>
          </a:p>
        </p:txBody>
      </p:sp>
      <p:pic>
        <p:nvPicPr>
          <p:cNvPr id="18" name="Picture 17">
            <a:extLst>
              <a:ext uri="{FF2B5EF4-FFF2-40B4-BE49-F238E27FC236}">
                <a16:creationId xmlns:a16="http://schemas.microsoft.com/office/drawing/2014/main" id="{8C21D8D4-B679-29AA-54F4-5524341DC7AB}"/>
              </a:ext>
            </a:extLst>
          </p:cNvPr>
          <p:cNvPicPr>
            <a:picLocks noChangeAspect="1"/>
          </p:cNvPicPr>
          <p:nvPr/>
        </p:nvPicPr>
        <p:blipFill>
          <a:blip r:embed="rId3"/>
          <a:stretch>
            <a:fillRect/>
          </a:stretch>
        </p:blipFill>
        <p:spPr>
          <a:xfrm>
            <a:off x="2276446" y="5683262"/>
            <a:ext cx="279951" cy="266460"/>
          </a:xfrm>
          <a:prstGeom prst="rect">
            <a:avLst/>
          </a:prstGeom>
        </p:spPr>
      </p:pic>
      <p:pic>
        <p:nvPicPr>
          <p:cNvPr id="19" name="Picture 18">
            <a:extLst>
              <a:ext uri="{FF2B5EF4-FFF2-40B4-BE49-F238E27FC236}">
                <a16:creationId xmlns:a16="http://schemas.microsoft.com/office/drawing/2014/main" id="{B5EF9B0C-015D-A26A-3463-53A42B14E1B3}"/>
              </a:ext>
            </a:extLst>
          </p:cNvPr>
          <p:cNvPicPr>
            <a:picLocks noChangeAspect="1"/>
          </p:cNvPicPr>
          <p:nvPr/>
        </p:nvPicPr>
        <p:blipFill>
          <a:blip r:embed="rId4"/>
          <a:stretch>
            <a:fillRect/>
          </a:stretch>
        </p:blipFill>
        <p:spPr>
          <a:xfrm>
            <a:off x="4919720" y="5711115"/>
            <a:ext cx="253572" cy="247152"/>
          </a:xfrm>
          <a:prstGeom prst="rect">
            <a:avLst/>
          </a:prstGeom>
        </p:spPr>
      </p:pic>
      <p:pic>
        <p:nvPicPr>
          <p:cNvPr id="20" name="Picture 19">
            <a:extLst>
              <a:ext uri="{FF2B5EF4-FFF2-40B4-BE49-F238E27FC236}">
                <a16:creationId xmlns:a16="http://schemas.microsoft.com/office/drawing/2014/main" id="{615FE1DA-C740-6799-1003-1E80832311BF}"/>
              </a:ext>
            </a:extLst>
          </p:cNvPr>
          <p:cNvPicPr>
            <a:picLocks noChangeAspect="1"/>
          </p:cNvPicPr>
          <p:nvPr/>
        </p:nvPicPr>
        <p:blipFill>
          <a:blip r:embed="rId5"/>
          <a:stretch>
            <a:fillRect/>
          </a:stretch>
        </p:blipFill>
        <p:spPr>
          <a:xfrm>
            <a:off x="7116838" y="5738037"/>
            <a:ext cx="253572" cy="176973"/>
          </a:xfrm>
          <a:prstGeom prst="rect">
            <a:avLst/>
          </a:prstGeom>
        </p:spPr>
      </p:pic>
      <p:pic>
        <p:nvPicPr>
          <p:cNvPr id="21" name="Picture 20">
            <a:extLst>
              <a:ext uri="{FF2B5EF4-FFF2-40B4-BE49-F238E27FC236}">
                <a16:creationId xmlns:a16="http://schemas.microsoft.com/office/drawing/2014/main" id="{F05E169B-B05E-BE05-1037-8472EAC299F3}"/>
              </a:ext>
            </a:extLst>
          </p:cNvPr>
          <p:cNvPicPr>
            <a:picLocks noChangeAspect="1"/>
          </p:cNvPicPr>
          <p:nvPr/>
        </p:nvPicPr>
        <p:blipFill>
          <a:blip r:embed="rId6"/>
          <a:stretch>
            <a:fillRect/>
          </a:stretch>
        </p:blipFill>
        <p:spPr>
          <a:xfrm>
            <a:off x="4315623" y="5981067"/>
            <a:ext cx="94007" cy="235018"/>
          </a:xfrm>
          <a:prstGeom prst="rect">
            <a:avLst/>
          </a:prstGeom>
        </p:spPr>
      </p:pic>
      <p:pic>
        <p:nvPicPr>
          <p:cNvPr id="22" name="Picture 21">
            <a:extLst>
              <a:ext uri="{FF2B5EF4-FFF2-40B4-BE49-F238E27FC236}">
                <a16:creationId xmlns:a16="http://schemas.microsoft.com/office/drawing/2014/main" id="{D2304035-2349-B4D4-453C-891F0BA306A3}"/>
              </a:ext>
            </a:extLst>
          </p:cNvPr>
          <p:cNvPicPr>
            <a:picLocks noChangeAspect="1"/>
          </p:cNvPicPr>
          <p:nvPr/>
        </p:nvPicPr>
        <p:blipFill>
          <a:blip r:embed="rId8"/>
          <a:stretch>
            <a:fillRect/>
          </a:stretch>
        </p:blipFill>
        <p:spPr>
          <a:xfrm>
            <a:off x="5147654" y="5992350"/>
            <a:ext cx="273168" cy="247152"/>
          </a:xfrm>
          <a:prstGeom prst="rect">
            <a:avLst/>
          </a:prstGeom>
        </p:spPr>
      </p:pic>
      <p:pic>
        <p:nvPicPr>
          <p:cNvPr id="23" name="Picture 22">
            <a:extLst>
              <a:ext uri="{FF2B5EF4-FFF2-40B4-BE49-F238E27FC236}">
                <a16:creationId xmlns:a16="http://schemas.microsoft.com/office/drawing/2014/main" id="{BE1F6262-6D6C-1EF5-B29D-59EB1CF70B8A}"/>
              </a:ext>
            </a:extLst>
          </p:cNvPr>
          <p:cNvPicPr>
            <a:picLocks noChangeAspect="1"/>
          </p:cNvPicPr>
          <p:nvPr/>
        </p:nvPicPr>
        <p:blipFill>
          <a:blip r:embed="rId7"/>
          <a:stretch>
            <a:fillRect/>
          </a:stretch>
        </p:blipFill>
        <p:spPr>
          <a:xfrm>
            <a:off x="8990592" y="6007841"/>
            <a:ext cx="273168" cy="203358"/>
          </a:xfrm>
          <a:prstGeom prst="rect">
            <a:avLst/>
          </a:prstGeom>
        </p:spPr>
      </p:pic>
      <p:sp>
        <p:nvSpPr>
          <p:cNvPr id="4" name="Slide Number Placeholder 3">
            <a:extLst>
              <a:ext uri="{FF2B5EF4-FFF2-40B4-BE49-F238E27FC236}">
                <a16:creationId xmlns:a16="http://schemas.microsoft.com/office/drawing/2014/main" id="{91FB3E83-63C7-7A90-B9D2-3DC108CD8862}"/>
              </a:ext>
            </a:extLst>
          </p:cNvPr>
          <p:cNvSpPr>
            <a:spLocks noGrp="1"/>
          </p:cNvSpPr>
          <p:nvPr>
            <p:ph type="sldNum" sz="quarter" idx="12"/>
          </p:nvPr>
        </p:nvSpPr>
        <p:spPr/>
        <p:txBody>
          <a:bodyPr/>
          <a:lstStyle/>
          <a:p>
            <a:fld id="{5D76F006-5496-B946-A476-FEDACCAB686D}" type="slidenum">
              <a:rPr lang="en-CN" smtClean="0"/>
              <a:t>1</a:t>
            </a:fld>
            <a:endParaRPr lang="en-CN"/>
          </a:p>
        </p:txBody>
      </p:sp>
    </p:spTree>
    <p:extLst>
      <p:ext uri="{BB962C8B-B14F-4D97-AF65-F5344CB8AC3E}">
        <p14:creationId xmlns:p14="http://schemas.microsoft.com/office/powerpoint/2010/main" val="3473210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8B879-9D50-78A3-5F8F-FEED78A24D2D}"/>
              </a:ext>
            </a:extLst>
          </p:cNvPr>
          <p:cNvSpPr>
            <a:spLocks noGrp="1"/>
          </p:cNvSpPr>
          <p:nvPr>
            <p:ph type="title"/>
          </p:nvPr>
        </p:nvSpPr>
        <p:spPr/>
        <p:txBody>
          <a:bodyPr/>
          <a:lstStyle/>
          <a:p>
            <a:r>
              <a:rPr lang="en-CN" dirty="0"/>
              <a:t>Executive Summary</a:t>
            </a:r>
          </a:p>
        </p:txBody>
      </p:sp>
      <p:sp>
        <p:nvSpPr>
          <p:cNvPr id="3" name="Content Placeholder 2">
            <a:extLst>
              <a:ext uri="{FF2B5EF4-FFF2-40B4-BE49-F238E27FC236}">
                <a16:creationId xmlns:a16="http://schemas.microsoft.com/office/drawing/2014/main" id="{611D084D-6E39-0793-C886-186F112C792A}"/>
              </a:ext>
            </a:extLst>
          </p:cNvPr>
          <p:cNvSpPr>
            <a:spLocks noGrp="1"/>
          </p:cNvSpPr>
          <p:nvPr>
            <p:ph idx="1"/>
          </p:nvPr>
        </p:nvSpPr>
        <p:spPr>
          <a:xfrm>
            <a:off x="838200" y="1505584"/>
            <a:ext cx="10515600" cy="4712335"/>
          </a:xfrm>
        </p:spPr>
        <p:txBody>
          <a:bodyPr>
            <a:normAutofit/>
          </a:bodyPr>
          <a:lstStyle/>
          <a:p>
            <a:pPr marL="0" indent="0">
              <a:buNone/>
            </a:pPr>
            <a:r>
              <a:rPr lang="en-CN" sz="2400" dirty="0"/>
              <a:t>Background:</a:t>
            </a:r>
          </a:p>
          <a:p>
            <a:r>
              <a:rPr lang="en-CN" sz="2400" dirty="0"/>
              <a:t>CPU </a:t>
            </a:r>
            <a:r>
              <a:rPr lang="en-CN" sz="2400" b="1" dirty="0"/>
              <a:t>core counts scaling faster </a:t>
            </a:r>
            <a:r>
              <a:rPr lang="en-CN" sz="2400" dirty="0"/>
              <a:t>than memory capacity</a:t>
            </a:r>
          </a:p>
          <a:p>
            <a:r>
              <a:rPr lang="en-CN" sz="2400" dirty="0"/>
              <a:t>CXL enables </a:t>
            </a:r>
            <a:r>
              <a:rPr lang="en-CN" sz="2400" b="1" dirty="0"/>
              <a:t>second-tier memory </a:t>
            </a:r>
            <a:r>
              <a:rPr lang="en-CN" sz="2400" dirty="0"/>
              <a:t>to facilitate core scaling</a:t>
            </a:r>
          </a:p>
          <a:p>
            <a:r>
              <a:rPr lang="en-CN" sz="2400" dirty="0"/>
              <a:t>But CXL adds latency that hurts performance if not mitigated</a:t>
            </a:r>
          </a:p>
          <a:p>
            <a:r>
              <a:rPr lang="en-CN" sz="2400" dirty="0"/>
              <a:t>Software tiering helps some but </a:t>
            </a:r>
            <a:r>
              <a:rPr lang="en-CN" sz="2400" b="1" dirty="0"/>
              <a:t>is not well suited for public clouds</a:t>
            </a:r>
          </a:p>
          <a:p>
            <a:pPr marL="0" indent="0">
              <a:buNone/>
            </a:pPr>
            <a:r>
              <a:rPr lang="en-CN" sz="2400" dirty="0"/>
              <a:t>Contributions:</a:t>
            </a:r>
            <a:endParaRPr lang="en-CN" sz="2000" dirty="0"/>
          </a:p>
          <a:p>
            <a:r>
              <a:rPr lang="en-CN" sz="2400" dirty="0"/>
              <a:t>Intel Flat Memory Mode: First </a:t>
            </a:r>
            <a:r>
              <a:rPr lang="en-CN" sz="2400" b="1" dirty="0"/>
              <a:t>hardware-managed</a:t>
            </a:r>
            <a:r>
              <a:rPr lang="en-CN" sz="2400" dirty="0"/>
              <a:t> memory tiering for CXL</a:t>
            </a:r>
          </a:p>
          <a:p>
            <a:pPr lvl="1"/>
            <a:r>
              <a:rPr lang="en-CN" dirty="0"/>
              <a:t>But still has </a:t>
            </a:r>
            <a:r>
              <a:rPr lang="en-CN" b="1" dirty="0"/>
              <a:t>limitations</a:t>
            </a:r>
            <a:r>
              <a:rPr lang="en-CN" dirty="0"/>
              <a:t> that degrade workloads</a:t>
            </a:r>
          </a:p>
          <a:p>
            <a:r>
              <a:rPr lang="en-CN" sz="2400" dirty="0"/>
              <a:t>Memstrata: Memory allocator for hardware tiering to </a:t>
            </a:r>
            <a:r>
              <a:rPr lang="en-CN" sz="2400" b="1" dirty="0"/>
              <a:t>mitigate outliers</a:t>
            </a:r>
            <a:endParaRPr lang="en-US" sz="2400" b="1" dirty="0"/>
          </a:p>
          <a:p>
            <a:r>
              <a:rPr lang="en-US" sz="2400" dirty="0"/>
              <a:t>Slowdown reduces to ~5% vs. unattainable one-tier memory</a:t>
            </a:r>
            <a:endParaRPr lang="en-CN" sz="2400" dirty="0"/>
          </a:p>
        </p:txBody>
      </p:sp>
      <p:sp>
        <p:nvSpPr>
          <p:cNvPr id="4" name="Slide Number Placeholder 3">
            <a:extLst>
              <a:ext uri="{FF2B5EF4-FFF2-40B4-BE49-F238E27FC236}">
                <a16:creationId xmlns:a16="http://schemas.microsoft.com/office/drawing/2014/main" id="{3FCFA327-7BB0-04F9-09D4-DE0EE4F022BA}"/>
              </a:ext>
            </a:extLst>
          </p:cNvPr>
          <p:cNvSpPr>
            <a:spLocks noGrp="1"/>
          </p:cNvSpPr>
          <p:nvPr>
            <p:ph type="sldNum" sz="quarter" idx="12"/>
          </p:nvPr>
        </p:nvSpPr>
        <p:spPr/>
        <p:txBody>
          <a:bodyPr/>
          <a:lstStyle/>
          <a:p>
            <a:fld id="{5D76F006-5496-B946-A476-FEDACCAB686D}" type="slidenum">
              <a:rPr lang="en-CN" smtClean="0"/>
              <a:t>2</a:t>
            </a:fld>
            <a:endParaRPr lang="en-CN"/>
          </a:p>
        </p:txBody>
      </p:sp>
    </p:spTree>
    <p:extLst>
      <p:ext uri="{BB962C8B-B14F-4D97-AF65-F5344CB8AC3E}">
        <p14:creationId xmlns:p14="http://schemas.microsoft.com/office/powerpoint/2010/main" val="4017983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fade">
                                      <p:cBhvr>
                                        <p:cTn id="16" dur="500"/>
                                        <p:tgtEl>
                                          <p:spTgt spid="3">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fade">
                                      <p:cBhvr>
                                        <p:cTn id="1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5443E1-C674-8DEC-0C03-BBDEEB300427}"/>
              </a:ext>
            </a:extLst>
          </p:cNvPr>
          <p:cNvSpPr>
            <a:spLocks noGrp="1"/>
          </p:cNvSpPr>
          <p:nvPr>
            <p:ph type="sldNum" sz="quarter" idx="12"/>
          </p:nvPr>
        </p:nvSpPr>
        <p:spPr/>
        <p:txBody>
          <a:bodyPr/>
          <a:lstStyle/>
          <a:p>
            <a:fld id="{5D76F006-5496-B946-A476-FEDACCAB686D}" type="slidenum">
              <a:rPr lang="en-CN" smtClean="0"/>
              <a:t>3</a:t>
            </a:fld>
            <a:endParaRPr lang="en-CN" dirty="0"/>
          </a:p>
        </p:txBody>
      </p:sp>
      <p:pic>
        <p:nvPicPr>
          <p:cNvPr id="45" name="Picture 44">
            <a:extLst>
              <a:ext uri="{FF2B5EF4-FFF2-40B4-BE49-F238E27FC236}">
                <a16:creationId xmlns:a16="http://schemas.microsoft.com/office/drawing/2014/main" id="{6222B093-13A6-D192-67B4-3C0757FADB6D}"/>
              </a:ext>
            </a:extLst>
          </p:cNvPr>
          <p:cNvPicPr>
            <a:picLocks noChangeAspect="1"/>
          </p:cNvPicPr>
          <p:nvPr/>
        </p:nvPicPr>
        <p:blipFill>
          <a:blip r:embed="rId3"/>
          <a:stretch>
            <a:fillRect/>
          </a:stretch>
        </p:blipFill>
        <p:spPr>
          <a:xfrm>
            <a:off x="1257180" y="546738"/>
            <a:ext cx="9752025" cy="5250098"/>
          </a:xfrm>
          <a:prstGeom prst="rect">
            <a:avLst/>
          </a:prstGeom>
        </p:spPr>
      </p:pic>
      <p:pic>
        <p:nvPicPr>
          <p:cNvPr id="5" name="Picture 4">
            <a:extLst>
              <a:ext uri="{FF2B5EF4-FFF2-40B4-BE49-F238E27FC236}">
                <a16:creationId xmlns:a16="http://schemas.microsoft.com/office/drawing/2014/main" id="{16C2C4DA-55D1-51E4-F40A-7E3783554610}"/>
              </a:ext>
            </a:extLst>
          </p:cNvPr>
          <p:cNvPicPr>
            <a:picLocks noChangeAspect="1"/>
          </p:cNvPicPr>
          <p:nvPr/>
        </p:nvPicPr>
        <p:blipFill>
          <a:blip r:embed="rId4"/>
          <a:stretch>
            <a:fillRect/>
          </a:stretch>
        </p:blipFill>
        <p:spPr>
          <a:xfrm>
            <a:off x="1263788" y="546628"/>
            <a:ext cx="9733573" cy="5244251"/>
          </a:xfrm>
          <a:prstGeom prst="rect">
            <a:avLst/>
          </a:prstGeom>
        </p:spPr>
      </p:pic>
      <p:sp>
        <p:nvSpPr>
          <p:cNvPr id="6" name="TextBox 5">
            <a:extLst>
              <a:ext uri="{FF2B5EF4-FFF2-40B4-BE49-F238E27FC236}">
                <a16:creationId xmlns:a16="http://schemas.microsoft.com/office/drawing/2014/main" id="{4A80F4A5-0984-00F9-E0AE-CDCE142F677D}"/>
              </a:ext>
            </a:extLst>
          </p:cNvPr>
          <p:cNvSpPr txBox="1"/>
          <p:nvPr/>
        </p:nvSpPr>
        <p:spPr>
          <a:xfrm>
            <a:off x="10810758" y="377294"/>
            <a:ext cx="627522" cy="460658"/>
          </a:xfrm>
          <a:prstGeom prst="rect">
            <a:avLst/>
          </a:prstGeom>
          <a:noFill/>
        </p:spPr>
        <p:txBody>
          <a:bodyPr wrap="none" rtlCol="0">
            <a:spAutoFit/>
          </a:bodyPr>
          <a:lstStyle/>
          <a:p>
            <a:r>
              <a:rPr lang="en-CN" sz="2000" dirty="0"/>
              <a:t>120</a:t>
            </a:r>
          </a:p>
        </p:txBody>
      </p:sp>
      <p:sp>
        <p:nvSpPr>
          <p:cNvPr id="7" name="TextBox 6">
            <a:extLst>
              <a:ext uri="{FF2B5EF4-FFF2-40B4-BE49-F238E27FC236}">
                <a16:creationId xmlns:a16="http://schemas.microsoft.com/office/drawing/2014/main" id="{6A83B765-B817-00B6-C53B-F61104E685E0}"/>
              </a:ext>
            </a:extLst>
          </p:cNvPr>
          <p:cNvSpPr txBox="1"/>
          <p:nvPr/>
        </p:nvSpPr>
        <p:spPr>
          <a:xfrm>
            <a:off x="10820576" y="1129527"/>
            <a:ext cx="627522" cy="460658"/>
          </a:xfrm>
          <a:prstGeom prst="rect">
            <a:avLst/>
          </a:prstGeom>
          <a:noFill/>
        </p:spPr>
        <p:txBody>
          <a:bodyPr wrap="none" rtlCol="0">
            <a:spAutoFit/>
          </a:bodyPr>
          <a:lstStyle/>
          <a:p>
            <a:r>
              <a:rPr lang="en-CN" sz="2000" dirty="0"/>
              <a:t>100</a:t>
            </a:r>
          </a:p>
        </p:txBody>
      </p:sp>
      <p:sp>
        <p:nvSpPr>
          <p:cNvPr id="8" name="TextBox 7">
            <a:extLst>
              <a:ext uri="{FF2B5EF4-FFF2-40B4-BE49-F238E27FC236}">
                <a16:creationId xmlns:a16="http://schemas.microsoft.com/office/drawing/2014/main" id="{47378CCE-89B1-41CA-2868-E32844CCA9D3}"/>
              </a:ext>
            </a:extLst>
          </p:cNvPr>
          <p:cNvSpPr txBox="1"/>
          <p:nvPr/>
        </p:nvSpPr>
        <p:spPr>
          <a:xfrm>
            <a:off x="10964660" y="1869663"/>
            <a:ext cx="483439" cy="460658"/>
          </a:xfrm>
          <a:prstGeom prst="rect">
            <a:avLst/>
          </a:prstGeom>
          <a:noFill/>
        </p:spPr>
        <p:txBody>
          <a:bodyPr wrap="none" rtlCol="0">
            <a:spAutoFit/>
          </a:bodyPr>
          <a:lstStyle/>
          <a:p>
            <a:r>
              <a:rPr lang="en-CN" sz="2000" dirty="0"/>
              <a:t>80</a:t>
            </a:r>
          </a:p>
        </p:txBody>
      </p:sp>
      <p:sp>
        <p:nvSpPr>
          <p:cNvPr id="9" name="TextBox 8">
            <a:extLst>
              <a:ext uri="{FF2B5EF4-FFF2-40B4-BE49-F238E27FC236}">
                <a16:creationId xmlns:a16="http://schemas.microsoft.com/office/drawing/2014/main" id="{3B152672-63AC-8CB0-93B3-E217D0EAD6D4}"/>
              </a:ext>
            </a:extLst>
          </p:cNvPr>
          <p:cNvSpPr txBox="1"/>
          <p:nvPr/>
        </p:nvSpPr>
        <p:spPr>
          <a:xfrm>
            <a:off x="10964660" y="2670836"/>
            <a:ext cx="483439" cy="460658"/>
          </a:xfrm>
          <a:prstGeom prst="rect">
            <a:avLst/>
          </a:prstGeom>
          <a:noFill/>
        </p:spPr>
        <p:txBody>
          <a:bodyPr wrap="none" rtlCol="0">
            <a:spAutoFit/>
          </a:bodyPr>
          <a:lstStyle/>
          <a:p>
            <a:r>
              <a:rPr lang="en-CN" sz="2000" dirty="0"/>
              <a:t>60</a:t>
            </a:r>
          </a:p>
        </p:txBody>
      </p:sp>
      <p:sp>
        <p:nvSpPr>
          <p:cNvPr id="10" name="TextBox 9">
            <a:extLst>
              <a:ext uri="{FF2B5EF4-FFF2-40B4-BE49-F238E27FC236}">
                <a16:creationId xmlns:a16="http://schemas.microsoft.com/office/drawing/2014/main" id="{687DDEF6-771A-5D48-B1EE-4F9A8E94E766}"/>
              </a:ext>
            </a:extLst>
          </p:cNvPr>
          <p:cNvSpPr txBox="1"/>
          <p:nvPr/>
        </p:nvSpPr>
        <p:spPr>
          <a:xfrm>
            <a:off x="10964660" y="3373588"/>
            <a:ext cx="483439" cy="460658"/>
          </a:xfrm>
          <a:prstGeom prst="rect">
            <a:avLst/>
          </a:prstGeom>
          <a:noFill/>
        </p:spPr>
        <p:txBody>
          <a:bodyPr wrap="none" rtlCol="0">
            <a:spAutoFit/>
          </a:bodyPr>
          <a:lstStyle/>
          <a:p>
            <a:r>
              <a:rPr lang="en-CN" sz="2000" dirty="0"/>
              <a:t>40</a:t>
            </a:r>
          </a:p>
        </p:txBody>
      </p:sp>
      <p:sp>
        <p:nvSpPr>
          <p:cNvPr id="11" name="TextBox 10">
            <a:extLst>
              <a:ext uri="{FF2B5EF4-FFF2-40B4-BE49-F238E27FC236}">
                <a16:creationId xmlns:a16="http://schemas.microsoft.com/office/drawing/2014/main" id="{798F458D-DDA3-C387-E2A8-483FC304A892}"/>
              </a:ext>
            </a:extLst>
          </p:cNvPr>
          <p:cNvSpPr txBox="1"/>
          <p:nvPr/>
        </p:nvSpPr>
        <p:spPr>
          <a:xfrm>
            <a:off x="10964660" y="4115504"/>
            <a:ext cx="483439" cy="460658"/>
          </a:xfrm>
          <a:prstGeom prst="rect">
            <a:avLst/>
          </a:prstGeom>
          <a:noFill/>
        </p:spPr>
        <p:txBody>
          <a:bodyPr wrap="none" rtlCol="0">
            <a:spAutoFit/>
          </a:bodyPr>
          <a:lstStyle/>
          <a:p>
            <a:r>
              <a:rPr lang="en-CN" sz="2000" dirty="0"/>
              <a:t>20</a:t>
            </a:r>
          </a:p>
        </p:txBody>
      </p:sp>
      <p:sp>
        <p:nvSpPr>
          <p:cNvPr id="12" name="TextBox 11">
            <a:extLst>
              <a:ext uri="{FF2B5EF4-FFF2-40B4-BE49-F238E27FC236}">
                <a16:creationId xmlns:a16="http://schemas.microsoft.com/office/drawing/2014/main" id="{B0A42190-2AEC-6144-945B-370008E69E3A}"/>
              </a:ext>
            </a:extLst>
          </p:cNvPr>
          <p:cNvSpPr txBox="1"/>
          <p:nvPr/>
        </p:nvSpPr>
        <p:spPr>
          <a:xfrm>
            <a:off x="11089571" y="4808944"/>
            <a:ext cx="339358" cy="460658"/>
          </a:xfrm>
          <a:prstGeom prst="rect">
            <a:avLst/>
          </a:prstGeom>
          <a:noFill/>
        </p:spPr>
        <p:txBody>
          <a:bodyPr wrap="none" rtlCol="0">
            <a:spAutoFit/>
          </a:bodyPr>
          <a:lstStyle/>
          <a:p>
            <a:r>
              <a:rPr lang="en-CN" sz="2000" dirty="0"/>
              <a:t>0</a:t>
            </a:r>
          </a:p>
        </p:txBody>
      </p:sp>
      <p:sp>
        <p:nvSpPr>
          <p:cNvPr id="13" name="TextBox 12">
            <a:extLst>
              <a:ext uri="{FF2B5EF4-FFF2-40B4-BE49-F238E27FC236}">
                <a16:creationId xmlns:a16="http://schemas.microsoft.com/office/drawing/2014/main" id="{4EE3601B-3C5F-70BD-65F8-E407C74043FD}"/>
              </a:ext>
            </a:extLst>
          </p:cNvPr>
          <p:cNvSpPr txBox="1"/>
          <p:nvPr/>
        </p:nvSpPr>
        <p:spPr>
          <a:xfrm rot="16200000">
            <a:off x="9080367" y="2326959"/>
            <a:ext cx="5256152" cy="488186"/>
          </a:xfrm>
          <a:prstGeom prst="rect">
            <a:avLst/>
          </a:prstGeom>
          <a:noFill/>
        </p:spPr>
        <p:txBody>
          <a:bodyPr wrap="none" rtlCol="0">
            <a:spAutoFit/>
          </a:bodyPr>
          <a:lstStyle/>
          <a:p>
            <a:r>
              <a:rPr lang="en-CN" sz="2400" b="1" dirty="0">
                <a:solidFill>
                  <a:schemeClr val="accent4"/>
                </a:solidFill>
              </a:rPr>
              <a:t>Memory Capacity per Core (GB)</a:t>
            </a:r>
          </a:p>
        </p:txBody>
      </p:sp>
      <p:sp>
        <p:nvSpPr>
          <p:cNvPr id="14" name="TextBox 13">
            <a:extLst>
              <a:ext uri="{FF2B5EF4-FFF2-40B4-BE49-F238E27FC236}">
                <a16:creationId xmlns:a16="http://schemas.microsoft.com/office/drawing/2014/main" id="{02F0EB9D-9E77-64F6-193C-917D2CD5DAB1}"/>
              </a:ext>
            </a:extLst>
          </p:cNvPr>
          <p:cNvSpPr txBox="1"/>
          <p:nvPr/>
        </p:nvSpPr>
        <p:spPr>
          <a:xfrm rot="16200000">
            <a:off x="-934350" y="2426743"/>
            <a:ext cx="2838584" cy="488186"/>
          </a:xfrm>
          <a:prstGeom prst="rect">
            <a:avLst/>
          </a:prstGeom>
          <a:noFill/>
        </p:spPr>
        <p:txBody>
          <a:bodyPr wrap="none" rtlCol="0">
            <a:spAutoFit/>
          </a:bodyPr>
          <a:lstStyle/>
          <a:p>
            <a:r>
              <a:rPr lang="en-CN" sz="2400" b="1" dirty="0">
                <a:solidFill>
                  <a:schemeClr val="accent5"/>
                </a:solidFill>
              </a:rPr>
              <a:t>CPU Core Count</a:t>
            </a:r>
          </a:p>
        </p:txBody>
      </p:sp>
      <p:sp>
        <p:nvSpPr>
          <p:cNvPr id="15" name="TextBox 14">
            <a:extLst>
              <a:ext uri="{FF2B5EF4-FFF2-40B4-BE49-F238E27FC236}">
                <a16:creationId xmlns:a16="http://schemas.microsoft.com/office/drawing/2014/main" id="{3D4AE07F-E4A2-2502-F32E-DE2FF8500603}"/>
              </a:ext>
            </a:extLst>
          </p:cNvPr>
          <p:cNvSpPr txBox="1"/>
          <p:nvPr/>
        </p:nvSpPr>
        <p:spPr>
          <a:xfrm>
            <a:off x="703170" y="396555"/>
            <a:ext cx="627522" cy="460658"/>
          </a:xfrm>
          <a:prstGeom prst="rect">
            <a:avLst/>
          </a:prstGeom>
          <a:noFill/>
        </p:spPr>
        <p:txBody>
          <a:bodyPr wrap="none" rtlCol="0">
            <a:spAutoFit/>
          </a:bodyPr>
          <a:lstStyle/>
          <a:p>
            <a:r>
              <a:rPr lang="en-CN" sz="2000" dirty="0"/>
              <a:t>300</a:t>
            </a:r>
          </a:p>
        </p:txBody>
      </p:sp>
      <p:sp>
        <p:nvSpPr>
          <p:cNvPr id="16" name="TextBox 15">
            <a:extLst>
              <a:ext uri="{FF2B5EF4-FFF2-40B4-BE49-F238E27FC236}">
                <a16:creationId xmlns:a16="http://schemas.microsoft.com/office/drawing/2014/main" id="{E64F7231-DDE6-5A4B-3259-71297FE6FB9D}"/>
              </a:ext>
            </a:extLst>
          </p:cNvPr>
          <p:cNvSpPr txBox="1"/>
          <p:nvPr/>
        </p:nvSpPr>
        <p:spPr>
          <a:xfrm>
            <a:off x="712988" y="1148787"/>
            <a:ext cx="627522" cy="460658"/>
          </a:xfrm>
          <a:prstGeom prst="rect">
            <a:avLst/>
          </a:prstGeom>
          <a:noFill/>
        </p:spPr>
        <p:txBody>
          <a:bodyPr wrap="none" rtlCol="0">
            <a:spAutoFit/>
          </a:bodyPr>
          <a:lstStyle/>
          <a:p>
            <a:r>
              <a:rPr lang="en-CN" sz="2000" dirty="0"/>
              <a:t>250</a:t>
            </a:r>
          </a:p>
        </p:txBody>
      </p:sp>
      <p:sp>
        <p:nvSpPr>
          <p:cNvPr id="17" name="TextBox 16">
            <a:extLst>
              <a:ext uri="{FF2B5EF4-FFF2-40B4-BE49-F238E27FC236}">
                <a16:creationId xmlns:a16="http://schemas.microsoft.com/office/drawing/2014/main" id="{5CAAFC49-E6D9-6782-E2C2-4E34B32322C5}"/>
              </a:ext>
            </a:extLst>
          </p:cNvPr>
          <p:cNvSpPr txBox="1"/>
          <p:nvPr/>
        </p:nvSpPr>
        <p:spPr>
          <a:xfrm>
            <a:off x="712988" y="1901020"/>
            <a:ext cx="627522" cy="460658"/>
          </a:xfrm>
          <a:prstGeom prst="rect">
            <a:avLst/>
          </a:prstGeom>
          <a:noFill/>
        </p:spPr>
        <p:txBody>
          <a:bodyPr wrap="none" rtlCol="0">
            <a:spAutoFit/>
          </a:bodyPr>
          <a:lstStyle/>
          <a:p>
            <a:r>
              <a:rPr lang="en-CN" sz="2000" dirty="0"/>
              <a:t>200</a:t>
            </a:r>
          </a:p>
        </p:txBody>
      </p:sp>
      <p:sp>
        <p:nvSpPr>
          <p:cNvPr id="18" name="TextBox 17">
            <a:extLst>
              <a:ext uri="{FF2B5EF4-FFF2-40B4-BE49-F238E27FC236}">
                <a16:creationId xmlns:a16="http://schemas.microsoft.com/office/drawing/2014/main" id="{2DD800F9-8316-FE9F-8723-0BD82BCEAF08}"/>
              </a:ext>
            </a:extLst>
          </p:cNvPr>
          <p:cNvSpPr txBox="1"/>
          <p:nvPr/>
        </p:nvSpPr>
        <p:spPr>
          <a:xfrm>
            <a:off x="712988" y="2702194"/>
            <a:ext cx="627522" cy="460658"/>
          </a:xfrm>
          <a:prstGeom prst="rect">
            <a:avLst/>
          </a:prstGeom>
          <a:noFill/>
        </p:spPr>
        <p:txBody>
          <a:bodyPr wrap="none" rtlCol="0">
            <a:spAutoFit/>
          </a:bodyPr>
          <a:lstStyle/>
          <a:p>
            <a:r>
              <a:rPr lang="en-CN" sz="2000" dirty="0"/>
              <a:t>150</a:t>
            </a:r>
          </a:p>
        </p:txBody>
      </p:sp>
      <p:sp>
        <p:nvSpPr>
          <p:cNvPr id="19" name="TextBox 18">
            <a:extLst>
              <a:ext uri="{FF2B5EF4-FFF2-40B4-BE49-F238E27FC236}">
                <a16:creationId xmlns:a16="http://schemas.microsoft.com/office/drawing/2014/main" id="{7998790E-A7B4-48E1-5275-39E3FA3C3E4F}"/>
              </a:ext>
            </a:extLst>
          </p:cNvPr>
          <p:cNvSpPr txBox="1"/>
          <p:nvPr/>
        </p:nvSpPr>
        <p:spPr>
          <a:xfrm>
            <a:off x="712988" y="3404946"/>
            <a:ext cx="627522" cy="460658"/>
          </a:xfrm>
          <a:prstGeom prst="rect">
            <a:avLst/>
          </a:prstGeom>
          <a:noFill/>
        </p:spPr>
        <p:txBody>
          <a:bodyPr wrap="none" rtlCol="0">
            <a:spAutoFit/>
          </a:bodyPr>
          <a:lstStyle/>
          <a:p>
            <a:r>
              <a:rPr lang="en-CN" sz="2000" dirty="0"/>
              <a:t>100</a:t>
            </a:r>
          </a:p>
        </p:txBody>
      </p:sp>
      <p:sp>
        <p:nvSpPr>
          <p:cNvPr id="20" name="TextBox 19">
            <a:extLst>
              <a:ext uri="{FF2B5EF4-FFF2-40B4-BE49-F238E27FC236}">
                <a16:creationId xmlns:a16="http://schemas.microsoft.com/office/drawing/2014/main" id="{698652EA-1DC0-CA4C-116D-8CFB956771CE}"/>
              </a:ext>
            </a:extLst>
          </p:cNvPr>
          <p:cNvSpPr txBox="1"/>
          <p:nvPr/>
        </p:nvSpPr>
        <p:spPr>
          <a:xfrm>
            <a:off x="857071" y="4134764"/>
            <a:ext cx="483439" cy="460658"/>
          </a:xfrm>
          <a:prstGeom prst="rect">
            <a:avLst/>
          </a:prstGeom>
          <a:noFill/>
        </p:spPr>
        <p:txBody>
          <a:bodyPr wrap="none" rtlCol="0">
            <a:spAutoFit/>
          </a:bodyPr>
          <a:lstStyle/>
          <a:p>
            <a:r>
              <a:rPr lang="en-CN" sz="2000" dirty="0"/>
              <a:t>50</a:t>
            </a:r>
          </a:p>
        </p:txBody>
      </p:sp>
      <p:sp>
        <p:nvSpPr>
          <p:cNvPr id="21" name="TextBox 20">
            <a:extLst>
              <a:ext uri="{FF2B5EF4-FFF2-40B4-BE49-F238E27FC236}">
                <a16:creationId xmlns:a16="http://schemas.microsoft.com/office/drawing/2014/main" id="{38825D0C-0383-7C11-2E80-9C9A21B2289A}"/>
              </a:ext>
            </a:extLst>
          </p:cNvPr>
          <p:cNvSpPr txBox="1"/>
          <p:nvPr/>
        </p:nvSpPr>
        <p:spPr>
          <a:xfrm>
            <a:off x="981982" y="4828204"/>
            <a:ext cx="339358" cy="460658"/>
          </a:xfrm>
          <a:prstGeom prst="rect">
            <a:avLst/>
          </a:prstGeom>
          <a:noFill/>
        </p:spPr>
        <p:txBody>
          <a:bodyPr wrap="none" rtlCol="0">
            <a:spAutoFit/>
          </a:bodyPr>
          <a:lstStyle/>
          <a:p>
            <a:r>
              <a:rPr lang="en-CN" sz="2000" dirty="0"/>
              <a:t>0</a:t>
            </a:r>
          </a:p>
        </p:txBody>
      </p:sp>
      <p:sp>
        <p:nvSpPr>
          <p:cNvPr id="22" name="TextBox 21">
            <a:extLst>
              <a:ext uri="{FF2B5EF4-FFF2-40B4-BE49-F238E27FC236}">
                <a16:creationId xmlns:a16="http://schemas.microsoft.com/office/drawing/2014/main" id="{EBC9E1B3-227C-AF38-C04C-75B944D51250}"/>
              </a:ext>
            </a:extLst>
          </p:cNvPr>
          <p:cNvSpPr txBox="1"/>
          <p:nvPr/>
        </p:nvSpPr>
        <p:spPr>
          <a:xfrm rot="3373982">
            <a:off x="1084881" y="5446055"/>
            <a:ext cx="840110" cy="423095"/>
          </a:xfrm>
          <a:prstGeom prst="rect">
            <a:avLst/>
          </a:prstGeom>
          <a:solidFill>
            <a:schemeClr val="bg1"/>
          </a:solidFill>
        </p:spPr>
        <p:txBody>
          <a:bodyPr wrap="none" rtlCol="0">
            <a:spAutoFit/>
          </a:bodyPr>
          <a:lstStyle/>
          <a:p>
            <a:r>
              <a:rPr lang="en-CN" sz="2000" dirty="0"/>
              <a:t>2012</a:t>
            </a:r>
          </a:p>
        </p:txBody>
      </p:sp>
      <p:sp>
        <p:nvSpPr>
          <p:cNvPr id="30" name="TextBox 29">
            <a:extLst>
              <a:ext uri="{FF2B5EF4-FFF2-40B4-BE49-F238E27FC236}">
                <a16:creationId xmlns:a16="http://schemas.microsoft.com/office/drawing/2014/main" id="{64384F93-A4F0-2A63-DAC3-3514975666D8}"/>
              </a:ext>
            </a:extLst>
          </p:cNvPr>
          <p:cNvSpPr txBox="1"/>
          <p:nvPr/>
        </p:nvSpPr>
        <p:spPr>
          <a:xfrm rot="3373982">
            <a:off x="1802956" y="5446057"/>
            <a:ext cx="840110" cy="423095"/>
          </a:xfrm>
          <a:prstGeom prst="rect">
            <a:avLst/>
          </a:prstGeom>
          <a:solidFill>
            <a:schemeClr val="bg1"/>
          </a:solidFill>
        </p:spPr>
        <p:txBody>
          <a:bodyPr wrap="none" rtlCol="0">
            <a:spAutoFit/>
          </a:bodyPr>
          <a:lstStyle/>
          <a:p>
            <a:r>
              <a:rPr lang="en-CN" sz="2000" dirty="0"/>
              <a:t>2013</a:t>
            </a:r>
          </a:p>
        </p:txBody>
      </p:sp>
      <p:sp>
        <p:nvSpPr>
          <p:cNvPr id="31" name="TextBox 30">
            <a:extLst>
              <a:ext uri="{FF2B5EF4-FFF2-40B4-BE49-F238E27FC236}">
                <a16:creationId xmlns:a16="http://schemas.microsoft.com/office/drawing/2014/main" id="{0F2E5CAF-2AA6-8AAD-C8F2-9DDFE55E2E0A}"/>
              </a:ext>
            </a:extLst>
          </p:cNvPr>
          <p:cNvSpPr txBox="1"/>
          <p:nvPr/>
        </p:nvSpPr>
        <p:spPr>
          <a:xfrm rot="3373982">
            <a:off x="2466511" y="5446054"/>
            <a:ext cx="840110" cy="423095"/>
          </a:xfrm>
          <a:prstGeom prst="rect">
            <a:avLst/>
          </a:prstGeom>
          <a:solidFill>
            <a:schemeClr val="bg1"/>
          </a:solidFill>
        </p:spPr>
        <p:txBody>
          <a:bodyPr wrap="none" rtlCol="0">
            <a:spAutoFit/>
          </a:bodyPr>
          <a:lstStyle/>
          <a:p>
            <a:r>
              <a:rPr lang="en-CN" sz="2000" dirty="0"/>
              <a:t>2014</a:t>
            </a:r>
          </a:p>
        </p:txBody>
      </p:sp>
      <p:sp>
        <p:nvSpPr>
          <p:cNvPr id="32" name="TextBox 31">
            <a:extLst>
              <a:ext uri="{FF2B5EF4-FFF2-40B4-BE49-F238E27FC236}">
                <a16:creationId xmlns:a16="http://schemas.microsoft.com/office/drawing/2014/main" id="{05077872-14F9-A21A-4F70-42DC949C71B0}"/>
              </a:ext>
            </a:extLst>
          </p:cNvPr>
          <p:cNvSpPr txBox="1"/>
          <p:nvPr/>
        </p:nvSpPr>
        <p:spPr>
          <a:xfrm rot="3373982">
            <a:off x="3135431" y="5442757"/>
            <a:ext cx="840110" cy="423095"/>
          </a:xfrm>
          <a:prstGeom prst="rect">
            <a:avLst/>
          </a:prstGeom>
          <a:solidFill>
            <a:schemeClr val="bg1"/>
          </a:solidFill>
        </p:spPr>
        <p:txBody>
          <a:bodyPr wrap="none" rtlCol="0">
            <a:spAutoFit/>
          </a:bodyPr>
          <a:lstStyle/>
          <a:p>
            <a:r>
              <a:rPr lang="en-CN" sz="2000" dirty="0"/>
              <a:t>2015</a:t>
            </a:r>
          </a:p>
        </p:txBody>
      </p:sp>
      <p:sp>
        <p:nvSpPr>
          <p:cNvPr id="33" name="TextBox 32">
            <a:extLst>
              <a:ext uri="{FF2B5EF4-FFF2-40B4-BE49-F238E27FC236}">
                <a16:creationId xmlns:a16="http://schemas.microsoft.com/office/drawing/2014/main" id="{B9133783-EDC3-170B-E689-EB3298933C89}"/>
              </a:ext>
            </a:extLst>
          </p:cNvPr>
          <p:cNvSpPr txBox="1"/>
          <p:nvPr/>
        </p:nvSpPr>
        <p:spPr>
          <a:xfrm rot="3373982">
            <a:off x="3874396" y="5439458"/>
            <a:ext cx="840110" cy="423095"/>
          </a:xfrm>
          <a:prstGeom prst="rect">
            <a:avLst/>
          </a:prstGeom>
          <a:solidFill>
            <a:schemeClr val="bg1"/>
          </a:solidFill>
        </p:spPr>
        <p:txBody>
          <a:bodyPr wrap="none" rtlCol="0">
            <a:spAutoFit/>
          </a:bodyPr>
          <a:lstStyle/>
          <a:p>
            <a:r>
              <a:rPr lang="en-CN" sz="2000" dirty="0"/>
              <a:t>2016</a:t>
            </a:r>
          </a:p>
        </p:txBody>
      </p:sp>
      <p:sp>
        <p:nvSpPr>
          <p:cNvPr id="34" name="TextBox 33">
            <a:extLst>
              <a:ext uri="{FF2B5EF4-FFF2-40B4-BE49-F238E27FC236}">
                <a16:creationId xmlns:a16="http://schemas.microsoft.com/office/drawing/2014/main" id="{C6210AC3-3F44-B4CF-B801-23FE4D618237}"/>
              </a:ext>
            </a:extLst>
          </p:cNvPr>
          <p:cNvSpPr txBox="1"/>
          <p:nvPr/>
        </p:nvSpPr>
        <p:spPr>
          <a:xfrm rot="3373982">
            <a:off x="4580385" y="5446736"/>
            <a:ext cx="840110" cy="423095"/>
          </a:xfrm>
          <a:prstGeom prst="rect">
            <a:avLst/>
          </a:prstGeom>
          <a:solidFill>
            <a:schemeClr val="bg1"/>
          </a:solidFill>
        </p:spPr>
        <p:txBody>
          <a:bodyPr wrap="none" rtlCol="0">
            <a:spAutoFit/>
          </a:bodyPr>
          <a:lstStyle/>
          <a:p>
            <a:r>
              <a:rPr lang="en-CN" sz="2000" dirty="0"/>
              <a:t>2017</a:t>
            </a:r>
          </a:p>
        </p:txBody>
      </p:sp>
      <p:sp>
        <p:nvSpPr>
          <p:cNvPr id="35" name="TextBox 34">
            <a:extLst>
              <a:ext uri="{FF2B5EF4-FFF2-40B4-BE49-F238E27FC236}">
                <a16:creationId xmlns:a16="http://schemas.microsoft.com/office/drawing/2014/main" id="{6066CA28-1BE0-496D-0A61-491603FAE3DB}"/>
              </a:ext>
            </a:extLst>
          </p:cNvPr>
          <p:cNvSpPr txBox="1"/>
          <p:nvPr/>
        </p:nvSpPr>
        <p:spPr>
          <a:xfrm rot="3373982">
            <a:off x="5284442" y="5439457"/>
            <a:ext cx="840110" cy="423095"/>
          </a:xfrm>
          <a:prstGeom prst="rect">
            <a:avLst/>
          </a:prstGeom>
          <a:solidFill>
            <a:schemeClr val="bg1"/>
          </a:solidFill>
        </p:spPr>
        <p:txBody>
          <a:bodyPr wrap="none" rtlCol="0">
            <a:spAutoFit/>
          </a:bodyPr>
          <a:lstStyle/>
          <a:p>
            <a:r>
              <a:rPr lang="en-CN" sz="2000" dirty="0"/>
              <a:t>2018</a:t>
            </a:r>
          </a:p>
        </p:txBody>
      </p:sp>
      <p:sp>
        <p:nvSpPr>
          <p:cNvPr id="36" name="TextBox 35">
            <a:extLst>
              <a:ext uri="{FF2B5EF4-FFF2-40B4-BE49-F238E27FC236}">
                <a16:creationId xmlns:a16="http://schemas.microsoft.com/office/drawing/2014/main" id="{57900420-2C18-5360-4189-B047171C4AD0}"/>
              </a:ext>
            </a:extLst>
          </p:cNvPr>
          <p:cNvSpPr txBox="1"/>
          <p:nvPr/>
        </p:nvSpPr>
        <p:spPr>
          <a:xfrm rot="3373982">
            <a:off x="6036768" y="5439456"/>
            <a:ext cx="840110" cy="423095"/>
          </a:xfrm>
          <a:prstGeom prst="rect">
            <a:avLst/>
          </a:prstGeom>
          <a:solidFill>
            <a:schemeClr val="bg1"/>
          </a:solidFill>
        </p:spPr>
        <p:txBody>
          <a:bodyPr wrap="none" rtlCol="0">
            <a:spAutoFit/>
          </a:bodyPr>
          <a:lstStyle/>
          <a:p>
            <a:r>
              <a:rPr lang="en-CN" sz="2000" dirty="0"/>
              <a:t>2019</a:t>
            </a:r>
          </a:p>
        </p:txBody>
      </p:sp>
      <p:sp>
        <p:nvSpPr>
          <p:cNvPr id="37" name="TextBox 36">
            <a:extLst>
              <a:ext uri="{FF2B5EF4-FFF2-40B4-BE49-F238E27FC236}">
                <a16:creationId xmlns:a16="http://schemas.microsoft.com/office/drawing/2014/main" id="{E218308C-4AC2-7DB7-6586-2D2820430845}"/>
              </a:ext>
            </a:extLst>
          </p:cNvPr>
          <p:cNvSpPr txBox="1"/>
          <p:nvPr/>
        </p:nvSpPr>
        <p:spPr>
          <a:xfrm rot="3373982">
            <a:off x="6692327" y="5439456"/>
            <a:ext cx="840110" cy="423095"/>
          </a:xfrm>
          <a:prstGeom prst="rect">
            <a:avLst/>
          </a:prstGeom>
          <a:solidFill>
            <a:schemeClr val="bg1"/>
          </a:solidFill>
        </p:spPr>
        <p:txBody>
          <a:bodyPr wrap="none" rtlCol="0">
            <a:spAutoFit/>
          </a:bodyPr>
          <a:lstStyle/>
          <a:p>
            <a:r>
              <a:rPr lang="en-CN" sz="2000" dirty="0"/>
              <a:t>2020</a:t>
            </a:r>
          </a:p>
        </p:txBody>
      </p:sp>
      <p:sp>
        <p:nvSpPr>
          <p:cNvPr id="38" name="TextBox 37">
            <a:extLst>
              <a:ext uri="{FF2B5EF4-FFF2-40B4-BE49-F238E27FC236}">
                <a16:creationId xmlns:a16="http://schemas.microsoft.com/office/drawing/2014/main" id="{EBDEF184-5A57-2674-AB08-3CA10708A6A8}"/>
              </a:ext>
            </a:extLst>
          </p:cNvPr>
          <p:cNvSpPr txBox="1"/>
          <p:nvPr/>
        </p:nvSpPr>
        <p:spPr>
          <a:xfrm rot="3373982">
            <a:off x="7418397" y="5440139"/>
            <a:ext cx="840110" cy="423095"/>
          </a:xfrm>
          <a:prstGeom prst="rect">
            <a:avLst/>
          </a:prstGeom>
          <a:solidFill>
            <a:schemeClr val="bg1"/>
          </a:solidFill>
        </p:spPr>
        <p:txBody>
          <a:bodyPr wrap="none" rtlCol="0">
            <a:spAutoFit/>
          </a:bodyPr>
          <a:lstStyle/>
          <a:p>
            <a:r>
              <a:rPr lang="en-CN" sz="2000" dirty="0"/>
              <a:t>2021</a:t>
            </a:r>
          </a:p>
        </p:txBody>
      </p:sp>
      <p:sp>
        <p:nvSpPr>
          <p:cNvPr id="39" name="TextBox 38">
            <a:extLst>
              <a:ext uri="{FF2B5EF4-FFF2-40B4-BE49-F238E27FC236}">
                <a16:creationId xmlns:a16="http://schemas.microsoft.com/office/drawing/2014/main" id="{B5930B89-8C0E-3534-16F3-F0F3CDBFB4F4}"/>
              </a:ext>
            </a:extLst>
          </p:cNvPr>
          <p:cNvSpPr txBox="1"/>
          <p:nvPr/>
        </p:nvSpPr>
        <p:spPr>
          <a:xfrm rot="3373982">
            <a:off x="8085065" y="5440140"/>
            <a:ext cx="840110" cy="423095"/>
          </a:xfrm>
          <a:prstGeom prst="rect">
            <a:avLst/>
          </a:prstGeom>
          <a:solidFill>
            <a:schemeClr val="bg1"/>
          </a:solidFill>
        </p:spPr>
        <p:txBody>
          <a:bodyPr wrap="none" rtlCol="0">
            <a:spAutoFit/>
          </a:bodyPr>
          <a:lstStyle/>
          <a:p>
            <a:r>
              <a:rPr lang="en-CN" sz="2000" dirty="0"/>
              <a:t>2022</a:t>
            </a:r>
          </a:p>
        </p:txBody>
      </p:sp>
      <p:sp>
        <p:nvSpPr>
          <p:cNvPr id="40" name="TextBox 39">
            <a:extLst>
              <a:ext uri="{FF2B5EF4-FFF2-40B4-BE49-F238E27FC236}">
                <a16:creationId xmlns:a16="http://schemas.microsoft.com/office/drawing/2014/main" id="{692BC4C6-570C-CB5D-BDDB-7C49057EF73B}"/>
              </a:ext>
            </a:extLst>
          </p:cNvPr>
          <p:cNvSpPr txBox="1"/>
          <p:nvPr/>
        </p:nvSpPr>
        <p:spPr>
          <a:xfrm rot="3373982">
            <a:off x="8809225" y="5439457"/>
            <a:ext cx="840110" cy="423095"/>
          </a:xfrm>
          <a:prstGeom prst="rect">
            <a:avLst/>
          </a:prstGeom>
          <a:solidFill>
            <a:schemeClr val="bg1"/>
          </a:solidFill>
        </p:spPr>
        <p:txBody>
          <a:bodyPr wrap="none" rtlCol="0">
            <a:spAutoFit/>
          </a:bodyPr>
          <a:lstStyle/>
          <a:p>
            <a:r>
              <a:rPr lang="en-CN" sz="2000" dirty="0"/>
              <a:t>2023</a:t>
            </a:r>
          </a:p>
        </p:txBody>
      </p:sp>
      <p:pic>
        <p:nvPicPr>
          <p:cNvPr id="46" name="Picture 45">
            <a:extLst>
              <a:ext uri="{FF2B5EF4-FFF2-40B4-BE49-F238E27FC236}">
                <a16:creationId xmlns:a16="http://schemas.microsoft.com/office/drawing/2014/main" id="{0A9C73DB-A13B-6C31-5D0C-282AD8A9F5DC}"/>
              </a:ext>
            </a:extLst>
          </p:cNvPr>
          <p:cNvPicPr>
            <a:picLocks noChangeAspect="1"/>
          </p:cNvPicPr>
          <p:nvPr/>
        </p:nvPicPr>
        <p:blipFill>
          <a:blip r:embed="rId5"/>
          <a:stretch>
            <a:fillRect/>
          </a:stretch>
        </p:blipFill>
        <p:spPr>
          <a:xfrm>
            <a:off x="8808675" y="4461298"/>
            <a:ext cx="2194533" cy="547286"/>
          </a:xfrm>
          <a:prstGeom prst="rect">
            <a:avLst/>
          </a:prstGeom>
        </p:spPr>
      </p:pic>
      <p:sp>
        <p:nvSpPr>
          <p:cNvPr id="47" name="TextBox 46">
            <a:extLst>
              <a:ext uri="{FF2B5EF4-FFF2-40B4-BE49-F238E27FC236}">
                <a16:creationId xmlns:a16="http://schemas.microsoft.com/office/drawing/2014/main" id="{64D076FF-8D1C-F3A3-C325-DB6A32C28669}"/>
              </a:ext>
            </a:extLst>
          </p:cNvPr>
          <p:cNvSpPr txBox="1"/>
          <p:nvPr/>
        </p:nvSpPr>
        <p:spPr>
          <a:xfrm>
            <a:off x="1922909" y="705549"/>
            <a:ext cx="8229817" cy="646331"/>
          </a:xfrm>
          <a:prstGeom prst="rect">
            <a:avLst/>
          </a:prstGeom>
          <a:noFill/>
        </p:spPr>
        <p:txBody>
          <a:bodyPr wrap="none" rtlCol="0">
            <a:spAutoFit/>
          </a:bodyPr>
          <a:lstStyle/>
          <a:p>
            <a:r>
              <a:rPr lang="en-CN" sz="3600" dirty="0">
                <a:solidFill>
                  <a:schemeClr val="accent5"/>
                </a:solidFill>
              </a:rPr>
              <a:t>CPU core count exponentially increasing</a:t>
            </a:r>
          </a:p>
        </p:txBody>
      </p:sp>
      <p:sp>
        <p:nvSpPr>
          <p:cNvPr id="48" name="TextBox 47">
            <a:extLst>
              <a:ext uri="{FF2B5EF4-FFF2-40B4-BE49-F238E27FC236}">
                <a16:creationId xmlns:a16="http://schemas.microsoft.com/office/drawing/2014/main" id="{2BAB40A8-D240-1137-866B-5C35828938CC}"/>
              </a:ext>
            </a:extLst>
          </p:cNvPr>
          <p:cNvSpPr txBox="1"/>
          <p:nvPr/>
        </p:nvSpPr>
        <p:spPr>
          <a:xfrm>
            <a:off x="1922909" y="1347649"/>
            <a:ext cx="7724935" cy="646331"/>
          </a:xfrm>
          <a:prstGeom prst="rect">
            <a:avLst/>
          </a:prstGeom>
          <a:noFill/>
        </p:spPr>
        <p:txBody>
          <a:bodyPr wrap="none" rtlCol="0">
            <a:spAutoFit/>
          </a:bodyPr>
          <a:lstStyle/>
          <a:p>
            <a:r>
              <a:rPr lang="en-CN" sz="3600" dirty="0">
                <a:solidFill>
                  <a:schemeClr val="accent4"/>
                </a:solidFill>
              </a:rPr>
              <a:t>Memory capacity per core decreasing </a:t>
            </a:r>
          </a:p>
        </p:txBody>
      </p:sp>
      <p:cxnSp>
        <p:nvCxnSpPr>
          <p:cNvPr id="51" name="Straight Connector 50">
            <a:extLst>
              <a:ext uri="{FF2B5EF4-FFF2-40B4-BE49-F238E27FC236}">
                <a16:creationId xmlns:a16="http://schemas.microsoft.com/office/drawing/2014/main" id="{8524B229-8F17-96FA-7785-E173389C52DD}"/>
              </a:ext>
            </a:extLst>
          </p:cNvPr>
          <p:cNvCxnSpPr/>
          <p:nvPr/>
        </p:nvCxnSpPr>
        <p:spPr>
          <a:xfrm>
            <a:off x="3022300" y="6311262"/>
            <a:ext cx="654519" cy="0"/>
          </a:xfrm>
          <a:prstGeom prst="line">
            <a:avLst/>
          </a:prstGeom>
          <a:ln w="57150">
            <a:solidFill>
              <a:schemeClr val="accent5"/>
            </a:solidFill>
          </a:ln>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E36738FA-7D15-0478-0F85-CBD6AF59C019}"/>
              </a:ext>
            </a:extLst>
          </p:cNvPr>
          <p:cNvSpPr/>
          <p:nvPr/>
        </p:nvSpPr>
        <p:spPr>
          <a:xfrm>
            <a:off x="3280456" y="6207792"/>
            <a:ext cx="153016" cy="18242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3" name="TextBox 52">
            <a:extLst>
              <a:ext uri="{FF2B5EF4-FFF2-40B4-BE49-F238E27FC236}">
                <a16:creationId xmlns:a16="http://schemas.microsoft.com/office/drawing/2014/main" id="{8F0380B9-AD70-CA94-2967-4D9F80ABB3B3}"/>
              </a:ext>
            </a:extLst>
          </p:cNvPr>
          <p:cNvSpPr txBox="1"/>
          <p:nvPr/>
        </p:nvSpPr>
        <p:spPr>
          <a:xfrm>
            <a:off x="3685855" y="6098650"/>
            <a:ext cx="1407330" cy="425223"/>
          </a:xfrm>
          <a:prstGeom prst="rect">
            <a:avLst/>
          </a:prstGeom>
          <a:noFill/>
        </p:spPr>
        <p:txBody>
          <a:bodyPr wrap="none" rtlCol="0">
            <a:spAutoFit/>
          </a:bodyPr>
          <a:lstStyle/>
          <a:p>
            <a:r>
              <a:rPr lang="en-CN" dirty="0">
                <a:solidFill>
                  <a:schemeClr val="accent5"/>
                </a:solidFill>
              </a:rPr>
              <a:t>Core Count</a:t>
            </a:r>
          </a:p>
        </p:txBody>
      </p:sp>
      <p:cxnSp>
        <p:nvCxnSpPr>
          <p:cNvPr id="54" name="Straight Connector 53">
            <a:extLst>
              <a:ext uri="{FF2B5EF4-FFF2-40B4-BE49-F238E27FC236}">
                <a16:creationId xmlns:a16="http://schemas.microsoft.com/office/drawing/2014/main" id="{6F1E8DDD-F8AF-2F0A-8B43-F2EB8A5482D3}"/>
              </a:ext>
            </a:extLst>
          </p:cNvPr>
          <p:cNvCxnSpPr/>
          <p:nvPr/>
        </p:nvCxnSpPr>
        <p:spPr>
          <a:xfrm>
            <a:off x="5928729" y="6311262"/>
            <a:ext cx="654519" cy="0"/>
          </a:xfrm>
          <a:prstGeom prst="line">
            <a:avLst/>
          </a:prstGeom>
          <a:ln w="57150">
            <a:solidFill>
              <a:schemeClr val="accent4"/>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1178BC79-9CE9-C769-3F73-CBEB4C507133}"/>
              </a:ext>
            </a:extLst>
          </p:cNvPr>
          <p:cNvSpPr/>
          <p:nvPr/>
        </p:nvSpPr>
        <p:spPr>
          <a:xfrm>
            <a:off x="6186885" y="6207792"/>
            <a:ext cx="153016" cy="182427"/>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6" name="TextBox 55">
            <a:extLst>
              <a:ext uri="{FF2B5EF4-FFF2-40B4-BE49-F238E27FC236}">
                <a16:creationId xmlns:a16="http://schemas.microsoft.com/office/drawing/2014/main" id="{1146480B-0DE4-01A8-BAF7-A2E9DEC49EE8}"/>
              </a:ext>
            </a:extLst>
          </p:cNvPr>
          <p:cNvSpPr txBox="1"/>
          <p:nvPr/>
        </p:nvSpPr>
        <p:spPr>
          <a:xfrm>
            <a:off x="6592283" y="6098650"/>
            <a:ext cx="3004375" cy="425223"/>
          </a:xfrm>
          <a:prstGeom prst="rect">
            <a:avLst/>
          </a:prstGeom>
          <a:noFill/>
        </p:spPr>
        <p:txBody>
          <a:bodyPr wrap="none" rtlCol="0">
            <a:spAutoFit/>
          </a:bodyPr>
          <a:lstStyle/>
          <a:p>
            <a:r>
              <a:rPr lang="en-CN" dirty="0">
                <a:solidFill>
                  <a:schemeClr val="accent4"/>
                </a:solidFill>
              </a:rPr>
              <a:t>Memory Capacity per Core</a:t>
            </a:r>
          </a:p>
        </p:txBody>
      </p:sp>
      <p:sp>
        <p:nvSpPr>
          <p:cNvPr id="3" name="TextBox 2">
            <a:extLst>
              <a:ext uri="{FF2B5EF4-FFF2-40B4-BE49-F238E27FC236}">
                <a16:creationId xmlns:a16="http://schemas.microsoft.com/office/drawing/2014/main" id="{A1D1C3F3-FCE0-B140-F778-D91769963689}"/>
              </a:ext>
            </a:extLst>
          </p:cNvPr>
          <p:cNvSpPr txBox="1"/>
          <p:nvPr/>
        </p:nvSpPr>
        <p:spPr>
          <a:xfrm rot="3373982">
            <a:off x="9541097" y="5405261"/>
            <a:ext cx="729687" cy="400110"/>
          </a:xfrm>
          <a:prstGeom prst="rect">
            <a:avLst/>
          </a:prstGeom>
          <a:solidFill>
            <a:schemeClr val="bg1"/>
          </a:solidFill>
        </p:spPr>
        <p:txBody>
          <a:bodyPr wrap="none" rtlCol="0">
            <a:spAutoFit/>
          </a:bodyPr>
          <a:lstStyle/>
          <a:p>
            <a:r>
              <a:rPr lang="en-CN" sz="2000" dirty="0"/>
              <a:t>2024</a:t>
            </a:r>
          </a:p>
        </p:txBody>
      </p:sp>
      <p:sp>
        <p:nvSpPr>
          <p:cNvPr id="23" name="TextBox 22">
            <a:extLst>
              <a:ext uri="{FF2B5EF4-FFF2-40B4-BE49-F238E27FC236}">
                <a16:creationId xmlns:a16="http://schemas.microsoft.com/office/drawing/2014/main" id="{E57A65EF-2C2D-EF4B-8855-A8BA241A9B21}"/>
              </a:ext>
            </a:extLst>
          </p:cNvPr>
          <p:cNvSpPr txBox="1"/>
          <p:nvPr/>
        </p:nvSpPr>
        <p:spPr>
          <a:xfrm rot="3373982">
            <a:off x="10251299" y="5411857"/>
            <a:ext cx="729687" cy="400110"/>
          </a:xfrm>
          <a:prstGeom prst="rect">
            <a:avLst/>
          </a:prstGeom>
          <a:solidFill>
            <a:schemeClr val="bg1"/>
          </a:solidFill>
        </p:spPr>
        <p:txBody>
          <a:bodyPr wrap="none" rtlCol="0">
            <a:spAutoFit/>
          </a:bodyPr>
          <a:lstStyle/>
          <a:p>
            <a:r>
              <a:rPr lang="en-CN" sz="2000" dirty="0"/>
              <a:t>2025</a:t>
            </a:r>
          </a:p>
        </p:txBody>
      </p:sp>
      <p:sp>
        <p:nvSpPr>
          <p:cNvPr id="24" name="TextBox 23">
            <a:extLst>
              <a:ext uri="{FF2B5EF4-FFF2-40B4-BE49-F238E27FC236}">
                <a16:creationId xmlns:a16="http://schemas.microsoft.com/office/drawing/2014/main" id="{4ABB11BE-2AAE-E090-4349-1DD270AF2C8E}"/>
              </a:ext>
            </a:extLst>
          </p:cNvPr>
          <p:cNvSpPr txBox="1"/>
          <p:nvPr/>
        </p:nvSpPr>
        <p:spPr>
          <a:xfrm>
            <a:off x="-68365" y="6619279"/>
            <a:ext cx="5772862" cy="307777"/>
          </a:xfrm>
          <a:prstGeom prst="rect">
            <a:avLst/>
          </a:prstGeom>
          <a:noFill/>
        </p:spPr>
        <p:txBody>
          <a:bodyPr wrap="none" rtlCol="0">
            <a:spAutoFit/>
          </a:bodyPr>
          <a:lstStyle/>
          <a:p>
            <a:r>
              <a:rPr lang="en-CN" sz="1400" dirty="0"/>
              <a:t>Source: </a:t>
            </a:r>
            <a:r>
              <a:rPr lang="en-US" sz="1400" dirty="0"/>
              <a:t>Micron’s Perspective on Impact of CXL on DRAM Bit Growth Rate</a:t>
            </a:r>
            <a:endParaRPr lang="en-CN" sz="1400" dirty="0"/>
          </a:p>
        </p:txBody>
      </p:sp>
    </p:spTree>
    <p:extLst>
      <p:ext uri="{BB962C8B-B14F-4D97-AF65-F5344CB8AC3E}">
        <p14:creationId xmlns:p14="http://schemas.microsoft.com/office/powerpoint/2010/main" val="4245938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500"/>
                                        <p:tgtEl>
                                          <p:spTgt spid="5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fade">
                                      <p:cBhvr>
                                        <p:cTn id="42" dur="500"/>
                                        <p:tgtEl>
                                          <p:spTgt spid="55"/>
                                        </p:tgtEl>
                                      </p:cBhvr>
                                    </p:animEffect>
                                  </p:childTnLst>
                                </p:cTn>
                              </p:par>
                              <p:par>
                                <p:cTn id="43" presetID="10" presetClass="entr" presetSubtype="0" fill="hold" nodeType="with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fade">
                                      <p:cBhvr>
                                        <p:cTn id="45" dur="500"/>
                                        <p:tgtEl>
                                          <p:spTgt spid="5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47" grpId="0"/>
      <p:bldP spid="48" grpId="0"/>
      <p:bldP spid="55" grpId="0" animBg="1"/>
      <p:bldP spid="5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3089A-A973-AAF3-9267-2CBBD0C3E92F}"/>
              </a:ext>
            </a:extLst>
          </p:cNvPr>
          <p:cNvSpPr>
            <a:spLocks noGrp="1"/>
          </p:cNvSpPr>
          <p:nvPr>
            <p:ph type="title"/>
          </p:nvPr>
        </p:nvSpPr>
        <p:spPr/>
        <p:txBody>
          <a:bodyPr/>
          <a:lstStyle/>
          <a:p>
            <a:r>
              <a:rPr lang="en-CN" dirty="0"/>
              <a:t>CXL Enables Memory Capacity Scaling</a:t>
            </a:r>
          </a:p>
        </p:txBody>
      </p:sp>
      <p:sp>
        <p:nvSpPr>
          <p:cNvPr id="4" name="Slide Number Placeholder 3">
            <a:extLst>
              <a:ext uri="{FF2B5EF4-FFF2-40B4-BE49-F238E27FC236}">
                <a16:creationId xmlns:a16="http://schemas.microsoft.com/office/drawing/2014/main" id="{92F72326-7497-B9B1-5DF4-68B46EA4F28D}"/>
              </a:ext>
            </a:extLst>
          </p:cNvPr>
          <p:cNvSpPr>
            <a:spLocks noGrp="1"/>
          </p:cNvSpPr>
          <p:nvPr>
            <p:ph type="sldNum" sz="quarter" idx="12"/>
          </p:nvPr>
        </p:nvSpPr>
        <p:spPr>
          <a:xfrm>
            <a:off x="8654989" y="6101017"/>
            <a:ext cx="2743200" cy="365125"/>
          </a:xfrm>
        </p:spPr>
        <p:txBody>
          <a:bodyPr/>
          <a:lstStyle/>
          <a:p>
            <a:fld id="{5D76F006-5496-B946-A476-FEDACCAB686D}" type="slidenum">
              <a:rPr lang="en-CN" smtClean="0"/>
              <a:t>4</a:t>
            </a:fld>
            <a:endParaRPr lang="en-CN"/>
          </a:p>
        </p:txBody>
      </p:sp>
      <p:grpSp>
        <p:nvGrpSpPr>
          <p:cNvPr id="5" name="Group 4">
            <a:extLst>
              <a:ext uri="{FF2B5EF4-FFF2-40B4-BE49-F238E27FC236}">
                <a16:creationId xmlns:a16="http://schemas.microsoft.com/office/drawing/2014/main" id="{E0071A64-DDDD-E722-63F6-39C33D556988}"/>
              </a:ext>
            </a:extLst>
          </p:cNvPr>
          <p:cNvGrpSpPr/>
          <p:nvPr/>
        </p:nvGrpSpPr>
        <p:grpSpPr>
          <a:xfrm>
            <a:off x="1541477" y="2666386"/>
            <a:ext cx="1256477" cy="1806512"/>
            <a:chOff x="3638550" y="1879600"/>
            <a:chExt cx="793750" cy="1117600"/>
          </a:xfrm>
        </p:grpSpPr>
        <p:cxnSp>
          <p:nvCxnSpPr>
            <p:cNvPr id="6" name="Straight Connector 5">
              <a:extLst>
                <a:ext uri="{FF2B5EF4-FFF2-40B4-BE49-F238E27FC236}">
                  <a16:creationId xmlns:a16="http://schemas.microsoft.com/office/drawing/2014/main" id="{7C9FF871-7647-4129-5CE7-B263DA78900D}"/>
                </a:ext>
              </a:extLst>
            </p:cNvPr>
            <p:cNvCxnSpPr/>
            <p:nvPr/>
          </p:nvCxnSpPr>
          <p:spPr>
            <a:xfrm flipH="1">
              <a:off x="3638550" y="187960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B352EF39-BF4A-40CF-79AC-C8753A2B1789}"/>
                </a:ext>
              </a:extLst>
            </p:cNvPr>
            <p:cNvCxnSpPr/>
            <p:nvPr/>
          </p:nvCxnSpPr>
          <p:spPr>
            <a:xfrm flipH="1">
              <a:off x="3638550" y="198755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FD052C49-FF18-C525-C24F-FCA0161E848C}"/>
                </a:ext>
              </a:extLst>
            </p:cNvPr>
            <p:cNvCxnSpPr/>
            <p:nvPr/>
          </p:nvCxnSpPr>
          <p:spPr>
            <a:xfrm flipH="1">
              <a:off x="3638550" y="208280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E902157D-0E81-B54E-EB4F-35372D387B53}"/>
                </a:ext>
              </a:extLst>
            </p:cNvPr>
            <p:cNvCxnSpPr/>
            <p:nvPr/>
          </p:nvCxnSpPr>
          <p:spPr>
            <a:xfrm flipH="1">
              <a:off x="3638550" y="219075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5AE77544-90F2-72FB-1AE7-DD3ECF7EA8D1}"/>
                </a:ext>
              </a:extLst>
            </p:cNvPr>
            <p:cNvCxnSpPr/>
            <p:nvPr/>
          </p:nvCxnSpPr>
          <p:spPr>
            <a:xfrm flipH="1">
              <a:off x="3638550" y="228600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4C25E3DC-58C1-4ED2-54AC-6DCFBA27A5B5}"/>
                </a:ext>
              </a:extLst>
            </p:cNvPr>
            <p:cNvCxnSpPr/>
            <p:nvPr/>
          </p:nvCxnSpPr>
          <p:spPr>
            <a:xfrm flipH="1">
              <a:off x="3638550" y="239395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689F909D-C6BD-8252-522F-FD0224A4EE90}"/>
                </a:ext>
              </a:extLst>
            </p:cNvPr>
            <p:cNvCxnSpPr/>
            <p:nvPr/>
          </p:nvCxnSpPr>
          <p:spPr>
            <a:xfrm flipH="1">
              <a:off x="3638550" y="248920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2ABE957C-C5BB-6AB2-86AC-25B1B8007F3E}"/>
                </a:ext>
              </a:extLst>
            </p:cNvPr>
            <p:cNvCxnSpPr/>
            <p:nvPr/>
          </p:nvCxnSpPr>
          <p:spPr>
            <a:xfrm flipH="1">
              <a:off x="3638550" y="259715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B2A38300-569B-7FA9-52AB-C06C4596DFB7}"/>
                </a:ext>
              </a:extLst>
            </p:cNvPr>
            <p:cNvCxnSpPr/>
            <p:nvPr/>
          </p:nvCxnSpPr>
          <p:spPr>
            <a:xfrm flipH="1">
              <a:off x="3638550" y="268605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BFD7E2D1-7DBD-BDDC-374E-1E32957E582E}"/>
                </a:ext>
              </a:extLst>
            </p:cNvPr>
            <p:cNvCxnSpPr/>
            <p:nvPr/>
          </p:nvCxnSpPr>
          <p:spPr>
            <a:xfrm flipH="1">
              <a:off x="3638550" y="279400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92B1CEB2-A786-22F3-7364-EB3621FE6E0C}"/>
                </a:ext>
              </a:extLst>
            </p:cNvPr>
            <p:cNvCxnSpPr/>
            <p:nvPr/>
          </p:nvCxnSpPr>
          <p:spPr>
            <a:xfrm flipH="1">
              <a:off x="3638550" y="2889250"/>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0356D61B-DF29-F027-76E2-B57472AE3DB6}"/>
                </a:ext>
              </a:extLst>
            </p:cNvPr>
            <p:cNvCxnSpPr/>
            <p:nvPr/>
          </p:nvCxnSpPr>
          <p:spPr>
            <a:xfrm flipH="1">
              <a:off x="3638550" y="2997200"/>
              <a:ext cx="793750" cy="0"/>
            </a:xfrm>
            <a:prstGeom prst="line">
              <a:avLst/>
            </a:prstGeom>
          </p:spPr>
          <p:style>
            <a:lnRef idx="2">
              <a:schemeClr val="dk1"/>
            </a:lnRef>
            <a:fillRef idx="0">
              <a:schemeClr val="dk1"/>
            </a:fillRef>
            <a:effectRef idx="1">
              <a:schemeClr val="dk1"/>
            </a:effectRef>
            <a:fontRef idx="minor">
              <a:schemeClr val="tx1"/>
            </a:fontRef>
          </p:style>
        </p:cxnSp>
      </p:grpSp>
      <p:pic>
        <p:nvPicPr>
          <p:cNvPr id="37" name="Graphic 36">
            <a:extLst>
              <a:ext uri="{FF2B5EF4-FFF2-40B4-BE49-F238E27FC236}">
                <a16:creationId xmlns:a16="http://schemas.microsoft.com/office/drawing/2014/main" id="{569674A9-B192-9BC0-3A38-57CBFBC7D2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621" y="2579139"/>
            <a:ext cx="692856" cy="2021753"/>
          </a:xfrm>
          <a:prstGeom prst="rect">
            <a:avLst/>
          </a:prstGeom>
        </p:spPr>
      </p:pic>
      <p:grpSp>
        <p:nvGrpSpPr>
          <p:cNvPr id="38" name="Group 37">
            <a:extLst>
              <a:ext uri="{FF2B5EF4-FFF2-40B4-BE49-F238E27FC236}">
                <a16:creationId xmlns:a16="http://schemas.microsoft.com/office/drawing/2014/main" id="{D603ABDA-9D99-8AF5-F401-EFB645ACC23A}"/>
              </a:ext>
            </a:extLst>
          </p:cNvPr>
          <p:cNvGrpSpPr/>
          <p:nvPr/>
        </p:nvGrpSpPr>
        <p:grpSpPr>
          <a:xfrm>
            <a:off x="2797954" y="2309407"/>
            <a:ext cx="2219416" cy="2535557"/>
            <a:chOff x="3785442" y="2827920"/>
            <a:chExt cx="1704910" cy="1568624"/>
          </a:xfrm>
        </p:grpSpPr>
        <p:sp>
          <p:nvSpPr>
            <p:cNvPr id="39" name="Freeform: Shape 19">
              <a:extLst>
                <a:ext uri="{FF2B5EF4-FFF2-40B4-BE49-F238E27FC236}">
                  <a16:creationId xmlns:a16="http://schemas.microsoft.com/office/drawing/2014/main" id="{E329FEB0-5C9E-3F22-A565-F0BB68A371F0}"/>
                </a:ext>
              </a:extLst>
            </p:cNvPr>
            <p:cNvSpPr/>
            <p:nvPr/>
          </p:nvSpPr>
          <p:spPr>
            <a:xfrm>
              <a:off x="3785442" y="2827920"/>
              <a:ext cx="1704910" cy="1568624"/>
            </a:xfrm>
            <a:custGeom>
              <a:avLst/>
              <a:gdLst>
                <a:gd name="connsiteX0" fmla="*/ 0 w 1704910"/>
                <a:gd name="connsiteY0" fmla="*/ 0 h 1568624"/>
                <a:gd name="connsiteX1" fmla="*/ 1704911 w 1704910"/>
                <a:gd name="connsiteY1" fmla="*/ 0 h 1568624"/>
                <a:gd name="connsiteX2" fmla="*/ 1704911 w 1704910"/>
                <a:gd name="connsiteY2" fmla="*/ 1568625 h 1568624"/>
                <a:gd name="connsiteX3" fmla="*/ 0 w 1704910"/>
                <a:gd name="connsiteY3" fmla="*/ 1568625 h 1568624"/>
              </a:gdLst>
              <a:ahLst/>
              <a:cxnLst>
                <a:cxn ang="0">
                  <a:pos x="connsiteX0" y="connsiteY0"/>
                </a:cxn>
                <a:cxn ang="0">
                  <a:pos x="connsiteX1" y="connsiteY1"/>
                </a:cxn>
                <a:cxn ang="0">
                  <a:pos x="connsiteX2" y="connsiteY2"/>
                </a:cxn>
                <a:cxn ang="0">
                  <a:pos x="connsiteX3" y="connsiteY3"/>
                </a:cxn>
              </a:cxnLst>
              <a:rect l="l" t="t" r="r" b="b"/>
              <a:pathLst>
                <a:path w="1704910" h="1568624">
                  <a:moveTo>
                    <a:pt x="0" y="0"/>
                  </a:moveTo>
                  <a:lnTo>
                    <a:pt x="1704911" y="0"/>
                  </a:lnTo>
                  <a:lnTo>
                    <a:pt x="1704911" y="1568625"/>
                  </a:lnTo>
                  <a:lnTo>
                    <a:pt x="0" y="1568625"/>
                  </a:lnTo>
                  <a:close/>
                </a:path>
              </a:pathLst>
            </a:custGeom>
            <a:solidFill>
              <a:srgbClr val="DADADA"/>
            </a:solidFill>
            <a:ln w="19050" cap="flat">
              <a:solidFill>
                <a:schemeClr val="tx1"/>
              </a:solidFill>
              <a:prstDash val="solid"/>
              <a:miter/>
            </a:ln>
          </p:spPr>
          <p:txBody>
            <a:bodyPr rtlCol="0" anchor="ctr"/>
            <a:lstStyle/>
            <a:p>
              <a:endParaRPr lang="en-US"/>
            </a:p>
          </p:txBody>
        </p:sp>
        <p:sp>
          <p:nvSpPr>
            <p:cNvPr id="40" name="TextBox 39">
              <a:extLst>
                <a:ext uri="{FF2B5EF4-FFF2-40B4-BE49-F238E27FC236}">
                  <a16:creationId xmlns:a16="http://schemas.microsoft.com/office/drawing/2014/main" id="{CB2834DF-702C-672E-B940-B6C53E9CBD80}"/>
                </a:ext>
              </a:extLst>
            </p:cNvPr>
            <p:cNvSpPr txBox="1"/>
            <p:nvPr/>
          </p:nvSpPr>
          <p:spPr>
            <a:xfrm>
              <a:off x="4233876" y="3183216"/>
              <a:ext cx="808041" cy="361771"/>
            </a:xfrm>
            <a:prstGeom prst="rect">
              <a:avLst/>
            </a:prstGeom>
            <a:noFill/>
          </p:spPr>
          <p:txBody>
            <a:bodyPr wrap="none" rtlCol="0" anchor="b">
              <a:spAutoFit/>
            </a:bodyPr>
            <a:lstStyle/>
            <a:p>
              <a:pPr algn="l"/>
              <a:r>
                <a:rPr lang="en-US" sz="4800" spc="0" baseline="20787" dirty="0">
                  <a:ln/>
                  <a:solidFill>
                    <a:srgbClr val="000000"/>
                  </a:solidFill>
                  <a:latin typeface="Arial"/>
                  <a:cs typeface="Arial"/>
                  <a:sym typeface="Arial"/>
                  <a:rtl val="0"/>
                </a:rPr>
                <a:t>CPU</a:t>
              </a:r>
            </a:p>
          </p:txBody>
        </p:sp>
        <p:sp>
          <p:nvSpPr>
            <p:cNvPr id="41" name="Freeform: Shape 21">
              <a:extLst>
                <a:ext uri="{FF2B5EF4-FFF2-40B4-BE49-F238E27FC236}">
                  <a16:creationId xmlns:a16="http://schemas.microsoft.com/office/drawing/2014/main" id="{C9AF7AD8-2926-710B-07E6-86B126C65C53}"/>
                </a:ext>
              </a:extLst>
            </p:cNvPr>
            <p:cNvSpPr/>
            <p:nvPr/>
          </p:nvSpPr>
          <p:spPr>
            <a:xfrm>
              <a:off x="4509174" y="3666417"/>
              <a:ext cx="266224" cy="539169"/>
            </a:xfrm>
            <a:custGeom>
              <a:avLst/>
              <a:gdLst>
                <a:gd name="connsiteX0" fmla="*/ 0 w 266224"/>
                <a:gd name="connsiteY0" fmla="*/ 0 h 539169"/>
                <a:gd name="connsiteX1" fmla="*/ 266224 w 266224"/>
                <a:gd name="connsiteY1" fmla="*/ 0 h 539169"/>
                <a:gd name="connsiteX2" fmla="*/ 266224 w 266224"/>
                <a:gd name="connsiteY2" fmla="*/ 539170 h 539169"/>
                <a:gd name="connsiteX3" fmla="*/ 0 w 266224"/>
                <a:gd name="connsiteY3" fmla="*/ 539170 h 539169"/>
              </a:gdLst>
              <a:ahLst/>
              <a:cxnLst>
                <a:cxn ang="0">
                  <a:pos x="connsiteX0" y="connsiteY0"/>
                </a:cxn>
                <a:cxn ang="0">
                  <a:pos x="connsiteX1" y="connsiteY1"/>
                </a:cxn>
                <a:cxn ang="0">
                  <a:pos x="connsiteX2" y="connsiteY2"/>
                </a:cxn>
                <a:cxn ang="0">
                  <a:pos x="connsiteX3" y="connsiteY3"/>
                </a:cxn>
              </a:cxnLst>
              <a:rect l="l" t="t" r="r" b="b"/>
              <a:pathLst>
                <a:path w="266224" h="539169">
                  <a:moveTo>
                    <a:pt x="0" y="0"/>
                  </a:moveTo>
                  <a:lnTo>
                    <a:pt x="266224" y="0"/>
                  </a:lnTo>
                  <a:lnTo>
                    <a:pt x="266224" y="539170"/>
                  </a:lnTo>
                  <a:lnTo>
                    <a:pt x="0" y="539170"/>
                  </a:lnTo>
                  <a:close/>
                </a:path>
              </a:pathLst>
            </a:custGeom>
            <a:solidFill>
              <a:srgbClr val="999999"/>
            </a:solidFill>
            <a:ln w="17207"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FF8B7990-5F3F-699A-7755-80004C864E92}"/>
                </a:ext>
              </a:extLst>
            </p:cNvPr>
            <p:cNvSpPr/>
            <p:nvPr/>
          </p:nvSpPr>
          <p:spPr>
            <a:xfrm>
              <a:off x="4873380" y="3664590"/>
              <a:ext cx="540734" cy="215734"/>
            </a:xfrm>
            <a:custGeom>
              <a:avLst/>
              <a:gdLst>
                <a:gd name="connsiteX0" fmla="*/ 539163 w 540734"/>
                <a:gd name="connsiteY0" fmla="*/ 0 h 215734"/>
                <a:gd name="connsiteX1" fmla="*/ 540735 w 540734"/>
                <a:gd name="connsiteY1" fmla="*/ 213911 h 215734"/>
                <a:gd name="connsiteX2" fmla="*/ 1571 w 540734"/>
                <a:gd name="connsiteY2" fmla="*/ 215735 h 215734"/>
                <a:gd name="connsiteX3" fmla="*/ 0 w 540734"/>
                <a:gd name="connsiteY3" fmla="*/ 1824 h 215734"/>
              </a:gdLst>
              <a:ahLst/>
              <a:cxnLst>
                <a:cxn ang="0">
                  <a:pos x="connsiteX0" y="connsiteY0"/>
                </a:cxn>
                <a:cxn ang="0">
                  <a:pos x="connsiteX1" y="connsiteY1"/>
                </a:cxn>
                <a:cxn ang="0">
                  <a:pos x="connsiteX2" y="connsiteY2"/>
                </a:cxn>
                <a:cxn ang="0">
                  <a:pos x="connsiteX3" y="connsiteY3"/>
                </a:cxn>
              </a:cxnLst>
              <a:rect l="l" t="t" r="r" b="b"/>
              <a:pathLst>
                <a:path w="540734" h="215734">
                  <a:moveTo>
                    <a:pt x="539163" y="0"/>
                  </a:moveTo>
                  <a:lnTo>
                    <a:pt x="540735" y="213911"/>
                  </a:lnTo>
                  <a:lnTo>
                    <a:pt x="1571" y="215735"/>
                  </a:lnTo>
                  <a:lnTo>
                    <a:pt x="0" y="1824"/>
                  </a:lnTo>
                  <a:close/>
                </a:path>
              </a:pathLst>
            </a:custGeom>
            <a:solidFill>
              <a:srgbClr val="999999"/>
            </a:solidFill>
            <a:ln w="15425"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1C399C38-2352-8D0A-55BB-DAA7917BB077}"/>
                </a:ext>
              </a:extLst>
            </p:cNvPr>
            <p:cNvSpPr/>
            <p:nvPr/>
          </p:nvSpPr>
          <p:spPr>
            <a:xfrm>
              <a:off x="4871815" y="3989849"/>
              <a:ext cx="540734" cy="215734"/>
            </a:xfrm>
            <a:custGeom>
              <a:avLst/>
              <a:gdLst>
                <a:gd name="connsiteX0" fmla="*/ 539163 w 540734"/>
                <a:gd name="connsiteY0" fmla="*/ 0 h 215734"/>
                <a:gd name="connsiteX1" fmla="*/ 540735 w 540734"/>
                <a:gd name="connsiteY1" fmla="*/ 213911 h 215734"/>
                <a:gd name="connsiteX2" fmla="*/ 1571 w 540734"/>
                <a:gd name="connsiteY2" fmla="*/ 215735 h 215734"/>
                <a:gd name="connsiteX3" fmla="*/ 0 w 540734"/>
                <a:gd name="connsiteY3" fmla="*/ 1824 h 215734"/>
              </a:gdLst>
              <a:ahLst/>
              <a:cxnLst>
                <a:cxn ang="0">
                  <a:pos x="connsiteX0" y="connsiteY0"/>
                </a:cxn>
                <a:cxn ang="0">
                  <a:pos x="connsiteX1" y="connsiteY1"/>
                </a:cxn>
                <a:cxn ang="0">
                  <a:pos x="connsiteX2" y="connsiteY2"/>
                </a:cxn>
                <a:cxn ang="0">
                  <a:pos x="connsiteX3" y="connsiteY3"/>
                </a:cxn>
              </a:cxnLst>
              <a:rect l="l" t="t" r="r" b="b"/>
              <a:pathLst>
                <a:path w="540734" h="215734">
                  <a:moveTo>
                    <a:pt x="539163" y="0"/>
                  </a:moveTo>
                  <a:lnTo>
                    <a:pt x="540735" y="213911"/>
                  </a:lnTo>
                  <a:lnTo>
                    <a:pt x="1571" y="215735"/>
                  </a:lnTo>
                  <a:lnTo>
                    <a:pt x="0" y="1824"/>
                  </a:lnTo>
                  <a:close/>
                </a:path>
              </a:pathLst>
            </a:custGeom>
            <a:solidFill>
              <a:srgbClr val="999999"/>
            </a:solidFill>
            <a:ln w="15425"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28D1DA47-71DF-F8F1-311C-2DBAD55A395D}"/>
                </a:ext>
              </a:extLst>
            </p:cNvPr>
            <p:cNvSpPr/>
            <p:nvPr/>
          </p:nvSpPr>
          <p:spPr>
            <a:xfrm>
              <a:off x="3858026" y="3666415"/>
              <a:ext cx="540734" cy="215734"/>
            </a:xfrm>
            <a:custGeom>
              <a:avLst/>
              <a:gdLst>
                <a:gd name="connsiteX0" fmla="*/ 539163 w 540734"/>
                <a:gd name="connsiteY0" fmla="*/ 0 h 215734"/>
                <a:gd name="connsiteX1" fmla="*/ 540735 w 540734"/>
                <a:gd name="connsiteY1" fmla="*/ 213911 h 215734"/>
                <a:gd name="connsiteX2" fmla="*/ 1571 w 540734"/>
                <a:gd name="connsiteY2" fmla="*/ 215735 h 215734"/>
                <a:gd name="connsiteX3" fmla="*/ 0 w 540734"/>
                <a:gd name="connsiteY3" fmla="*/ 1824 h 215734"/>
              </a:gdLst>
              <a:ahLst/>
              <a:cxnLst>
                <a:cxn ang="0">
                  <a:pos x="connsiteX0" y="connsiteY0"/>
                </a:cxn>
                <a:cxn ang="0">
                  <a:pos x="connsiteX1" y="connsiteY1"/>
                </a:cxn>
                <a:cxn ang="0">
                  <a:pos x="connsiteX2" y="connsiteY2"/>
                </a:cxn>
                <a:cxn ang="0">
                  <a:pos x="connsiteX3" y="connsiteY3"/>
                </a:cxn>
              </a:cxnLst>
              <a:rect l="l" t="t" r="r" b="b"/>
              <a:pathLst>
                <a:path w="540734" h="215734">
                  <a:moveTo>
                    <a:pt x="539163" y="0"/>
                  </a:moveTo>
                  <a:lnTo>
                    <a:pt x="540735" y="213911"/>
                  </a:lnTo>
                  <a:lnTo>
                    <a:pt x="1571" y="215735"/>
                  </a:lnTo>
                  <a:lnTo>
                    <a:pt x="0" y="1824"/>
                  </a:lnTo>
                  <a:close/>
                </a:path>
              </a:pathLst>
            </a:custGeom>
            <a:solidFill>
              <a:srgbClr val="999999"/>
            </a:solidFill>
            <a:ln w="15425"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E862C625-55C3-0DC3-4415-8068BB419BE2}"/>
                </a:ext>
              </a:extLst>
            </p:cNvPr>
            <p:cNvSpPr/>
            <p:nvPr/>
          </p:nvSpPr>
          <p:spPr>
            <a:xfrm>
              <a:off x="3856454" y="3991674"/>
              <a:ext cx="540734" cy="215734"/>
            </a:xfrm>
            <a:custGeom>
              <a:avLst/>
              <a:gdLst>
                <a:gd name="connsiteX0" fmla="*/ 539163 w 540734"/>
                <a:gd name="connsiteY0" fmla="*/ 0 h 215734"/>
                <a:gd name="connsiteX1" fmla="*/ 540735 w 540734"/>
                <a:gd name="connsiteY1" fmla="*/ 213911 h 215734"/>
                <a:gd name="connsiteX2" fmla="*/ 1571 w 540734"/>
                <a:gd name="connsiteY2" fmla="*/ 215735 h 215734"/>
                <a:gd name="connsiteX3" fmla="*/ 0 w 540734"/>
                <a:gd name="connsiteY3" fmla="*/ 1824 h 215734"/>
              </a:gdLst>
              <a:ahLst/>
              <a:cxnLst>
                <a:cxn ang="0">
                  <a:pos x="connsiteX0" y="connsiteY0"/>
                </a:cxn>
                <a:cxn ang="0">
                  <a:pos x="connsiteX1" y="connsiteY1"/>
                </a:cxn>
                <a:cxn ang="0">
                  <a:pos x="connsiteX2" y="connsiteY2"/>
                </a:cxn>
                <a:cxn ang="0">
                  <a:pos x="connsiteX3" y="connsiteY3"/>
                </a:cxn>
              </a:cxnLst>
              <a:rect l="l" t="t" r="r" b="b"/>
              <a:pathLst>
                <a:path w="540734" h="215734">
                  <a:moveTo>
                    <a:pt x="539163" y="0"/>
                  </a:moveTo>
                  <a:lnTo>
                    <a:pt x="540735" y="213911"/>
                  </a:lnTo>
                  <a:lnTo>
                    <a:pt x="1571" y="215735"/>
                  </a:lnTo>
                  <a:lnTo>
                    <a:pt x="0" y="1824"/>
                  </a:lnTo>
                  <a:close/>
                </a:path>
              </a:pathLst>
            </a:custGeom>
            <a:solidFill>
              <a:srgbClr val="999999"/>
            </a:solidFill>
            <a:ln w="15425" cap="flat">
              <a:noFill/>
              <a:prstDash val="solid"/>
              <a:miter/>
            </a:ln>
          </p:spPr>
          <p:txBody>
            <a:bodyPr rtlCol="0" anchor="ctr"/>
            <a:lstStyle/>
            <a:p>
              <a:endParaRPr lang="en-US"/>
            </a:p>
          </p:txBody>
        </p:sp>
      </p:grpSp>
      <p:sp>
        <p:nvSpPr>
          <p:cNvPr id="46" name="TextBox 45">
            <a:extLst>
              <a:ext uri="{FF2B5EF4-FFF2-40B4-BE49-F238E27FC236}">
                <a16:creationId xmlns:a16="http://schemas.microsoft.com/office/drawing/2014/main" id="{A19AECF4-5993-7D15-0364-6DF6C502E53C}"/>
              </a:ext>
            </a:extLst>
          </p:cNvPr>
          <p:cNvSpPr txBox="1"/>
          <p:nvPr/>
        </p:nvSpPr>
        <p:spPr>
          <a:xfrm>
            <a:off x="1583688" y="2297956"/>
            <a:ext cx="1167416" cy="369332"/>
          </a:xfrm>
          <a:prstGeom prst="rect">
            <a:avLst/>
          </a:prstGeom>
          <a:noFill/>
        </p:spPr>
        <p:txBody>
          <a:bodyPr wrap="square" rtlCol="0">
            <a:spAutoFit/>
          </a:bodyPr>
          <a:lstStyle/>
          <a:p>
            <a:r>
              <a:rPr lang="en-US" dirty="0"/>
              <a:t>~200 pins</a:t>
            </a:r>
          </a:p>
        </p:txBody>
      </p:sp>
      <p:sp>
        <p:nvSpPr>
          <p:cNvPr id="47" name="TextBox 46">
            <a:extLst>
              <a:ext uri="{FF2B5EF4-FFF2-40B4-BE49-F238E27FC236}">
                <a16:creationId xmlns:a16="http://schemas.microsoft.com/office/drawing/2014/main" id="{2B18678E-77D1-2065-D5EE-6EA7C66F9E4D}"/>
              </a:ext>
            </a:extLst>
          </p:cNvPr>
          <p:cNvSpPr txBox="1"/>
          <p:nvPr/>
        </p:nvSpPr>
        <p:spPr>
          <a:xfrm>
            <a:off x="6212419" y="2906510"/>
            <a:ext cx="1173175" cy="369332"/>
          </a:xfrm>
          <a:prstGeom prst="rect">
            <a:avLst/>
          </a:prstGeom>
          <a:noFill/>
        </p:spPr>
        <p:txBody>
          <a:bodyPr wrap="square" rtlCol="0">
            <a:spAutoFit/>
          </a:bodyPr>
          <a:lstStyle/>
          <a:p>
            <a:r>
              <a:rPr lang="en-US" dirty="0"/>
              <a:t>~16 pins</a:t>
            </a:r>
          </a:p>
        </p:txBody>
      </p:sp>
      <p:sp>
        <p:nvSpPr>
          <p:cNvPr id="48" name="TextBox 47">
            <a:extLst>
              <a:ext uri="{FF2B5EF4-FFF2-40B4-BE49-F238E27FC236}">
                <a16:creationId xmlns:a16="http://schemas.microsoft.com/office/drawing/2014/main" id="{04091715-B247-D2B8-22B1-AE1DC2A6735B}"/>
              </a:ext>
            </a:extLst>
          </p:cNvPr>
          <p:cNvSpPr txBox="1"/>
          <p:nvPr/>
        </p:nvSpPr>
        <p:spPr>
          <a:xfrm>
            <a:off x="1780595" y="3360986"/>
            <a:ext cx="754360" cy="390207"/>
          </a:xfrm>
          <a:prstGeom prst="rect">
            <a:avLst/>
          </a:prstGeom>
          <a:solidFill>
            <a:schemeClr val="bg1"/>
          </a:solidFill>
        </p:spPr>
        <p:txBody>
          <a:bodyPr wrap="square" lIns="0" tIns="0" rIns="0" bIns="0" rtlCol="0" anchor="ctr">
            <a:noAutofit/>
          </a:bodyPr>
          <a:lstStyle/>
          <a:p>
            <a:pPr algn="ctr"/>
            <a:r>
              <a:rPr lang="en-US" sz="2400" dirty="0"/>
              <a:t>DDR</a:t>
            </a:r>
          </a:p>
        </p:txBody>
      </p:sp>
      <p:grpSp>
        <p:nvGrpSpPr>
          <p:cNvPr id="61" name="Group 60">
            <a:extLst>
              <a:ext uri="{FF2B5EF4-FFF2-40B4-BE49-F238E27FC236}">
                <a16:creationId xmlns:a16="http://schemas.microsoft.com/office/drawing/2014/main" id="{C129808F-9B70-6D40-D023-60C3303165F5}"/>
              </a:ext>
            </a:extLst>
          </p:cNvPr>
          <p:cNvGrpSpPr/>
          <p:nvPr/>
        </p:nvGrpSpPr>
        <p:grpSpPr>
          <a:xfrm>
            <a:off x="5017369" y="2602942"/>
            <a:ext cx="6232231" cy="2069300"/>
            <a:chOff x="4559933" y="3569743"/>
            <a:chExt cx="5672398" cy="1280174"/>
          </a:xfrm>
        </p:grpSpPr>
        <p:grpSp>
          <p:nvGrpSpPr>
            <p:cNvPr id="62" name="Group 61">
              <a:extLst>
                <a:ext uri="{FF2B5EF4-FFF2-40B4-BE49-F238E27FC236}">
                  <a16:creationId xmlns:a16="http://schemas.microsoft.com/office/drawing/2014/main" id="{2EE6A339-3771-6A2B-F94F-814A8C95EF33}"/>
                </a:ext>
              </a:extLst>
            </p:cNvPr>
            <p:cNvGrpSpPr/>
            <p:nvPr/>
          </p:nvGrpSpPr>
          <p:grpSpPr>
            <a:xfrm>
              <a:off x="4559933" y="4121157"/>
              <a:ext cx="3119696" cy="46969"/>
              <a:chOff x="4596007" y="2374317"/>
              <a:chExt cx="760523" cy="75989"/>
            </a:xfrm>
          </p:grpSpPr>
          <p:cxnSp>
            <p:nvCxnSpPr>
              <p:cNvPr id="1040" name="Straight Connector 1039">
                <a:extLst>
                  <a:ext uri="{FF2B5EF4-FFF2-40B4-BE49-F238E27FC236}">
                    <a16:creationId xmlns:a16="http://schemas.microsoft.com/office/drawing/2014/main" id="{9DE6A036-EF02-7C92-08B6-B46B490FBF63}"/>
                  </a:ext>
                </a:extLst>
              </p:cNvPr>
              <p:cNvCxnSpPr>
                <a:cxnSpLocks/>
              </p:cNvCxnSpPr>
              <p:nvPr/>
            </p:nvCxnSpPr>
            <p:spPr>
              <a:xfrm flipH="1">
                <a:off x="4596007" y="2374317"/>
                <a:ext cx="760523"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041" name="Straight Connector 1040">
                <a:extLst>
                  <a:ext uri="{FF2B5EF4-FFF2-40B4-BE49-F238E27FC236}">
                    <a16:creationId xmlns:a16="http://schemas.microsoft.com/office/drawing/2014/main" id="{C3A04BF6-7118-F2CA-1EA5-6E6AB0273004}"/>
                  </a:ext>
                </a:extLst>
              </p:cNvPr>
              <p:cNvCxnSpPr>
                <a:cxnSpLocks/>
              </p:cNvCxnSpPr>
              <p:nvPr/>
            </p:nvCxnSpPr>
            <p:spPr>
              <a:xfrm flipH="1">
                <a:off x="4596007" y="2450306"/>
                <a:ext cx="760523" cy="0"/>
              </a:xfrm>
              <a:prstGeom prst="line">
                <a:avLst/>
              </a:prstGeom>
              <a:ln w="28575"/>
            </p:spPr>
            <p:style>
              <a:lnRef idx="2">
                <a:schemeClr val="dk1"/>
              </a:lnRef>
              <a:fillRef idx="0">
                <a:schemeClr val="dk1"/>
              </a:fillRef>
              <a:effectRef idx="1">
                <a:schemeClr val="dk1"/>
              </a:effectRef>
              <a:fontRef idx="minor">
                <a:schemeClr val="tx1"/>
              </a:fontRef>
            </p:style>
          </p:cxnSp>
        </p:grpSp>
        <p:sp>
          <p:nvSpPr>
            <p:cNvPr id="63" name="Rectangle 62">
              <a:extLst>
                <a:ext uri="{FF2B5EF4-FFF2-40B4-BE49-F238E27FC236}">
                  <a16:creationId xmlns:a16="http://schemas.microsoft.com/office/drawing/2014/main" id="{8259B225-B34E-DF4B-148E-3A75DCE55453}"/>
                </a:ext>
              </a:extLst>
            </p:cNvPr>
            <p:cNvSpPr/>
            <p:nvPr/>
          </p:nvSpPr>
          <p:spPr>
            <a:xfrm>
              <a:off x="7679631" y="3569743"/>
              <a:ext cx="1068522" cy="1267474"/>
            </a:xfrm>
            <a:prstGeom prst="rect">
              <a:avLst/>
            </a:prstGeom>
            <a:solidFill>
              <a:schemeClr val="accent1">
                <a:lumMod val="60000"/>
                <a:lumOff val="40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200" dirty="0">
                  <a:solidFill>
                    <a:schemeClr val="bg1"/>
                  </a:solidFill>
                </a:rPr>
                <a:t>CXL</a:t>
              </a:r>
            </a:p>
            <a:p>
              <a:pPr algn="ctr"/>
              <a:r>
                <a:rPr lang="en-US" sz="3200" dirty="0">
                  <a:solidFill>
                    <a:schemeClr val="bg1"/>
                  </a:solidFill>
                </a:rPr>
                <a:t>Ctrl</a:t>
              </a:r>
            </a:p>
          </p:txBody>
        </p:sp>
        <p:grpSp>
          <p:nvGrpSpPr>
            <p:cNvPr id="1024" name="Group 1023">
              <a:extLst>
                <a:ext uri="{FF2B5EF4-FFF2-40B4-BE49-F238E27FC236}">
                  <a16:creationId xmlns:a16="http://schemas.microsoft.com/office/drawing/2014/main" id="{EE50466C-7C03-BA7B-512A-737304E16DB2}"/>
                </a:ext>
              </a:extLst>
            </p:cNvPr>
            <p:cNvGrpSpPr/>
            <p:nvPr/>
          </p:nvGrpSpPr>
          <p:grpSpPr>
            <a:xfrm>
              <a:off x="8734894" y="3670687"/>
              <a:ext cx="985016" cy="1117600"/>
              <a:chOff x="3034204" y="1896518"/>
              <a:chExt cx="810046" cy="1117600"/>
            </a:xfrm>
          </p:grpSpPr>
          <p:cxnSp>
            <p:nvCxnSpPr>
              <p:cNvPr id="1027" name="Straight Connector 1026">
                <a:extLst>
                  <a:ext uri="{FF2B5EF4-FFF2-40B4-BE49-F238E27FC236}">
                    <a16:creationId xmlns:a16="http://schemas.microsoft.com/office/drawing/2014/main" id="{E67DB917-2266-8D91-81FB-9DFD85A0BE5F}"/>
                  </a:ext>
                </a:extLst>
              </p:cNvPr>
              <p:cNvCxnSpPr/>
              <p:nvPr/>
            </p:nvCxnSpPr>
            <p:spPr>
              <a:xfrm flipH="1">
                <a:off x="3050500" y="1896518"/>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28" name="Straight Connector 1027">
                <a:extLst>
                  <a:ext uri="{FF2B5EF4-FFF2-40B4-BE49-F238E27FC236}">
                    <a16:creationId xmlns:a16="http://schemas.microsoft.com/office/drawing/2014/main" id="{4AE6041D-B36C-E7D3-11B9-D9CB6D97DF57}"/>
                  </a:ext>
                </a:extLst>
              </p:cNvPr>
              <p:cNvCxnSpPr/>
              <p:nvPr/>
            </p:nvCxnSpPr>
            <p:spPr>
              <a:xfrm flipH="1">
                <a:off x="3050499" y="2004468"/>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29" name="Straight Connector 1028">
                <a:extLst>
                  <a:ext uri="{FF2B5EF4-FFF2-40B4-BE49-F238E27FC236}">
                    <a16:creationId xmlns:a16="http://schemas.microsoft.com/office/drawing/2014/main" id="{8985D378-D46F-CD84-E74C-6AEF44D9D44E}"/>
                  </a:ext>
                </a:extLst>
              </p:cNvPr>
              <p:cNvCxnSpPr/>
              <p:nvPr/>
            </p:nvCxnSpPr>
            <p:spPr>
              <a:xfrm flipH="1">
                <a:off x="3050500" y="2099718"/>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31" name="Straight Connector 1030">
                <a:extLst>
                  <a:ext uri="{FF2B5EF4-FFF2-40B4-BE49-F238E27FC236}">
                    <a16:creationId xmlns:a16="http://schemas.microsoft.com/office/drawing/2014/main" id="{989E62D8-7667-AC68-73AE-42A18C87C0AE}"/>
                  </a:ext>
                </a:extLst>
              </p:cNvPr>
              <p:cNvCxnSpPr/>
              <p:nvPr/>
            </p:nvCxnSpPr>
            <p:spPr>
              <a:xfrm flipH="1">
                <a:off x="3050500" y="2207668"/>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32" name="Straight Connector 1031">
                <a:extLst>
                  <a:ext uri="{FF2B5EF4-FFF2-40B4-BE49-F238E27FC236}">
                    <a16:creationId xmlns:a16="http://schemas.microsoft.com/office/drawing/2014/main" id="{6C5F219A-6000-4A56-532C-FC15E83C3754}"/>
                  </a:ext>
                </a:extLst>
              </p:cNvPr>
              <p:cNvCxnSpPr/>
              <p:nvPr/>
            </p:nvCxnSpPr>
            <p:spPr>
              <a:xfrm flipH="1">
                <a:off x="3034204" y="2312216"/>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33" name="Straight Connector 1032">
                <a:extLst>
                  <a:ext uri="{FF2B5EF4-FFF2-40B4-BE49-F238E27FC236}">
                    <a16:creationId xmlns:a16="http://schemas.microsoft.com/office/drawing/2014/main" id="{68AFA205-0DAF-3E21-CB0E-6B17664D28F1}"/>
                  </a:ext>
                </a:extLst>
              </p:cNvPr>
              <p:cNvCxnSpPr/>
              <p:nvPr/>
            </p:nvCxnSpPr>
            <p:spPr>
              <a:xfrm flipH="1">
                <a:off x="3050500" y="2410868"/>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34" name="Straight Connector 1033">
                <a:extLst>
                  <a:ext uri="{FF2B5EF4-FFF2-40B4-BE49-F238E27FC236}">
                    <a16:creationId xmlns:a16="http://schemas.microsoft.com/office/drawing/2014/main" id="{0619B031-AF43-12EB-B36E-A1FD08C3AE84}"/>
                  </a:ext>
                </a:extLst>
              </p:cNvPr>
              <p:cNvCxnSpPr/>
              <p:nvPr/>
            </p:nvCxnSpPr>
            <p:spPr>
              <a:xfrm flipH="1">
                <a:off x="3050500" y="2506118"/>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35" name="Straight Connector 1034">
                <a:extLst>
                  <a:ext uri="{FF2B5EF4-FFF2-40B4-BE49-F238E27FC236}">
                    <a16:creationId xmlns:a16="http://schemas.microsoft.com/office/drawing/2014/main" id="{14BC7CFB-EBFC-BA86-7AEE-6D1D24EFFDA8}"/>
                  </a:ext>
                </a:extLst>
              </p:cNvPr>
              <p:cNvCxnSpPr/>
              <p:nvPr/>
            </p:nvCxnSpPr>
            <p:spPr>
              <a:xfrm flipH="1">
                <a:off x="3050500" y="2614068"/>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36" name="Straight Connector 1035">
                <a:extLst>
                  <a:ext uri="{FF2B5EF4-FFF2-40B4-BE49-F238E27FC236}">
                    <a16:creationId xmlns:a16="http://schemas.microsoft.com/office/drawing/2014/main" id="{803FE618-3008-1776-8041-D5812550D910}"/>
                  </a:ext>
                </a:extLst>
              </p:cNvPr>
              <p:cNvCxnSpPr/>
              <p:nvPr/>
            </p:nvCxnSpPr>
            <p:spPr>
              <a:xfrm flipH="1">
                <a:off x="3050500" y="2702968"/>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37" name="Straight Connector 1036">
                <a:extLst>
                  <a:ext uri="{FF2B5EF4-FFF2-40B4-BE49-F238E27FC236}">
                    <a16:creationId xmlns:a16="http://schemas.microsoft.com/office/drawing/2014/main" id="{05449BB8-822E-92E4-151B-5B81FCBB186D}"/>
                  </a:ext>
                </a:extLst>
              </p:cNvPr>
              <p:cNvCxnSpPr/>
              <p:nvPr/>
            </p:nvCxnSpPr>
            <p:spPr>
              <a:xfrm flipH="1">
                <a:off x="3050500" y="2810918"/>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38" name="Straight Connector 1037">
                <a:extLst>
                  <a:ext uri="{FF2B5EF4-FFF2-40B4-BE49-F238E27FC236}">
                    <a16:creationId xmlns:a16="http://schemas.microsoft.com/office/drawing/2014/main" id="{AC0F2624-704D-E681-8996-5E9823540D18}"/>
                  </a:ext>
                </a:extLst>
              </p:cNvPr>
              <p:cNvCxnSpPr/>
              <p:nvPr/>
            </p:nvCxnSpPr>
            <p:spPr>
              <a:xfrm flipH="1">
                <a:off x="3050500" y="2906168"/>
                <a:ext cx="793750" cy="0"/>
              </a:xfrm>
              <a:prstGeom prst="line">
                <a:avLst/>
              </a:prstGeom>
            </p:spPr>
            <p:style>
              <a:lnRef idx="2">
                <a:schemeClr val="dk1"/>
              </a:lnRef>
              <a:fillRef idx="0">
                <a:schemeClr val="dk1"/>
              </a:fillRef>
              <a:effectRef idx="1">
                <a:schemeClr val="dk1"/>
              </a:effectRef>
              <a:fontRef idx="minor">
                <a:schemeClr val="tx1"/>
              </a:fontRef>
            </p:style>
          </p:cxnSp>
          <p:cxnSp>
            <p:nvCxnSpPr>
              <p:cNvPr id="1039" name="Straight Connector 1038">
                <a:extLst>
                  <a:ext uri="{FF2B5EF4-FFF2-40B4-BE49-F238E27FC236}">
                    <a16:creationId xmlns:a16="http://schemas.microsoft.com/office/drawing/2014/main" id="{35C855A4-28CB-93B9-F904-4790BD07A613}"/>
                  </a:ext>
                </a:extLst>
              </p:cNvPr>
              <p:cNvCxnSpPr/>
              <p:nvPr/>
            </p:nvCxnSpPr>
            <p:spPr>
              <a:xfrm flipH="1">
                <a:off x="3050500" y="3014118"/>
                <a:ext cx="793750" cy="0"/>
              </a:xfrm>
              <a:prstGeom prst="line">
                <a:avLst/>
              </a:prstGeom>
            </p:spPr>
            <p:style>
              <a:lnRef idx="2">
                <a:schemeClr val="dk1"/>
              </a:lnRef>
              <a:fillRef idx="0">
                <a:schemeClr val="dk1"/>
              </a:fillRef>
              <a:effectRef idx="1">
                <a:schemeClr val="dk1"/>
              </a:effectRef>
              <a:fontRef idx="minor">
                <a:schemeClr val="tx1"/>
              </a:fontRef>
            </p:style>
          </p:cxnSp>
        </p:grpSp>
        <p:pic>
          <p:nvPicPr>
            <p:cNvPr id="1025" name="Graphic 1024">
              <a:extLst>
                <a:ext uri="{FF2B5EF4-FFF2-40B4-BE49-F238E27FC236}">
                  <a16:creationId xmlns:a16="http://schemas.microsoft.com/office/drawing/2014/main" id="{FF3F6E11-04F3-C974-8F55-37FAEA5193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9700093" y="3599158"/>
              <a:ext cx="532238" cy="1250759"/>
            </a:xfrm>
            <a:prstGeom prst="rect">
              <a:avLst/>
            </a:prstGeom>
          </p:spPr>
        </p:pic>
        <p:sp>
          <p:nvSpPr>
            <p:cNvPr id="1026" name="TextBox 1025">
              <a:extLst>
                <a:ext uri="{FF2B5EF4-FFF2-40B4-BE49-F238E27FC236}">
                  <a16:creationId xmlns:a16="http://schemas.microsoft.com/office/drawing/2014/main" id="{D2762ACE-9074-3AFB-8644-00B4F1EB3B67}"/>
                </a:ext>
              </a:extLst>
            </p:cNvPr>
            <p:cNvSpPr txBox="1"/>
            <p:nvPr/>
          </p:nvSpPr>
          <p:spPr>
            <a:xfrm>
              <a:off x="5550383" y="4047425"/>
              <a:ext cx="1172941" cy="241402"/>
            </a:xfrm>
            <a:prstGeom prst="rect">
              <a:avLst/>
            </a:prstGeom>
            <a:solidFill>
              <a:schemeClr val="bg1"/>
            </a:solidFill>
          </p:spPr>
          <p:txBody>
            <a:bodyPr wrap="square" lIns="0" tIns="0" rIns="0" bIns="0" rtlCol="0" anchor="ctr">
              <a:noAutofit/>
            </a:bodyPr>
            <a:lstStyle/>
            <a:p>
              <a:pPr algn="ctr"/>
              <a:r>
                <a:rPr lang="en-US" sz="4800" dirty="0"/>
                <a:t>CXL</a:t>
              </a:r>
            </a:p>
          </p:txBody>
        </p:sp>
      </p:grpSp>
      <p:sp>
        <p:nvSpPr>
          <p:cNvPr id="1048" name="TextBox 1047">
            <a:extLst>
              <a:ext uri="{FF2B5EF4-FFF2-40B4-BE49-F238E27FC236}">
                <a16:creationId xmlns:a16="http://schemas.microsoft.com/office/drawing/2014/main" id="{21B929C8-F599-4678-69D8-57B32F04C938}"/>
              </a:ext>
            </a:extLst>
          </p:cNvPr>
          <p:cNvSpPr txBox="1"/>
          <p:nvPr/>
        </p:nvSpPr>
        <p:spPr>
          <a:xfrm>
            <a:off x="173704" y="4713526"/>
            <a:ext cx="2060629" cy="461665"/>
          </a:xfrm>
          <a:prstGeom prst="rect">
            <a:avLst/>
          </a:prstGeom>
          <a:noFill/>
        </p:spPr>
        <p:txBody>
          <a:bodyPr wrap="none" rtlCol="0">
            <a:spAutoFit/>
          </a:bodyPr>
          <a:lstStyle/>
          <a:p>
            <a:r>
              <a:rPr lang="en-CN" sz="2400" dirty="0"/>
              <a:t>Local Memory</a:t>
            </a:r>
          </a:p>
        </p:txBody>
      </p:sp>
      <p:sp>
        <p:nvSpPr>
          <p:cNvPr id="1049" name="TextBox 1048">
            <a:extLst>
              <a:ext uri="{FF2B5EF4-FFF2-40B4-BE49-F238E27FC236}">
                <a16:creationId xmlns:a16="http://schemas.microsoft.com/office/drawing/2014/main" id="{C8EE857F-5105-7C9C-D6D2-163EF982AF6F}"/>
              </a:ext>
            </a:extLst>
          </p:cNvPr>
          <p:cNvSpPr txBox="1"/>
          <p:nvPr/>
        </p:nvSpPr>
        <p:spPr>
          <a:xfrm>
            <a:off x="9958851" y="4708026"/>
            <a:ext cx="1869294" cy="461665"/>
          </a:xfrm>
          <a:prstGeom prst="rect">
            <a:avLst/>
          </a:prstGeom>
          <a:noFill/>
        </p:spPr>
        <p:txBody>
          <a:bodyPr wrap="none" rtlCol="0">
            <a:spAutoFit/>
          </a:bodyPr>
          <a:lstStyle/>
          <a:p>
            <a:r>
              <a:rPr lang="en-CN" sz="2400" dirty="0"/>
              <a:t>CXL Memory</a:t>
            </a:r>
          </a:p>
        </p:txBody>
      </p:sp>
      <p:sp>
        <p:nvSpPr>
          <p:cNvPr id="24" name="Right Brace 23">
            <a:extLst>
              <a:ext uri="{FF2B5EF4-FFF2-40B4-BE49-F238E27FC236}">
                <a16:creationId xmlns:a16="http://schemas.microsoft.com/office/drawing/2014/main" id="{4FE0A142-5ABE-9960-9054-3F1B45FC2618}"/>
              </a:ext>
            </a:extLst>
          </p:cNvPr>
          <p:cNvSpPr/>
          <p:nvPr/>
        </p:nvSpPr>
        <p:spPr>
          <a:xfrm rot="16200000">
            <a:off x="7795827" y="-431631"/>
            <a:ext cx="249386" cy="5375587"/>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N"/>
          </a:p>
        </p:txBody>
      </p:sp>
      <p:sp>
        <p:nvSpPr>
          <p:cNvPr id="25" name="TextBox 24">
            <a:extLst>
              <a:ext uri="{FF2B5EF4-FFF2-40B4-BE49-F238E27FC236}">
                <a16:creationId xmlns:a16="http://schemas.microsoft.com/office/drawing/2014/main" id="{0264D452-48B8-C157-8CF1-FAF0EECF84A5}"/>
              </a:ext>
            </a:extLst>
          </p:cNvPr>
          <p:cNvSpPr txBox="1"/>
          <p:nvPr/>
        </p:nvSpPr>
        <p:spPr>
          <a:xfrm>
            <a:off x="6799006" y="1646424"/>
            <a:ext cx="2093843" cy="461665"/>
          </a:xfrm>
          <a:prstGeom prst="rect">
            <a:avLst/>
          </a:prstGeom>
          <a:noFill/>
        </p:spPr>
        <p:txBody>
          <a:bodyPr wrap="none" rtlCol="0">
            <a:spAutoFit/>
          </a:bodyPr>
          <a:lstStyle/>
          <a:p>
            <a:r>
              <a:rPr lang="en-CN" sz="2400" dirty="0"/>
              <a:t>Higher latency</a:t>
            </a:r>
          </a:p>
        </p:txBody>
      </p:sp>
    </p:spTree>
    <p:extLst>
      <p:ext uri="{BB962C8B-B14F-4D97-AF65-F5344CB8AC3E}">
        <p14:creationId xmlns:p14="http://schemas.microsoft.com/office/powerpoint/2010/main" val="1821919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49"/>
                                        </p:tgtEl>
                                        <p:attrNameLst>
                                          <p:attrName>style.visibility</p:attrName>
                                        </p:attrNameLst>
                                      </p:cBhvr>
                                      <p:to>
                                        <p:strVal val="visible"/>
                                      </p:to>
                                    </p:set>
                                    <p:animEffect transition="in" filter="fade">
                                      <p:cBhvr>
                                        <p:cTn id="13" dur="500"/>
                                        <p:tgtEl>
                                          <p:spTgt spid="104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1049" grpId="0"/>
      <p:bldP spid="24" grpId="0" animBg="1"/>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5E4E2-2086-EC2E-97A1-71A9D9B7AE8E}"/>
              </a:ext>
            </a:extLst>
          </p:cNvPr>
          <p:cNvSpPr>
            <a:spLocks noGrp="1"/>
          </p:cNvSpPr>
          <p:nvPr>
            <p:ph type="title"/>
          </p:nvPr>
        </p:nvSpPr>
        <p:spPr/>
        <p:txBody>
          <a:bodyPr/>
          <a:lstStyle/>
          <a:p>
            <a:r>
              <a:rPr lang="en-CN"/>
              <a:t>Higher CXL Latency Can Degrade Workloads</a:t>
            </a:r>
          </a:p>
        </p:txBody>
      </p:sp>
      <p:sp>
        <p:nvSpPr>
          <p:cNvPr id="3" name="Content Placeholder 2">
            <a:extLst>
              <a:ext uri="{FF2B5EF4-FFF2-40B4-BE49-F238E27FC236}">
                <a16:creationId xmlns:a16="http://schemas.microsoft.com/office/drawing/2014/main" id="{E1247EC9-F051-B9CD-AFE5-7C1C8440DF50}"/>
              </a:ext>
            </a:extLst>
          </p:cNvPr>
          <p:cNvSpPr>
            <a:spLocks noGrp="1"/>
          </p:cNvSpPr>
          <p:nvPr>
            <p:ph idx="1"/>
          </p:nvPr>
        </p:nvSpPr>
        <p:spPr/>
        <p:txBody>
          <a:bodyPr>
            <a:normAutofit/>
          </a:bodyPr>
          <a:lstStyle/>
          <a:p>
            <a:r>
              <a:rPr lang="en-CN" dirty="0"/>
              <a:t>CXL latency (220 ns) ≈ 2x local memory latency (100 ns)</a:t>
            </a:r>
          </a:p>
          <a:p>
            <a:r>
              <a:rPr lang="en-CN" dirty="0"/>
              <a:t>CXL slowdowns workloads by up to 62% 	</a:t>
            </a:r>
          </a:p>
          <a:p>
            <a:r>
              <a:rPr lang="en-CN" dirty="0"/>
              <a:t>Memory tiering: place data between local and CXL memory</a:t>
            </a:r>
          </a:p>
          <a:p>
            <a:pPr marL="0" indent="0">
              <a:buNone/>
            </a:pPr>
            <a:endParaRPr lang="en-CN" b="1" dirty="0"/>
          </a:p>
          <a:p>
            <a:pPr marL="0" indent="0">
              <a:buNone/>
            </a:pPr>
            <a:r>
              <a:rPr lang="en-CN" dirty="0"/>
              <a:t>Cloud requirements for CXL include:</a:t>
            </a:r>
          </a:p>
          <a:p>
            <a:r>
              <a:rPr lang="en-CN" b="1" dirty="0"/>
              <a:t>Minimal slowdown</a:t>
            </a:r>
          </a:p>
          <a:p>
            <a:r>
              <a:rPr lang="en-CN" b="1" dirty="0"/>
              <a:t>Low CPU overhead</a:t>
            </a:r>
          </a:p>
          <a:p>
            <a:r>
              <a:rPr lang="en-CN" b="1" dirty="0"/>
              <a:t>Huge page friendly</a:t>
            </a:r>
            <a:endParaRPr lang="en-CN" sz="2800" b="1" dirty="0"/>
          </a:p>
        </p:txBody>
      </p:sp>
      <p:sp>
        <p:nvSpPr>
          <p:cNvPr id="4" name="Slide Number Placeholder 3">
            <a:extLst>
              <a:ext uri="{FF2B5EF4-FFF2-40B4-BE49-F238E27FC236}">
                <a16:creationId xmlns:a16="http://schemas.microsoft.com/office/drawing/2014/main" id="{42A84576-6A90-C33B-0174-5D0B4F793BF5}"/>
              </a:ext>
            </a:extLst>
          </p:cNvPr>
          <p:cNvSpPr>
            <a:spLocks noGrp="1"/>
          </p:cNvSpPr>
          <p:nvPr>
            <p:ph type="sldNum" sz="quarter" idx="12"/>
          </p:nvPr>
        </p:nvSpPr>
        <p:spPr/>
        <p:txBody>
          <a:bodyPr/>
          <a:lstStyle/>
          <a:p>
            <a:fld id="{5D76F006-5496-B946-A476-FEDACCAB686D}" type="slidenum">
              <a:rPr lang="en-CN" smtClean="0"/>
              <a:t>5</a:t>
            </a:fld>
            <a:endParaRPr lang="en-CN"/>
          </a:p>
        </p:txBody>
      </p:sp>
      <p:sp>
        <p:nvSpPr>
          <p:cNvPr id="5" name="TextBox 4">
            <a:extLst>
              <a:ext uri="{FF2B5EF4-FFF2-40B4-BE49-F238E27FC236}">
                <a16:creationId xmlns:a16="http://schemas.microsoft.com/office/drawing/2014/main" id="{85F72FC8-8B13-8304-CDB3-EB1245B248C8}"/>
              </a:ext>
            </a:extLst>
          </p:cNvPr>
          <p:cNvSpPr txBox="1"/>
          <p:nvPr/>
        </p:nvSpPr>
        <p:spPr>
          <a:xfrm>
            <a:off x="-11760" y="6562768"/>
            <a:ext cx="7580345" cy="307777"/>
          </a:xfrm>
          <a:prstGeom prst="rect">
            <a:avLst/>
          </a:prstGeom>
          <a:noFill/>
        </p:spPr>
        <p:txBody>
          <a:bodyPr wrap="none" rtlCol="0">
            <a:spAutoFit/>
          </a:bodyPr>
          <a:lstStyle/>
          <a:p>
            <a:r>
              <a:rPr lang="en-CN" sz="1400"/>
              <a:t>Das Sharma et al., </a:t>
            </a:r>
            <a:r>
              <a:rPr lang="en-US" sz="1400"/>
              <a:t>An Introduction to the Compute Express Link (CXL) Interconnect, CSUR 2024 </a:t>
            </a:r>
            <a:endParaRPr lang="en-CN" sz="1400"/>
          </a:p>
        </p:txBody>
      </p:sp>
    </p:spTree>
    <p:extLst>
      <p:ext uri="{BB962C8B-B14F-4D97-AF65-F5344CB8AC3E}">
        <p14:creationId xmlns:p14="http://schemas.microsoft.com/office/powerpoint/2010/main" val="89052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B088-32CD-01FA-63E2-1CE658628D50}"/>
              </a:ext>
            </a:extLst>
          </p:cNvPr>
          <p:cNvSpPr>
            <a:spLocks noGrp="1"/>
          </p:cNvSpPr>
          <p:nvPr>
            <p:ph type="title"/>
          </p:nvPr>
        </p:nvSpPr>
        <p:spPr/>
        <p:txBody>
          <a:bodyPr>
            <a:normAutofit/>
          </a:bodyPr>
          <a:lstStyle/>
          <a:p>
            <a:r>
              <a:rPr lang="en-CN" sz="3600" dirty="0"/>
              <a:t>Combining Software and Hardware for Memory Tiering</a:t>
            </a:r>
          </a:p>
        </p:txBody>
      </p:sp>
      <p:sp>
        <p:nvSpPr>
          <p:cNvPr id="4" name="Slide Number Placeholder 3">
            <a:extLst>
              <a:ext uri="{FF2B5EF4-FFF2-40B4-BE49-F238E27FC236}">
                <a16:creationId xmlns:a16="http://schemas.microsoft.com/office/drawing/2014/main" id="{539F607B-60D3-5946-9146-13C452B94C31}"/>
              </a:ext>
            </a:extLst>
          </p:cNvPr>
          <p:cNvSpPr>
            <a:spLocks noGrp="1"/>
          </p:cNvSpPr>
          <p:nvPr>
            <p:ph type="sldNum" sz="quarter" idx="12"/>
          </p:nvPr>
        </p:nvSpPr>
        <p:spPr/>
        <p:txBody>
          <a:bodyPr/>
          <a:lstStyle/>
          <a:p>
            <a:fld id="{5D76F006-5496-B946-A476-FEDACCAB686D}" type="slidenum">
              <a:rPr lang="en-CN" smtClean="0"/>
              <a:t>6</a:t>
            </a:fld>
            <a:endParaRPr lang="en-CN"/>
          </a:p>
        </p:txBody>
      </p:sp>
      <p:sp>
        <p:nvSpPr>
          <p:cNvPr id="5" name="TextBox 4">
            <a:extLst>
              <a:ext uri="{FF2B5EF4-FFF2-40B4-BE49-F238E27FC236}">
                <a16:creationId xmlns:a16="http://schemas.microsoft.com/office/drawing/2014/main" id="{A8770D15-4B49-C94B-02D2-A5823A12A7A9}"/>
              </a:ext>
            </a:extLst>
          </p:cNvPr>
          <p:cNvSpPr txBox="1"/>
          <p:nvPr/>
        </p:nvSpPr>
        <p:spPr>
          <a:xfrm>
            <a:off x="2946576" y="1647775"/>
            <a:ext cx="2133918" cy="430887"/>
          </a:xfrm>
          <a:prstGeom prst="rect">
            <a:avLst/>
          </a:prstGeom>
          <a:noFill/>
        </p:spPr>
        <p:txBody>
          <a:bodyPr wrap="none" rtlCol="0">
            <a:spAutoFit/>
          </a:bodyPr>
          <a:lstStyle/>
          <a:p>
            <a:r>
              <a:rPr lang="en-CN" sz="2200" dirty="0"/>
              <a:t>Software Tiering</a:t>
            </a:r>
          </a:p>
        </p:txBody>
      </p:sp>
      <p:sp>
        <p:nvSpPr>
          <p:cNvPr id="6" name="TextBox 5">
            <a:extLst>
              <a:ext uri="{FF2B5EF4-FFF2-40B4-BE49-F238E27FC236}">
                <a16:creationId xmlns:a16="http://schemas.microsoft.com/office/drawing/2014/main" id="{CB237DEC-8BFE-12F3-0DE5-2BFF5FAAA67B}"/>
              </a:ext>
            </a:extLst>
          </p:cNvPr>
          <p:cNvSpPr txBox="1"/>
          <p:nvPr/>
        </p:nvSpPr>
        <p:spPr>
          <a:xfrm>
            <a:off x="5504523" y="1647775"/>
            <a:ext cx="2234907" cy="430887"/>
          </a:xfrm>
          <a:prstGeom prst="rect">
            <a:avLst/>
          </a:prstGeom>
          <a:noFill/>
        </p:spPr>
        <p:txBody>
          <a:bodyPr wrap="none" rtlCol="0">
            <a:spAutoFit/>
          </a:bodyPr>
          <a:lstStyle/>
          <a:p>
            <a:r>
              <a:rPr lang="en-CN" sz="2200" dirty="0"/>
              <a:t>Hardware Tiering</a:t>
            </a:r>
          </a:p>
        </p:txBody>
      </p:sp>
      <p:sp>
        <p:nvSpPr>
          <p:cNvPr id="7" name="TextBox 6">
            <a:extLst>
              <a:ext uri="{FF2B5EF4-FFF2-40B4-BE49-F238E27FC236}">
                <a16:creationId xmlns:a16="http://schemas.microsoft.com/office/drawing/2014/main" id="{6BE62159-8053-974B-3ABC-19CEB3D47965}"/>
              </a:ext>
            </a:extLst>
          </p:cNvPr>
          <p:cNvSpPr txBox="1"/>
          <p:nvPr/>
        </p:nvSpPr>
        <p:spPr>
          <a:xfrm>
            <a:off x="8009989" y="1647775"/>
            <a:ext cx="3587842" cy="430887"/>
          </a:xfrm>
          <a:prstGeom prst="rect">
            <a:avLst/>
          </a:prstGeom>
          <a:noFill/>
        </p:spPr>
        <p:txBody>
          <a:bodyPr wrap="none" rtlCol="0">
            <a:spAutoFit/>
          </a:bodyPr>
          <a:lstStyle/>
          <a:p>
            <a:r>
              <a:rPr lang="en-CN" sz="2200" dirty="0"/>
              <a:t>Software + Hardware Tiering</a:t>
            </a:r>
          </a:p>
        </p:txBody>
      </p:sp>
      <p:sp>
        <p:nvSpPr>
          <p:cNvPr id="8" name="TextBox 7">
            <a:extLst>
              <a:ext uri="{FF2B5EF4-FFF2-40B4-BE49-F238E27FC236}">
                <a16:creationId xmlns:a16="http://schemas.microsoft.com/office/drawing/2014/main" id="{CA302959-D552-A0CC-7049-99E1B6D0FD7B}"/>
              </a:ext>
            </a:extLst>
          </p:cNvPr>
          <p:cNvSpPr txBox="1"/>
          <p:nvPr/>
        </p:nvSpPr>
        <p:spPr>
          <a:xfrm>
            <a:off x="142064" y="3613636"/>
            <a:ext cx="2245038" cy="400110"/>
          </a:xfrm>
          <a:prstGeom prst="rect">
            <a:avLst/>
          </a:prstGeom>
          <a:noFill/>
        </p:spPr>
        <p:txBody>
          <a:bodyPr wrap="none" rtlCol="0">
            <a:spAutoFit/>
          </a:bodyPr>
          <a:lstStyle/>
          <a:p>
            <a:r>
              <a:rPr lang="en-CN" sz="2000" dirty="0"/>
              <a:t>Minimal slowdown</a:t>
            </a:r>
          </a:p>
        </p:txBody>
      </p:sp>
      <p:sp>
        <p:nvSpPr>
          <p:cNvPr id="9" name="TextBox 8">
            <a:extLst>
              <a:ext uri="{FF2B5EF4-FFF2-40B4-BE49-F238E27FC236}">
                <a16:creationId xmlns:a16="http://schemas.microsoft.com/office/drawing/2014/main" id="{B1976FD7-9D52-6774-86B8-1A3B17658A17}"/>
              </a:ext>
            </a:extLst>
          </p:cNvPr>
          <p:cNvSpPr txBox="1"/>
          <p:nvPr/>
        </p:nvSpPr>
        <p:spPr>
          <a:xfrm>
            <a:off x="142063" y="4293951"/>
            <a:ext cx="2271327" cy="400110"/>
          </a:xfrm>
          <a:prstGeom prst="rect">
            <a:avLst/>
          </a:prstGeom>
          <a:noFill/>
        </p:spPr>
        <p:txBody>
          <a:bodyPr wrap="none" rtlCol="0">
            <a:spAutoFit/>
          </a:bodyPr>
          <a:lstStyle/>
          <a:p>
            <a:r>
              <a:rPr lang="en-CN" sz="2000" dirty="0"/>
              <a:t>Low CPU overhead</a:t>
            </a:r>
          </a:p>
        </p:txBody>
      </p:sp>
      <p:sp>
        <p:nvSpPr>
          <p:cNvPr id="10" name="TextBox 9">
            <a:extLst>
              <a:ext uri="{FF2B5EF4-FFF2-40B4-BE49-F238E27FC236}">
                <a16:creationId xmlns:a16="http://schemas.microsoft.com/office/drawing/2014/main" id="{5B445F3E-6D70-2543-BADE-3E250593271F}"/>
              </a:ext>
            </a:extLst>
          </p:cNvPr>
          <p:cNvSpPr txBox="1"/>
          <p:nvPr/>
        </p:nvSpPr>
        <p:spPr>
          <a:xfrm>
            <a:off x="132124" y="4974263"/>
            <a:ext cx="2231701" cy="400110"/>
          </a:xfrm>
          <a:prstGeom prst="rect">
            <a:avLst/>
          </a:prstGeom>
          <a:noFill/>
        </p:spPr>
        <p:txBody>
          <a:bodyPr wrap="none" rtlCol="0">
            <a:spAutoFit/>
          </a:bodyPr>
          <a:lstStyle/>
          <a:p>
            <a:r>
              <a:rPr lang="en-CN" sz="2000" dirty="0"/>
              <a:t>Huge page friendly</a:t>
            </a:r>
          </a:p>
        </p:txBody>
      </p:sp>
      <p:sp>
        <p:nvSpPr>
          <p:cNvPr id="11" name="TextBox 10">
            <a:extLst>
              <a:ext uri="{FF2B5EF4-FFF2-40B4-BE49-F238E27FC236}">
                <a16:creationId xmlns:a16="http://schemas.microsoft.com/office/drawing/2014/main" id="{BE7DA52A-7F92-A136-74B9-C567AD9F45DD}"/>
              </a:ext>
            </a:extLst>
          </p:cNvPr>
          <p:cNvSpPr txBox="1"/>
          <p:nvPr/>
        </p:nvSpPr>
        <p:spPr>
          <a:xfrm>
            <a:off x="2692672" y="4345926"/>
            <a:ext cx="2084225" cy="400110"/>
          </a:xfrm>
          <a:prstGeom prst="rect">
            <a:avLst/>
          </a:prstGeom>
          <a:noFill/>
        </p:spPr>
        <p:txBody>
          <a:bodyPr wrap="none" rtlCol="0">
            <a:spAutoFit/>
          </a:bodyPr>
          <a:lstStyle/>
          <a:p>
            <a:r>
              <a:rPr lang="en-CN" sz="2000" dirty="0">
                <a:solidFill>
                  <a:srgbClr val="C00000"/>
                </a:solidFill>
              </a:rPr>
              <a:t>❌ High overhead</a:t>
            </a:r>
          </a:p>
        </p:txBody>
      </p:sp>
      <p:sp>
        <p:nvSpPr>
          <p:cNvPr id="12" name="TextBox 11">
            <a:extLst>
              <a:ext uri="{FF2B5EF4-FFF2-40B4-BE49-F238E27FC236}">
                <a16:creationId xmlns:a16="http://schemas.microsoft.com/office/drawing/2014/main" id="{7DD1C5FD-DA96-2A08-B12C-937B196944EB}"/>
              </a:ext>
            </a:extLst>
          </p:cNvPr>
          <p:cNvSpPr txBox="1"/>
          <p:nvPr/>
        </p:nvSpPr>
        <p:spPr>
          <a:xfrm>
            <a:off x="2682733" y="5031281"/>
            <a:ext cx="1636987" cy="400110"/>
          </a:xfrm>
          <a:prstGeom prst="rect">
            <a:avLst/>
          </a:prstGeom>
          <a:noFill/>
        </p:spPr>
        <p:txBody>
          <a:bodyPr wrap="none" rtlCol="0">
            <a:spAutoFit/>
          </a:bodyPr>
          <a:lstStyle/>
          <a:p>
            <a:r>
              <a:rPr lang="en-CN" sz="2000" dirty="0">
                <a:solidFill>
                  <a:srgbClr val="C00000"/>
                </a:solidFill>
              </a:rPr>
              <a:t>❌ Unfriendly</a:t>
            </a:r>
          </a:p>
        </p:txBody>
      </p:sp>
      <p:sp>
        <p:nvSpPr>
          <p:cNvPr id="13" name="TextBox 12">
            <a:extLst>
              <a:ext uri="{FF2B5EF4-FFF2-40B4-BE49-F238E27FC236}">
                <a16:creationId xmlns:a16="http://schemas.microsoft.com/office/drawing/2014/main" id="{DE69BBDA-30BB-FA82-55C2-CE790FCD5BEF}"/>
              </a:ext>
            </a:extLst>
          </p:cNvPr>
          <p:cNvSpPr txBox="1"/>
          <p:nvPr/>
        </p:nvSpPr>
        <p:spPr>
          <a:xfrm>
            <a:off x="2692672" y="3655269"/>
            <a:ext cx="2574744" cy="400110"/>
          </a:xfrm>
          <a:prstGeom prst="rect">
            <a:avLst/>
          </a:prstGeom>
          <a:noFill/>
        </p:spPr>
        <p:txBody>
          <a:bodyPr wrap="none" rtlCol="0">
            <a:spAutoFit/>
          </a:bodyPr>
          <a:lstStyle/>
          <a:p>
            <a:r>
              <a:rPr lang="en-CN" sz="2000" dirty="0">
                <a:solidFill>
                  <a:srgbClr val="FB9F27"/>
                </a:solidFill>
              </a:rPr>
              <a:t>⚠️ High tail slowdown</a:t>
            </a:r>
          </a:p>
        </p:txBody>
      </p:sp>
      <p:sp>
        <p:nvSpPr>
          <p:cNvPr id="14" name="TextBox 13">
            <a:extLst>
              <a:ext uri="{FF2B5EF4-FFF2-40B4-BE49-F238E27FC236}">
                <a16:creationId xmlns:a16="http://schemas.microsoft.com/office/drawing/2014/main" id="{EDC077A7-93FF-1436-08DA-FD7DEB3311D7}"/>
              </a:ext>
            </a:extLst>
          </p:cNvPr>
          <p:cNvSpPr txBox="1"/>
          <p:nvPr/>
        </p:nvSpPr>
        <p:spPr>
          <a:xfrm>
            <a:off x="5377263" y="3653624"/>
            <a:ext cx="2574744" cy="400110"/>
          </a:xfrm>
          <a:prstGeom prst="rect">
            <a:avLst/>
          </a:prstGeom>
          <a:noFill/>
        </p:spPr>
        <p:txBody>
          <a:bodyPr wrap="none" rtlCol="0">
            <a:spAutoFit/>
          </a:bodyPr>
          <a:lstStyle/>
          <a:p>
            <a:r>
              <a:rPr lang="en-CN" sz="2000" dirty="0">
                <a:solidFill>
                  <a:srgbClr val="FB9F27"/>
                </a:solidFill>
              </a:rPr>
              <a:t>⚠️ High tail slowdown</a:t>
            </a:r>
          </a:p>
        </p:txBody>
      </p:sp>
      <p:sp>
        <p:nvSpPr>
          <p:cNvPr id="15" name="TextBox 14">
            <a:extLst>
              <a:ext uri="{FF2B5EF4-FFF2-40B4-BE49-F238E27FC236}">
                <a16:creationId xmlns:a16="http://schemas.microsoft.com/office/drawing/2014/main" id="{98C6FD76-9025-8BE5-013D-7AEEED38D095}"/>
              </a:ext>
            </a:extLst>
          </p:cNvPr>
          <p:cNvSpPr txBox="1"/>
          <p:nvPr/>
        </p:nvSpPr>
        <p:spPr>
          <a:xfrm>
            <a:off x="5377263" y="4345926"/>
            <a:ext cx="2028119" cy="400110"/>
          </a:xfrm>
          <a:prstGeom prst="rect">
            <a:avLst/>
          </a:prstGeom>
          <a:noFill/>
        </p:spPr>
        <p:txBody>
          <a:bodyPr wrap="none" rtlCol="0">
            <a:spAutoFit/>
          </a:bodyPr>
          <a:lstStyle/>
          <a:p>
            <a:r>
              <a:rPr lang="en-CN" sz="2000" dirty="0">
                <a:solidFill>
                  <a:schemeClr val="accent3"/>
                </a:solidFill>
              </a:rPr>
              <a:t>✅ Low overhead</a:t>
            </a:r>
          </a:p>
        </p:txBody>
      </p:sp>
      <p:sp>
        <p:nvSpPr>
          <p:cNvPr id="16" name="TextBox 15">
            <a:extLst>
              <a:ext uri="{FF2B5EF4-FFF2-40B4-BE49-F238E27FC236}">
                <a16:creationId xmlns:a16="http://schemas.microsoft.com/office/drawing/2014/main" id="{9DCED4FE-4873-E66C-AA86-5377A29BCF6F}"/>
              </a:ext>
            </a:extLst>
          </p:cNvPr>
          <p:cNvSpPr txBox="1"/>
          <p:nvPr/>
        </p:nvSpPr>
        <p:spPr>
          <a:xfrm>
            <a:off x="5367324" y="5031281"/>
            <a:ext cx="1375698" cy="400110"/>
          </a:xfrm>
          <a:prstGeom prst="rect">
            <a:avLst/>
          </a:prstGeom>
          <a:noFill/>
        </p:spPr>
        <p:txBody>
          <a:bodyPr wrap="none" rtlCol="0">
            <a:spAutoFit/>
          </a:bodyPr>
          <a:lstStyle/>
          <a:p>
            <a:r>
              <a:rPr lang="en-CN" sz="2000" dirty="0">
                <a:solidFill>
                  <a:schemeClr val="accent3"/>
                </a:solidFill>
              </a:rPr>
              <a:t>✅ Friendly</a:t>
            </a:r>
          </a:p>
        </p:txBody>
      </p:sp>
      <p:sp>
        <p:nvSpPr>
          <p:cNvPr id="17" name="TextBox 16">
            <a:extLst>
              <a:ext uri="{FF2B5EF4-FFF2-40B4-BE49-F238E27FC236}">
                <a16:creationId xmlns:a16="http://schemas.microsoft.com/office/drawing/2014/main" id="{45B6E126-B09D-F229-1C55-D67C1331FC79}"/>
              </a:ext>
            </a:extLst>
          </p:cNvPr>
          <p:cNvSpPr txBox="1"/>
          <p:nvPr/>
        </p:nvSpPr>
        <p:spPr>
          <a:xfrm>
            <a:off x="8099393" y="4344873"/>
            <a:ext cx="2028119" cy="400110"/>
          </a:xfrm>
          <a:prstGeom prst="rect">
            <a:avLst/>
          </a:prstGeom>
          <a:noFill/>
        </p:spPr>
        <p:txBody>
          <a:bodyPr wrap="none" rtlCol="0">
            <a:spAutoFit/>
          </a:bodyPr>
          <a:lstStyle/>
          <a:p>
            <a:r>
              <a:rPr lang="en-CN" sz="2000" dirty="0">
                <a:solidFill>
                  <a:schemeClr val="accent3"/>
                </a:solidFill>
              </a:rPr>
              <a:t>✅ Low overhead</a:t>
            </a:r>
          </a:p>
        </p:txBody>
      </p:sp>
      <p:sp>
        <p:nvSpPr>
          <p:cNvPr id="18" name="TextBox 17">
            <a:extLst>
              <a:ext uri="{FF2B5EF4-FFF2-40B4-BE49-F238E27FC236}">
                <a16:creationId xmlns:a16="http://schemas.microsoft.com/office/drawing/2014/main" id="{C1DA18FD-ADC8-F150-8C71-045D3B24F442}"/>
              </a:ext>
            </a:extLst>
          </p:cNvPr>
          <p:cNvSpPr txBox="1"/>
          <p:nvPr/>
        </p:nvSpPr>
        <p:spPr>
          <a:xfrm>
            <a:off x="8113691" y="5031281"/>
            <a:ext cx="1375698" cy="400110"/>
          </a:xfrm>
          <a:prstGeom prst="rect">
            <a:avLst/>
          </a:prstGeom>
          <a:noFill/>
        </p:spPr>
        <p:txBody>
          <a:bodyPr wrap="none" rtlCol="0">
            <a:spAutoFit/>
          </a:bodyPr>
          <a:lstStyle/>
          <a:p>
            <a:r>
              <a:rPr lang="en-CN" sz="2000" dirty="0">
                <a:solidFill>
                  <a:schemeClr val="accent3"/>
                </a:solidFill>
              </a:rPr>
              <a:t>✅ Friendly</a:t>
            </a:r>
          </a:p>
        </p:txBody>
      </p:sp>
      <p:sp>
        <p:nvSpPr>
          <p:cNvPr id="19" name="TextBox 18">
            <a:extLst>
              <a:ext uri="{FF2B5EF4-FFF2-40B4-BE49-F238E27FC236}">
                <a16:creationId xmlns:a16="http://schemas.microsoft.com/office/drawing/2014/main" id="{01188F27-62D7-8748-1222-C68C410EB868}"/>
              </a:ext>
            </a:extLst>
          </p:cNvPr>
          <p:cNvSpPr txBox="1"/>
          <p:nvPr/>
        </p:nvSpPr>
        <p:spPr>
          <a:xfrm>
            <a:off x="8099393" y="3654433"/>
            <a:ext cx="2554417" cy="400110"/>
          </a:xfrm>
          <a:prstGeom prst="rect">
            <a:avLst/>
          </a:prstGeom>
          <a:noFill/>
        </p:spPr>
        <p:txBody>
          <a:bodyPr wrap="none" rtlCol="0">
            <a:spAutoFit/>
          </a:bodyPr>
          <a:lstStyle/>
          <a:p>
            <a:r>
              <a:rPr lang="en-CN" sz="2000" dirty="0">
                <a:solidFill>
                  <a:schemeClr val="accent3"/>
                </a:solidFill>
              </a:rPr>
              <a:t>✅ Minimal slowdown</a:t>
            </a:r>
          </a:p>
        </p:txBody>
      </p:sp>
      <p:sp>
        <p:nvSpPr>
          <p:cNvPr id="20" name="TextBox 19">
            <a:extLst>
              <a:ext uri="{FF2B5EF4-FFF2-40B4-BE49-F238E27FC236}">
                <a16:creationId xmlns:a16="http://schemas.microsoft.com/office/drawing/2014/main" id="{F1DFE132-E89F-F787-162E-0385B640FCBA}"/>
              </a:ext>
            </a:extLst>
          </p:cNvPr>
          <p:cNvSpPr txBox="1"/>
          <p:nvPr/>
        </p:nvSpPr>
        <p:spPr>
          <a:xfrm>
            <a:off x="5347857" y="2279386"/>
            <a:ext cx="2618564" cy="954107"/>
          </a:xfrm>
          <a:prstGeom prst="rect">
            <a:avLst/>
          </a:prstGeom>
          <a:noFill/>
        </p:spPr>
        <p:txBody>
          <a:bodyPr wrap="square" rtlCol="0">
            <a:spAutoFit/>
          </a:bodyPr>
          <a:lstStyle/>
          <a:p>
            <a:pPr algn="ctr"/>
            <a:r>
              <a:rPr lang="en-CN" sz="2800" b="1" dirty="0"/>
              <a:t>Intel Flat Memory Mode</a:t>
            </a:r>
          </a:p>
        </p:txBody>
      </p:sp>
      <p:sp>
        <p:nvSpPr>
          <p:cNvPr id="21" name="Rectangle 20">
            <a:extLst>
              <a:ext uri="{FF2B5EF4-FFF2-40B4-BE49-F238E27FC236}">
                <a16:creationId xmlns:a16="http://schemas.microsoft.com/office/drawing/2014/main" id="{95739130-8ADA-730F-F5B2-91E48988571F}"/>
              </a:ext>
            </a:extLst>
          </p:cNvPr>
          <p:cNvSpPr/>
          <p:nvPr/>
        </p:nvSpPr>
        <p:spPr>
          <a:xfrm>
            <a:off x="2656229" y="1599786"/>
            <a:ext cx="2658936" cy="1779803"/>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2" name="Rectangle 21">
            <a:extLst>
              <a:ext uri="{FF2B5EF4-FFF2-40B4-BE49-F238E27FC236}">
                <a16:creationId xmlns:a16="http://schemas.microsoft.com/office/drawing/2014/main" id="{791B0A76-8265-2491-FE24-3660DD82B06C}"/>
              </a:ext>
            </a:extLst>
          </p:cNvPr>
          <p:cNvSpPr/>
          <p:nvPr/>
        </p:nvSpPr>
        <p:spPr>
          <a:xfrm>
            <a:off x="5315165" y="1599787"/>
            <a:ext cx="2658936" cy="1779803"/>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3" name="Rectangle 22">
            <a:extLst>
              <a:ext uri="{FF2B5EF4-FFF2-40B4-BE49-F238E27FC236}">
                <a16:creationId xmlns:a16="http://schemas.microsoft.com/office/drawing/2014/main" id="{72B226B8-CAF5-B90E-EBB4-348AAE7AD88C}"/>
              </a:ext>
            </a:extLst>
          </p:cNvPr>
          <p:cNvSpPr/>
          <p:nvPr/>
        </p:nvSpPr>
        <p:spPr>
          <a:xfrm>
            <a:off x="7974100" y="1599787"/>
            <a:ext cx="3659619" cy="1779803"/>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4" name="TextBox 23">
            <a:extLst>
              <a:ext uri="{FF2B5EF4-FFF2-40B4-BE49-F238E27FC236}">
                <a16:creationId xmlns:a16="http://schemas.microsoft.com/office/drawing/2014/main" id="{38EB8BE6-B478-4C77-C8D6-6CF8277C65C3}"/>
              </a:ext>
            </a:extLst>
          </p:cNvPr>
          <p:cNvSpPr txBox="1"/>
          <p:nvPr/>
        </p:nvSpPr>
        <p:spPr>
          <a:xfrm>
            <a:off x="2973827" y="2298421"/>
            <a:ext cx="2079415" cy="923330"/>
          </a:xfrm>
          <a:prstGeom prst="rect">
            <a:avLst/>
          </a:prstGeom>
          <a:noFill/>
        </p:spPr>
        <p:txBody>
          <a:bodyPr wrap="none" rtlCol="0">
            <a:spAutoFit/>
          </a:bodyPr>
          <a:lstStyle/>
          <a:p>
            <a:r>
              <a:rPr lang="en-US" dirty="0" err="1"/>
              <a:t>HeMem</a:t>
            </a:r>
            <a:r>
              <a:rPr lang="en-US" dirty="0"/>
              <a:t> (SOSP ’21)</a:t>
            </a:r>
          </a:p>
          <a:p>
            <a:r>
              <a:rPr lang="en-US" dirty="0"/>
              <a:t>TPP (ASPLOS ’23)</a:t>
            </a:r>
          </a:p>
          <a:p>
            <a:r>
              <a:rPr lang="en-US" dirty="0"/>
              <a:t>MEMTIS (SOSP ’23)</a:t>
            </a:r>
          </a:p>
        </p:txBody>
      </p:sp>
      <p:sp>
        <p:nvSpPr>
          <p:cNvPr id="25" name="TextBox 24">
            <a:extLst>
              <a:ext uri="{FF2B5EF4-FFF2-40B4-BE49-F238E27FC236}">
                <a16:creationId xmlns:a16="http://schemas.microsoft.com/office/drawing/2014/main" id="{DE0270DE-59EC-9A7B-370D-556BC85003D7}"/>
              </a:ext>
            </a:extLst>
          </p:cNvPr>
          <p:cNvSpPr txBox="1"/>
          <p:nvPr/>
        </p:nvSpPr>
        <p:spPr>
          <a:xfrm>
            <a:off x="8354079" y="2359977"/>
            <a:ext cx="2999539" cy="800219"/>
          </a:xfrm>
          <a:prstGeom prst="rect">
            <a:avLst/>
          </a:prstGeom>
          <a:noFill/>
        </p:spPr>
        <p:txBody>
          <a:bodyPr wrap="none" rtlCol="0">
            <a:spAutoFit/>
          </a:bodyPr>
          <a:lstStyle/>
          <a:p>
            <a:pPr algn="ctr"/>
            <a:r>
              <a:rPr lang="en-CN" dirty="0"/>
              <a:t>Intel Flat Memory Mode and</a:t>
            </a:r>
          </a:p>
          <a:p>
            <a:pPr algn="ctr"/>
            <a:r>
              <a:rPr lang="en-CN" sz="2800" b="1" dirty="0"/>
              <a:t>Memstrata</a:t>
            </a:r>
          </a:p>
        </p:txBody>
      </p:sp>
      <p:cxnSp>
        <p:nvCxnSpPr>
          <p:cNvPr id="27" name="Straight Connector 26">
            <a:extLst>
              <a:ext uri="{FF2B5EF4-FFF2-40B4-BE49-F238E27FC236}">
                <a16:creationId xmlns:a16="http://schemas.microsoft.com/office/drawing/2014/main" id="{BE1F6C98-325B-67E1-7528-ACAFF3660574}"/>
              </a:ext>
            </a:extLst>
          </p:cNvPr>
          <p:cNvCxnSpPr>
            <a:cxnSpLocks/>
          </p:cNvCxnSpPr>
          <p:nvPr/>
        </p:nvCxnSpPr>
        <p:spPr>
          <a:xfrm>
            <a:off x="2673847" y="2118418"/>
            <a:ext cx="264131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C34261E-CFBF-CEB4-68B4-25ED57D4DCCC}"/>
              </a:ext>
            </a:extLst>
          </p:cNvPr>
          <p:cNvCxnSpPr>
            <a:cxnSpLocks/>
          </p:cNvCxnSpPr>
          <p:nvPr/>
        </p:nvCxnSpPr>
        <p:spPr>
          <a:xfrm>
            <a:off x="5315165" y="2118418"/>
            <a:ext cx="265893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B4B8117-F4DE-1CE4-2BA6-C4E81FE42122}"/>
              </a:ext>
            </a:extLst>
          </p:cNvPr>
          <p:cNvCxnSpPr>
            <a:cxnSpLocks/>
          </p:cNvCxnSpPr>
          <p:nvPr/>
        </p:nvCxnSpPr>
        <p:spPr>
          <a:xfrm>
            <a:off x="7974101" y="2118418"/>
            <a:ext cx="365961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Left Brace 44">
            <a:extLst>
              <a:ext uri="{FF2B5EF4-FFF2-40B4-BE49-F238E27FC236}">
                <a16:creationId xmlns:a16="http://schemas.microsoft.com/office/drawing/2014/main" id="{4E29052D-1488-754A-1D81-4FA181484208}"/>
              </a:ext>
            </a:extLst>
          </p:cNvPr>
          <p:cNvSpPr/>
          <p:nvPr/>
        </p:nvSpPr>
        <p:spPr>
          <a:xfrm rot="16200000">
            <a:off x="8255932" y="2602584"/>
            <a:ext cx="354351" cy="6352007"/>
          </a:xfrm>
          <a:prstGeom prst="leftBrace">
            <a:avLst/>
          </a:prstGeom>
          <a:ln w="2857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N"/>
          </a:p>
        </p:txBody>
      </p:sp>
      <p:sp>
        <p:nvSpPr>
          <p:cNvPr id="46" name="TextBox 45">
            <a:extLst>
              <a:ext uri="{FF2B5EF4-FFF2-40B4-BE49-F238E27FC236}">
                <a16:creationId xmlns:a16="http://schemas.microsoft.com/office/drawing/2014/main" id="{9FB5C11E-60E9-8470-F95D-C3434C99231E}"/>
              </a:ext>
            </a:extLst>
          </p:cNvPr>
          <p:cNvSpPr txBox="1"/>
          <p:nvPr/>
        </p:nvSpPr>
        <p:spPr>
          <a:xfrm>
            <a:off x="6567315" y="5929612"/>
            <a:ext cx="3710824" cy="523220"/>
          </a:xfrm>
          <a:prstGeom prst="rect">
            <a:avLst/>
          </a:prstGeom>
          <a:noFill/>
        </p:spPr>
        <p:txBody>
          <a:bodyPr wrap="none" rtlCol="0">
            <a:spAutoFit/>
          </a:bodyPr>
          <a:lstStyle/>
          <a:p>
            <a:r>
              <a:rPr lang="en-CN" sz="2800"/>
              <a:t>Introduced in this work</a:t>
            </a:r>
          </a:p>
        </p:txBody>
      </p:sp>
      <p:cxnSp>
        <p:nvCxnSpPr>
          <p:cNvPr id="48" name="Straight Connector 47">
            <a:extLst>
              <a:ext uri="{FF2B5EF4-FFF2-40B4-BE49-F238E27FC236}">
                <a16:creationId xmlns:a16="http://schemas.microsoft.com/office/drawing/2014/main" id="{95C17FBB-EE2B-978E-A7A3-9055199D2E07}"/>
              </a:ext>
            </a:extLst>
          </p:cNvPr>
          <p:cNvCxnSpPr/>
          <p:nvPr/>
        </p:nvCxnSpPr>
        <p:spPr>
          <a:xfrm>
            <a:off x="5315165" y="3379589"/>
            <a:ext cx="0" cy="209155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99E58438-1077-5BE7-495B-803C9BB4C91F}"/>
              </a:ext>
            </a:extLst>
          </p:cNvPr>
          <p:cNvCxnSpPr/>
          <p:nvPr/>
        </p:nvCxnSpPr>
        <p:spPr>
          <a:xfrm>
            <a:off x="7977794" y="3425450"/>
            <a:ext cx="0" cy="209155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8C3A01F5-CF54-092B-D09B-74AEB124D60D}"/>
              </a:ext>
            </a:extLst>
          </p:cNvPr>
          <p:cNvCxnSpPr/>
          <p:nvPr/>
        </p:nvCxnSpPr>
        <p:spPr>
          <a:xfrm>
            <a:off x="2657272" y="3379589"/>
            <a:ext cx="0" cy="209155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A96CED57-CB96-3D49-4AD1-16BDF0DEADBF}"/>
              </a:ext>
            </a:extLst>
          </p:cNvPr>
          <p:cNvCxnSpPr/>
          <p:nvPr/>
        </p:nvCxnSpPr>
        <p:spPr>
          <a:xfrm>
            <a:off x="11633719" y="3356439"/>
            <a:ext cx="0" cy="209155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727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grpId="1"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par>
                                <p:cTn id="28" presetID="10" presetClass="entr" presetSubtype="0" fill="hold" nodeType="with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fade">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fade">
                                      <p:cBhvr>
                                        <p:cTn id="54" dur="500"/>
                                        <p:tgtEl>
                                          <p:spTgt spid="6"/>
                                        </p:tgtEl>
                                      </p:cBhvr>
                                    </p:animEffect>
                                  </p:childTnLst>
                                </p:cTn>
                              </p:par>
                              <p:par>
                                <p:cTn id="55" presetID="10"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500"/>
                                        <p:tgtEl>
                                          <p:spTgt spid="4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6"/>
                                        </p:tgtEl>
                                        <p:attrNameLst>
                                          <p:attrName>style.visibility</p:attrName>
                                        </p:attrNameLst>
                                      </p:cBhvr>
                                      <p:to>
                                        <p:strVal val="visible"/>
                                      </p:to>
                                    </p:set>
                                    <p:animEffect transition="in" filter="fade">
                                      <p:cBhvr>
                                        <p:cTn id="66" dur="500"/>
                                        <p:tgtEl>
                                          <p:spTgt spid="4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10" presetClass="entr" presetSubtype="0" fill="hold"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500"/>
                                        <p:tgtEl>
                                          <p:spTgt spid="49"/>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50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fade">
                                      <p:cBhvr>
                                        <p:cTn id="84" dur="500"/>
                                        <p:tgtEl>
                                          <p:spTgt spid="16"/>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
                                        </p:tgtEl>
                                        <p:attrNameLst>
                                          <p:attrName>style.visibility</p:attrName>
                                        </p:attrNameLst>
                                      </p:cBhvr>
                                      <p:to>
                                        <p:strVal val="visible"/>
                                      </p:to>
                                    </p:set>
                                    <p:animEffect transition="in" filter="fade">
                                      <p:cBhvr>
                                        <p:cTn id="92" dur="500"/>
                                        <p:tgtEl>
                                          <p:spTgt spid="7"/>
                                        </p:tgtEl>
                                      </p:cBhvr>
                                    </p:animEffect>
                                  </p:childTnLst>
                                </p:cTn>
                              </p:par>
                              <p:par>
                                <p:cTn id="93" presetID="10" presetClass="entr" presetSubtype="0" fill="hold"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500"/>
                                        <p:tgtEl>
                                          <p:spTgt spid="25"/>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19"/>
                                        </p:tgtEl>
                                        <p:attrNameLst>
                                          <p:attrName>style.visibility</p:attrName>
                                        </p:attrNameLst>
                                      </p:cBhvr>
                                      <p:to>
                                        <p:strVal val="visible"/>
                                      </p:to>
                                    </p:set>
                                    <p:animEffect transition="in" filter="fade">
                                      <p:cBhvr>
                                        <p:cTn id="103" dur="500"/>
                                        <p:tgtEl>
                                          <p:spTgt spid="19"/>
                                        </p:tgtEl>
                                      </p:cBhvr>
                                    </p:animEffect>
                                  </p:childTnLst>
                                </p:cTn>
                              </p:par>
                              <p:par>
                                <p:cTn id="104" presetID="10" presetClass="entr" presetSubtype="0" fill="hold" nodeType="withEffect">
                                  <p:stCondLst>
                                    <p:cond delay="0"/>
                                  </p:stCondLst>
                                  <p:childTnLst>
                                    <p:set>
                                      <p:cBhvr>
                                        <p:cTn id="105" dur="1" fill="hold">
                                          <p:stCondLst>
                                            <p:cond delay="0"/>
                                          </p:stCondLst>
                                        </p:cTn>
                                        <p:tgtEl>
                                          <p:spTgt spid="51"/>
                                        </p:tgtEl>
                                        <p:attrNameLst>
                                          <p:attrName>style.visibility</p:attrName>
                                        </p:attrNameLst>
                                      </p:cBhvr>
                                      <p:to>
                                        <p:strVal val="visible"/>
                                      </p:to>
                                    </p:set>
                                    <p:animEffect transition="in" filter="fade">
                                      <p:cBhvr>
                                        <p:cTn id="106" dur="500"/>
                                        <p:tgtEl>
                                          <p:spTgt spid="51"/>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17"/>
                                        </p:tgtEl>
                                        <p:attrNameLst>
                                          <p:attrName>style.visibility</p:attrName>
                                        </p:attrNameLst>
                                      </p:cBhvr>
                                      <p:to>
                                        <p:strVal val="visible"/>
                                      </p:to>
                                    </p:set>
                                    <p:animEffect transition="in" filter="fade">
                                      <p:cBhvr>
                                        <p:cTn id="111" dur="500"/>
                                        <p:tgtEl>
                                          <p:spTgt spid="17"/>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18"/>
                                        </p:tgtEl>
                                        <p:attrNameLst>
                                          <p:attrName>style.visibility</p:attrName>
                                        </p:attrNameLst>
                                      </p:cBhvr>
                                      <p:to>
                                        <p:strVal val="visible"/>
                                      </p:to>
                                    </p:set>
                                    <p:animEffect transition="in" filter="fade">
                                      <p:cBhvr>
                                        <p:cTn id="11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animBg="1"/>
      <p:bldP spid="22" grpId="0" animBg="1"/>
      <p:bldP spid="23" grpId="0" animBg="1"/>
      <p:bldP spid="24" grpId="1"/>
      <p:bldP spid="25" grpId="0"/>
      <p:bldP spid="45" grpId="0" animBg="1"/>
      <p:bldP spid="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E3A1803-6ADA-A817-316D-AC0D3346A40B}"/>
              </a:ext>
            </a:extLst>
          </p:cNvPr>
          <p:cNvSpPr/>
          <p:nvPr/>
        </p:nvSpPr>
        <p:spPr>
          <a:xfrm>
            <a:off x="2557558" y="3676053"/>
            <a:ext cx="7245206" cy="363977"/>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 name="Title 1">
            <a:extLst>
              <a:ext uri="{FF2B5EF4-FFF2-40B4-BE49-F238E27FC236}">
                <a16:creationId xmlns:a16="http://schemas.microsoft.com/office/drawing/2014/main" id="{E2F9338F-D352-A2ED-A32D-539A8B80B23E}"/>
              </a:ext>
            </a:extLst>
          </p:cNvPr>
          <p:cNvSpPr>
            <a:spLocks noGrp="1"/>
          </p:cNvSpPr>
          <p:nvPr>
            <p:ph type="title"/>
          </p:nvPr>
        </p:nvSpPr>
        <p:spPr/>
        <p:txBody>
          <a:bodyPr>
            <a:normAutofit/>
          </a:bodyPr>
          <a:lstStyle/>
          <a:p>
            <a:r>
              <a:rPr lang="en-CN" sz="4000"/>
              <a:t>Prior Work: Software-Managed Memory Tiering</a:t>
            </a:r>
          </a:p>
        </p:txBody>
      </p:sp>
      <p:sp>
        <p:nvSpPr>
          <p:cNvPr id="4" name="Slide Number Placeholder 3">
            <a:extLst>
              <a:ext uri="{FF2B5EF4-FFF2-40B4-BE49-F238E27FC236}">
                <a16:creationId xmlns:a16="http://schemas.microsoft.com/office/drawing/2014/main" id="{4FB93ADC-B159-FF36-E55F-D22AE4C5F0E0}"/>
              </a:ext>
            </a:extLst>
          </p:cNvPr>
          <p:cNvSpPr>
            <a:spLocks noGrp="1"/>
          </p:cNvSpPr>
          <p:nvPr>
            <p:ph type="sldNum" sz="quarter" idx="12"/>
          </p:nvPr>
        </p:nvSpPr>
        <p:spPr/>
        <p:txBody>
          <a:bodyPr/>
          <a:lstStyle/>
          <a:p>
            <a:fld id="{5D76F006-5496-B946-A476-FEDACCAB686D}" type="slidenum">
              <a:rPr lang="en-CN" smtClean="0"/>
              <a:t>7</a:t>
            </a:fld>
            <a:endParaRPr lang="en-CN"/>
          </a:p>
        </p:txBody>
      </p:sp>
      <p:sp>
        <p:nvSpPr>
          <p:cNvPr id="6" name="Rectangle 5">
            <a:extLst>
              <a:ext uri="{FF2B5EF4-FFF2-40B4-BE49-F238E27FC236}">
                <a16:creationId xmlns:a16="http://schemas.microsoft.com/office/drawing/2014/main" id="{1D57E23C-DB71-B5FA-BC9D-0B7946924F54}"/>
              </a:ext>
            </a:extLst>
          </p:cNvPr>
          <p:cNvSpPr/>
          <p:nvPr/>
        </p:nvSpPr>
        <p:spPr>
          <a:xfrm>
            <a:off x="6180160" y="3677184"/>
            <a:ext cx="3622603" cy="36512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ectangle 12">
            <a:extLst>
              <a:ext uri="{FF2B5EF4-FFF2-40B4-BE49-F238E27FC236}">
                <a16:creationId xmlns:a16="http://schemas.microsoft.com/office/drawing/2014/main" id="{D2A6FE1D-7654-AB27-A29E-3DDB37E63102}"/>
              </a:ext>
            </a:extLst>
          </p:cNvPr>
          <p:cNvSpPr/>
          <p:nvPr/>
        </p:nvSpPr>
        <p:spPr>
          <a:xfrm>
            <a:off x="2557557" y="3677184"/>
            <a:ext cx="3622603" cy="3651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TextBox 13">
            <a:extLst>
              <a:ext uri="{FF2B5EF4-FFF2-40B4-BE49-F238E27FC236}">
                <a16:creationId xmlns:a16="http://schemas.microsoft.com/office/drawing/2014/main" id="{D06A2426-CFF4-5FCD-EF4E-46BAE94C7E03}"/>
              </a:ext>
            </a:extLst>
          </p:cNvPr>
          <p:cNvSpPr txBox="1"/>
          <p:nvPr/>
        </p:nvSpPr>
        <p:spPr>
          <a:xfrm>
            <a:off x="3573866" y="3311595"/>
            <a:ext cx="1745863" cy="400110"/>
          </a:xfrm>
          <a:prstGeom prst="rect">
            <a:avLst/>
          </a:prstGeom>
          <a:noFill/>
        </p:spPr>
        <p:txBody>
          <a:bodyPr wrap="none" rtlCol="0">
            <a:spAutoFit/>
          </a:bodyPr>
          <a:lstStyle/>
          <a:p>
            <a:r>
              <a:rPr lang="en-CN" sz="2000"/>
              <a:t>Local Memory</a:t>
            </a:r>
          </a:p>
        </p:txBody>
      </p:sp>
      <p:sp>
        <p:nvSpPr>
          <p:cNvPr id="15" name="TextBox 14">
            <a:extLst>
              <a:ext uri="{FF2B5EF4-FFF2-40B4-BE49-F238E27FC236}">
                <a16:creationId xmlns:a16="http://schemas.microsoft.com/office/drawing/2014/main" id="{988D48BF-7095-04F1-522D-1C5A47DC46E6}"/>
              </a:ext>
            </a:extLst>
          </p:cNvPr>
          <p:cNvSpPr txBox="1"/>
          <p:nvPr/>
        </p:nvSpPr>
        <p:spPr>
          <a:xfrm>
            <a:off x="7267418" y="3311595"/>
            <a:ext cx="1586396" cy="400110"/>
          </a:xfrm>
          <a:prstGeom prst="rect">
            <a:avLst/>
          </a:prstGeom>
          <a:noFill/>
        </p:spPr>
        <p:txBody>
          <a:bodyPr wrap="none" rtlCol="0">
            <a:spAutoFit/>
          </a:bodyPr>
          <a:lstStyle/>
          <a:p>
            <a:r>
              <a:rPr lang="en-CN" sz="2000"/>
              <a:t>CXL Memory</a:t>
            </a:r>
          </a:p>
        </p:txBody>
      </p:sp>
      <p:sp>
        <p:nvSpPr>
          <p:cNvPr id="16" name="TextBox 15">
            <a:extLst>
              <a:ext uri="{FF2B5EF4-FFF2-40B4-BE49-F238E27FC236}">
                <a16:creationId xmlns:a16="http://schemas.microsoft.com/office/drawing/2014/main" id="{6558E2B4-4518-8B18-D79C-B1C45738B7AD}"/>
              </a:ext>
            </a:extLst>
          </p:cNvPr>
          <p:cNvSpPr txBox="1"/>
          <p:nvPr/>
        </p:nvSpPr>
        <p:spPr>
          <a:xfrm>
            <a:off x="3888463" y="2808158"/>
            <a:ext cx="4583394" cy="400110"/>
          </a:xfrm>
          <a:prstGeom prst="rect">
            <a:avLst/>
          </a:prstGeom>
          <a:noFill/>
        </p:spPr>
        <p:txBody>
          <a:bodyPr wrap="square" rtlCol="0">
            <a:spAutoFit/>
          </a:bodyPr>
          <a:lstStyle/>
          <a:p>
            <a:pPr algn="ctr"/>
            <a:r>
              <a:rPr lang="en-CN" sz="2000"/>
              <a:t>Host Physical Address Space (HPA)</a:t>
            </a:r>
            <a:endParaRPr lang="en-CN" sz="2000" b="1"/>
          </a:p>
        </p:txBody>
      </p:sp>
      <p:sp>
        <p:nvSpPr>
          <p:cNvPr id="17" name="Rectangle 16">
            <a:extLst>
              <a:ext uri="{FF2B5EF4-FFF2-40B4-BE49-F238E27FC236}">
                <a16:creationId xmlns:a16="http://schemas.microsoft.com/office/drawing/2014/main" id="{A4C4E9F4-C123-A5B8-24A2-5AF6AF91E41E}"/>
              </a:ext>
            </a:extLst>
          </p:cNvPr>
          <p:cNvSpPr/>
          <p:nvPr/>
        </p:nvSpPr>
        <p:spPr>
          <a:xfrm>
            <a:off x="2557557" y="5434254"/>
            <a:ext cx="2559555" cy="3651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8" name="TextBox 17">
            <a:extLst>
              <a:ext uri="{FF2B5EF4-FFF2-40B4-BE49-F238E27FC236}">
                <a16:creationId xmlns:a16="http://schemas.microsoft.com/office/drawing/2014/main" id="{DD3B67AD-0AC2-42BF-7F4A-CD62FB547892}"/>
              </a:ext>
            </a:extLst>
          </p:cNvPr>
          <p:cNvSpPr txBox="1"/>
          <p:nvPr/>
        </p:nvSpPr>
        <p:spPr>
          <a:xfrm>
            <a:off x="1780730" y="5825477"/>
            <a:ext cx="4438405" cy="400110"/>
          </a:xfrm>
          <a:prstGeom prst="rect">
            <a:avLst/>
          </a:prstGeom>
          <a:noFill/>
        </p:spPr>
        <p:txBody>
          <a:bodyPr wrap="square" rtlCol="0">
            <a:spAutoFit/>
          </a:bodyPr>
          <a:lstStyle/>
          <a:p>
            <a:pPr algn="ctr"/>
            <a:r>
              <a:rPr lang="en-CN" sz="2000"/>
              <a:t>Guest Physical Address Space (GPA)</a:t>
            </a:r>
          </a:p>
        </p:txBody>
      </p:sp>
      <p:sp>
        <p:nvSpPr>
          <p:cNvPr id="20" name="Rectangle 19">
            <a:extLst>
              <a:ext uri="{FF2B5EF4-FFF2-40B4-BE49-F238E27FC236}">
                <a16:creationId xmlns:a16="http://schemas.microsoft.com/office/drawing/2014/main" id="{A38D7DAC-69C5-2476-2925-09E9644D4B2E}"/>
              </a:ext>
            </a:extLst>
          </p:cNvPr>
          <p:cNvSpPr/>
          <p:nvPr/>
        </p:nvSpPr>
        <p:spPr>
          <a:xfrm>
            <a:off x="2878407" y="5434253"/>
            <a:ext cx="320850" cy="3651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1" name="Rectangle 20">
            <a:extLst>
              <a:ext uri="{FF2B5EF4-FFF2-40B4-BE49-F238E27FC236}">
                <a16:creationId xmlns:a16="http://schemas.microsoft.com/office/drawing/2014/main" id="{7CDF902F-5DA3-85D9-5244-1CB0D21195C9}"/>
              </a:ext>
            </a:extLst>
          </p:cNvPr>
          <p:cNvSpPr/>
          <p:nvPr/>
        </p:nvSpPr>
        <p:spPr>
          <a:xfrm>
            <a:off x="3199257" y="5434253"/>
            <a:ext cx="320850" cy="3651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2" name="Rectangle 21">
            <a:extLst>
              <a:ext uri="{FF2B5EF4-FFF2-40B4-BE49-F238E27FC236}">
                <a16:creationId xmlns:a16="http://schemas.microsoft.com/office/drawing/2014/main" id="{23FAA102-5102-FC2F-C793-1491574B8955}"/>
              </a:ext>
            </a:extLst>
          </p:cNvPr>
          <p:cNvSpPr/>
          <p:nvPr/>
        </p:nvSpPr>
        <p:spPr>
          <a:xfrm>
            <a:off x="3520825" y="5433107"/>
            <a:ext cx="320850" cy="36512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3" name="Rectangle 22">
            <a:extLst>
              <a:ext uri="{FF2B5EF4-FFF2-40B4-BE49-F238E27FC236}">
                <a16:creationId xmlns:a16="http://schemas.microsoft.com/office/drawing/2014/main" id="{1BB1A863-7D8D-EFA6-B385-4006BAC46745}"/>
              </a:ext>
            </a:extLst>
          </p:cNvPr>
          <p:cNvSpPr/>
          <p:nvPr/>
        </p:nvSpPr>
        <p:spPr>
          <a:xfrm>
            <a:off x="3839508" y="5434252"/>
            <a:ext cx="320850" cy="36512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4" name="Rectangle 23">
            <a:extLst>
              <a:ext uri="{FF2B5EF4-FFF2-40B4-BE49-F238E27FC236}">
                <a16:creationId xmlns:a16="http://schemas.microsoft.com/office/drawing/2014/main" id="{49197662-E3BC-BDF7-137B-7D42EDD3A403}"/>
              </a:ext>
            </a:extLst>
          </p:cNvPr>
          <p:cNvSpPr/>
          <p:nvPr/>
        </p:nvSpPr>
        <p:spPr>
          <a:xfrm>
            <a:off x="4158909" y="5434250"/>
            <a:ext cx="320850" cy="3651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Rectangle 24">
            <a:extLst>
              <a:ext uri="{FF2B5EF4-FFF2-40B4-BE49-F238E27FC236}">
                <a16:creationId xmlns:a16="http://schemas.microsoft.com/office/drawing/2014/main" id="{F99FFE6C-0CF1-BD14-14A2-0BC4B1881FB4}"/>
              </a:ext>
            </a:extLst>
          </p:cNvPr>
          <p:cNvSpPr/>
          <p:nvPr/>
        </p:nvSpPr>
        <p:spPr>
          <a:xfrm>
            <a:off x="4476861" y="5434246"/>
            <a:ext cx="320850" cy="3651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6" name="Rectangle 25">
            <a:extLst>
              <a:ext uri="{FF2B5EF4-FFF2-40B4-BE49-F238E27FC236}">
                <a16:creationId xmlns:a16="http://schemas.microsoft.com/office/drawing/2014/main" id="{C3517B06-BEBD-047C-9C51-858FCD5B051D}"/>
              </a:ext>
            </a:extLst>
          </p:cNvPr>
          <p:cNvSpPr/>
          <p:nvPr/>
        </p:nvSpPr>
        <p:spPr>
          <a:xfrm>
            <a:off x="2563007" y="5433107"/>
            <a:ext cx="320850" cy="3651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7" name="Rectangle 26">
            <a:extLst>
              <a:ext uri="{FF2B5EF4-FFF2-40B4-BE49-F238E27FC236}">
                <a16:creationId xmlns:a16="http://schemas.microsoft.com/office/drawing/2014/main" id="{5521A075-DBD4-2B4C-A5D0-24661D32479B}"/>
              </a:ext>
            </a:extLst>
          </p:cNvPr>
          <p:cNvSpPr/>
          <p:nvPr/>
        </p:nvSpPr>
        <p:spPr>
          <a:xfrm>
            <a:off x="4796262" y="5434238"/>
            <a:ext cx="320850" cy="3651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1" name="Rectangle 30">
            <a:extLst>
              <a:ext uri="{FF2B5EF4-FFF2-40B4-BE49-F238E27FC236}">
                <a16:creationId xmlns:a16="http://schemas.microsoft.com/office/drawing/2014/main" id="{608D6A07-9FDB-1245-45AD-53619CD21078}"/>
              </a:ext>
            </a:extLst>
          </p:cNvPr>
          <p:cNvSpPr/>
          <p:nvPr/>
        </p:nvSpPr>
        <p:spPr>
          <a:xfrm>
            <a:off x="2554367" y="4042309"/>
            <a:ext cx="972254" cy="1391929"/>
          </a:xfrm>
          <a:prstGeom prst="rect">
            <a:avLst/>
          </a:prstGeom>
          <a:solidFill>
            <a:schemeClr val="accent2">
              <a:lumMod val="20000"/>
              <a:lumOff val="80000"/>
              <a:alpha val="5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2" name="Rectangle 31">
            <a:extLst>
              <a:ext uri="{FF2B5EF4-FFF2-40B4-BE49-F238E27FC236}">
                <a16:creationId xmlns:a16="http://schemas.microsoft.com/office/drawing/2014/main" id="{6B45C23E-22E9-335B-26BC-0080DB1264E3}"/>
              </a:ext>
            </a:extLst>
          </p:cNvPr>
          <p:cNvSpPr/>
          <p:nvPr/>
        </p:nvSpPr>
        <p:spPr>
          <a:xfrm>
            <a:off x="3530387" y="4041177"/>
            <a:ext cx="3309580" cy="1393062"/>
          </a:xfrm>
          <a:custGeom>
            <a:avLst/>
            <a:gdLst>
              <a:gd name="connsiteX0" fmla="*/ 0 w 628523"/>
              <a:gd name="connsiteY0" fmla="*/ 0 h 1391929"/>
              <a:gd name="connsiteX1" fmla="*/ 628523 w 628523"/>
              <a:gd name="connsiteY1" fmla="*/ 0 h 1391929"/>
              <a:gd name="connsiteX2" fmla="*/ 628523 w 628523"/>
              <a:gd name="connsiteY2" fmla="*/ 1391929 h 1391929"/>
              <a:gd name="connsiteX3" fmla="*/ 0 w 628523"/>
              <a:gd name="connsiteY3" fmla="*/ 1391929 h 1391929"/>
              <a:gd name="connsiteX4" fmla="*/ 0 w 628523"/>
              <a:gd name="connsiteY4" fmla="*/ 0 h 1391929"/>
              <a:gd name="connsiteX0" fmla="*/ 0 w 3282947"/>
              <a:gd name="connsiteY0" fmla="*/ 0 h 1391929"/>
              <a:gd name="connsiteX1" fmla="*/ 3282947 w 3282947"/>
              <a:gd name="connsiteY1" fmla="*/ 0 h 1391929"/>
              <a:gd name="connsiteX2" fmla="*/ 628523 w 3282947"/>
              <a:gd name="connsiteY2" fmla="*/ 1391929 h 1391929"/>
              <a:gd name="connsiteX3" fmla="*/ 0 w 3282947"/>
              <a:gd name="connsiteY3" fmla="*/ 1391929 h 1391929"/>
              <a:gd name="connsiteX4" fmla="*/ 0 w 3282947"/>
              <a:gd name="connsiteY4" fmla="*/ 0 h 1391929"/>
              <a:gd name="connsiteX0" fmla="*/ 2645545 w 3282947"/>
              <a:gd name="connsiteY0" fmla="*/ 8878 h 1391929"/>
              <a:gd name="connsiteX1" fmla="*/ 3282947 w 3282947"/>
              <a:gd name="connsiteY1" fmla="*/ 0 h 1391929"/>
              <a:gd name="connsiteX2" fmla="*/ 628523 w 3282947"/>
              <a:gd name="connsiteY2" fmla="*/ 1391929 h 1391929"/>
              <a:gd name="connsiteX3" fmla="*/ 0 w 3282947"/>
              <a:gd name="connsiteY3" fmla="*/ 1391929 h 1391929"/>
              <a:gd name="connsiteX4" fmla="*/ 2645545 w 3282947"/>
              <a:gd name="connsiteY4" fmla="*/ 8878 h 1391929"/>
              <a:gd name="connsiteX0" fmla="*/ 2645545 w 3309580"/>
              <a:gd name="connsiteY0" fmla="*/ 8878 h 1391929"/>
              <a:gd name="connsiteX1" fmla="*/ 3309580 w 3309580"/>
              <a:gd name="connsiteY1" fmla="*/ 0 h 1391929"/>
              <a:gd name="connsiteX2" fmla="*/ 628523 w 3309580"/>
              <a:gd name="connsiteY2" fmla="*/ 1391929 h 1391929"/>
              <a:gd name="connsiteX3" fmla="*/ 0 w 3309580"/>
              <a:gd name="connsiteY3" fmla="*/ 1391929 h 1391929"/>
              <a:gd name="connsiteX4" fmla="*/ 2645545 w 3309580"/>
              <a:gd name="connsiteY4" fmla="*/ 8878 h 1391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9580" h="1391929">
                <a:moveTo>
                  <a:pt x="2645545" y="8878"/>
                </a:moveTo>
                <a:lnTo>
                  <a:pt x="3309580" y="0"/>
                </a:lnTo>
                <a:lnTo>
                  <a:pt x="628523" y="1391929"/>
                </a:lnTo>
                <a:lnTo>
                  <a:pt x="0" y="1391929"/>
                </a:lnTo>
                <a:lnTo>
                  <a:pt x="2645545" y="8878"/>
                </a:lnTo>
                <a:close/>
              </a:path>
            </a:pathLst>
          </a:custGeom>
          <a:solidFill>
            <a:schemeClr val="tx2">
              <a:lumMod val="10000"/>
              <a:lumOff val="90000"/>
              <a:alpha val="5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3" name="Rectangle 32">
            <a:extLst>
              <a:ext uri="{FF2B5EF4-FFF2-40B4-BE49-F238E27FC236}">
                <a16:creationId xmlns:a16="http://schemas.microsoft.com/office/drawing/2014/main" id="{A7DDCD57-D705-9CF6-D1F2-4A15BA0A41B6}"/>
              </a:ext>
            </a:extLst>
          </p:cNvPr>
          <p:cNvSpPr/>
          <p:nvPr/>
        </p:nvSpPr>
        <p:spPr>
          <a:xfrm>
            <a:off x="4153844" y="4042293"/>
            <a:ext cx="1622687" cy="1391929"/>
          </a:xfrm>
          <a:custGeom>
            <a:avLst/>
            <a:gdLst>
              <a:gd name="connsiteX0" fmla="*/ 0 w 965740"/>
              <a:gd name="connsiteY0" fmla="*/ 0 h 1391929"/>
              <a:gd name="connsiteX1" fmla="*/ 965740 w 965740"/>
              <a:gd name="connsiteY1" fmla="*/ 0 h 1391929"/>
              <a:gd name="connsiteX2" fmla="*/ 965740 w 965740"/>
              <a:gd name="connsiteY2" fmla="*/ 1391929 h 1391929"/>
              <a:gd name="connsiteX3" fmla="*/ 0 w 965740"/>
              <a:gd name="connsiteY3" fmla="*/ 1391929 h 1391929"/>
              <a:gd name="connsiteX4" fmla="*/ 0 w 965740"/>
              <a:gd name="connsiteY4" fmla="*/ 0 h 1391929"/>
              <a:gd name="connsiteX0" fmla="*/ 0 w 2039938"/>
              <a:gd name="connsiteY0" fmla="*/ 0 h 1391929"/>
              <a:gd name="connsiteX1" fmla="*/ 2039938 w 2039938"/>
              <a:gd name="connsiteY1" fmla="*/ 0 h 1391929"/>
              <a:gd name="connsiteX2" fmla="*/ 965740 w 2039938"/>
              <a:gd name="connsiteY2" fmla="*/ 1391929 h 1391929"/>
              <a:gd name="connsiteX3" fmla="*/ 0 w 2039938"/>
              <a:gd name="connsiteY3" fmla="*/ 1391929 h 1391929"/>
              <a:gd name="connsiteX4" fmla="*/ 0 w 2039938"/>
              <a:gd name="connsiteY4" fmla="*/ 0 h 1391929"/>
              <a:gd name="connsiteX0" fmla="*/ 1109708 w 2039938"/>
              <a:gd name="connsiteY0" fmla="*/ 8878 h 1391929"/>
              <a:gd name="connsiteX1" fmla="*/ 2039938 w 2039938"/>
              <a:gd name="connsiteY1" fmla="*/ 0 h 1391929"/>
              <a:gd name="connsiteX2" fmla="*/ 965740 w 2039938"/>
              <a:gd name="connsiteY2" fmla="*/ 1391929 h 1391929"/>
              <a:gd name="connsiteX3" fmla="*/ 0 w 2039938"/>
              <a:gd name="connsiteY3" fmla="*/ 1391929 h 1391929"/>
              <a:gd name="connsiteX4" fmla="*/ 1109708 w 2039938"/>
              <a:gd name="connsiteY4" fmla="*/ 8878 h 1391929"/>
              <a:gd name="connsiteX0" fmla="*/ 603681 w 2039938"/>
              <a:gd name="connsiteY0" fmla="*/ 1 h 1391929"/>
              <a:gd name="connsiteX1" fmla="*/ 2039938 w 2039938"/>
              <a:gd name="connsiteY1" fmla="*/ 0 h 1391929"/>
              <a:gd name="connsiteX2" fmla="*/ 965740 w 2039938"/>
              <a:gd name="connsiteY2" fmla="*/ 1391929 h 1391929"/>
              <a:gd name="connsiteX3" fmla="*/ 0 w 2039938"/>
              <a:gd name="connsiteY3" fmla="*/ 1391929 h 1391929"/>
              <a:gd name="connsiteX4" fmla="*/ 603681 w 2039938"/>
              <a:gd name="connsiteY4" fmla="*/ 1 h 1391929"/>
              <a:gd name="connsiteX0" fmla="*/ 603681 w 1631565"/>
              <a:gd name="connsiteY0" fmla="*/ 8879 h 1400807"/>
              <a:gd name="connsiteX1" fmla="*/ 1631565 w 1631565"/>
              <a:gd name="connsiteY1" fmla="*/ 0 h 1400807"/>
              <a:gd name="connsiteX2" fmla="*/ 965740 w 1631565"/>
              <a:gd name="connsiteY2" fmla="*/ 1400807 h 1400807"/>
              <a:gd name="connsiteX3" fmla="*/ 0 w 1631565"/>
              <a:gd name="connsiteY3" fmla="*/ 1400807 h 1400807"/>
              <a:gd name="connsiteX4" fmla="*/ 603681 w 1631565"/>
              <a:gd name="connsiteY4" fmla="*/ 8879 h 1400807"/>
              <a:gd name="connsiteX0" fmla="*/ 603681 w 1622687"/>
              <a:gd name="connsiteY0" fmla="*/ 1 h 1391929"/>
              <a:gd name="connsiteX1" fmla="*/ 1622687 w 1622687"/>
              <a:gd name="connsiteY1" fmla="*/ 0 h 1391929"/>
              <a:gd name="connsiteX2" fmla="*/ 965740 w 1622687"/>
              <a:gd name="connsiteY2" fmla="*/ 1391929 h 1391929"/>
              <a:gd name="connsiteX3" fmla="*/ 0 w 1622687"/>
              <a:gd name="connsiteY3" fmla="*/ 1391929 h 1391929"/>
              <a:gd name="connsiteX4" fmla="*/ 603681 w 1622687"/>
              <a:gd name="connsiteY4" fmla="*/ 1 h 1391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687" h="1391929">
                <a:moveTo>
                  <a:pt x="603681" y="1"/>
                </a:moveTo>
                <a:lnTo>
                  <a:pt x="1622687" y="0"/>
                </a:lnTo>
                <a:lnTo>
                  <a:pt x="965740" y="1391929"/>
                </a:lnTo>
                <a:lnTo>
                  <a:pt x="0" y="1391929"/>
                </a:lnTo>
                <a:lnTo>
                  <a:pt x="603681" y="1"/>
                </a:lnTo>
                <a:close/>
              </a:path>
            </a:pathLst>
          </a:custGeom>
          <a:solidFill>
            <a:schemeClr val="accent2">
              <a:lumMod val="20000"/>
              <a:lumOff val="80000"/>
              <a:alpha val="5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4" name="Rectangle 33">
            <a:extLst>
              <a:ext uri="{FF2B5EF4-FFF2-40B4-BE49-F238E27FC236}">
                <a16:creationId xmlns:a16="http://schemas.microsoft.com/office/drawing/2014/main" id="{12E27A59-D1F5-5526-E07C-7D88D6E45FD3}"/>
              </a:ext>
            </a:extLst>
          </p:cNvPr>
          <p:cNvSpPr/>
          <p:nvPr/>
        </p:nvSpPr>
        <p:spPr>
          <a:xfrm>
            <a:off x="2562707" y="3676067"/>
            <a:ext cx="324040" cy="365109"/>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ectangle 34">
            <a:extLst>
              <a:ext uri="{FF2B5EF4-FFF2-40B4-BE49-F238E27FC236}">
                <a16:creationId xmlns:a16="http://schemas.microsoft.com/office/drawing/2014/main" id="{656DFD1B-0695-0FCA-3A4B-C00C745B37F3}"/>
              </a:ext>
            </a:extLst>
          </p:cNvPr>
          <p:cNvSpPr/>
          <p:nvPr/>
        </p:nvSpPr>
        <p:spPr>
          <a:xfrm>
            <a:off x="4768862" y="3677176"/>
            <a:ext cx="324040" cy="365109"/>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Rectangle 35">
            <a:extLst>
              <a:ext uri="{FF2B5EF4-FFF2-40B4-BE49-F238E27FC236}">
                <a16:creationId xmlns:a16="http://schemas.microsoft.com/office/drawing/2014/main" id="{123207E7-63BF-57FF-371F-B183AD386843}"/>
              </a:ext>
            </a:extLst>
          </p:cNvPr>
          <p:cNvSpPr/>
          <p:nvPr/>
        </p:nvSpPr>
        <p:spPr>
          <a:xfrm>
            <a:off x="5449863" y="3677175"/>
            <a:ext cx="324040" cy="365109"/>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7" name="Rectangle 36">
            <a:extLst>
              <a:ext uri="{FF2B5EF4-FFF2-40B4-BE49-F238E27FC236}">
                <a16:creationId xmlns:a16="http://schemas.microsoft.com/office/drawing/2014/main" id="{3E7C6903-5B67-73B3-0AF9-63A798BA66BE}"/>
              </a:ext>
            </a:extLst>
          </p:cNvPr>
          <p:cNvSpPr/>
          <p:nvPr/>
        </p:nvSpPr>
        <p:spPr>
          <a:xfrm>
            <a:off x="3215936" y="3676067"/>
            <a:ext cx="324040" cy="365109"/>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8" name="Rectangle 37">
            <a:extLst>
              <a:ext uri="{FF2B5EF4-FFF2-40B4-BE49-F238E27FC236}">
                <a16:creationId xmlns:a16="http://schemas.microsoft.com/office/drawing/2014/main" id="{9E3EF2D3-9314-2993-F0CA-D0CD505B2FA4}"/>
              </a:ext>
            </a:extLst>
          </p:cNvPr>
          <p:cNvSpPr/>
          <p:nvPr/>
        </p:nvSpPr>
        <p:spPr>
          <a:xfrm>
            <a:off x="6509349" y="3676067"/>
            <a:ext cx="324040" cy="365109"/>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9" name="TextBox 38">
            <a:extLst>
              <a:ext uri="{FF2B5EF4-FFF2-40B4-BE49-F238E27FC236}">
                <a16:creationId xmlns:a16="http://schemas.microsoft.com/office/drawing/2014/main" id="{6B6368CF-96B9-969A-3661-8F5FA5FB78E6}"/>
              </a:ext>
            </a:extLst>
          </p:cNvPr>
          <p:cNvSpPr txBox="1"/>
          <p:nvPr/>
        </p:nvSpPr>
        <p:spPr>
          <a:xfrm>
            <a:off x="7318344" y="4622424"/>
            <a:ext cx="2942472" cy="400110"/>
          </a:xfrm>
          <a:prstGeom prst="rect">
            <a:avLst/>
          </a:prstGeom>
          <a:noFill/>
        </p:spPr>
        <p:txBody>
          <a:bodyPr wrap="none" rtlCol="0">
            <a:spAutoFit/>
          </a:bodyPr>
          <a:lstStyle/>
          <a:p>
            <a:r>
              <a:rPr lang="en-CN" sz="2000" dirty="0"/>
              <a:t>Guest-to-host page table</a:t>
            </a:r>
          </a:p>
        </p:txBody>
      </p:sp>
      <p:sp>
        <p:nvSpPr>
          <p:cNvPr id="40" name="Right Brace 39">
            <a:extLst>
              <a:ext uri="{FF2B5EF4-FFF2-40B4-BE49-F238E27FC236}">
                <a16:creationId xmlns:a16="http://schemas.microsoft.com/office/drawing/2014/main" id="{B797CE4C-69D1-5611-5B8D-B426AD768E4A}"/>
              </a:ext>
            </a:extLst>
          </p:cNvPr>
          <p:cNvSpPr/>
          <p:nvPr/>
        </p:nvSpPr>
        <p:spPr>
          <a:xfrm>
            <a:off x="6909972" y="4126515"/>
            <a:ext cx="408372" cy="1391929"/>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N"/>
          </a:p>
        </p:txBody>
      </p:sp>
      <p:sp>
        <p:nvSpPr>
          <p:cNvPr id="41" name="TextBox 40">
            <a:extLst>
              <a:ext uri="{FF2B5EF4-FFF2-40B4-BE49-F238E27FC236}">
                <a16:creationId xmlns:a16="http://schemas.microsoft.com/office/drawing/2014/main" id="{B754EEAD-103D-49C2-25E6-9A0B66F625E6}"/>
              </a:ext>
            </a:extLst>
          </p:cNvPr>
          <p:cNvSpPr txBox="1"/>
          <p:nvPr/>
        </p:nvSpPr>
        <p:spPr>
          <a:xfrm>
            <a:off x="838200" y="1511642"/>
            <a:ext cx="10515600" cy="954107"/>
          </a:xfrm>
          <a:prstGeom prst="rect">
            <a:avLst/>
          </a:prstGeom>
          <a:noFill/>
        </p:spPr>
        <p:txBody>
          <a:bodyPr wrap="square" rtlCol="0">
            <a:spAutoFit/>
          </a:bodyPr>
          <a:lstStyle/>
          <a:p>
            <a:r>
              <a:rPr lang="en-CN" sz="2800" dirty="0"/>
              <a:t>Use </a:t>
            </a:r>
            <a:r>
              <a:rPr lang="en-CN" sz="2800" b="1" dirty="0"/>
              <a:t>hypervisor/OS </a:t>
            </a:r>
            <a:r>
              <a:rPr lang="en-CN" sz="2800" dirty="0"/>
              <a:t>to </a:t>
            </a:r>
            <a:r>
              <a:rPr lang="en-CN" sz="2800" b="1" dirty="0"/>
              <a:t>identify popular pages </a:t>
            </a:r>
            <a:r>
              <a:rPr lang="en-CN" sz="2800" dirty="0"/>
              <a:t>and </a:t>
            </a:r>
            <a:r>
              <a:rPr lang="en-CN" sz="2800" b="1" dirty="0"/>
              <a:t>decide page placement</a:t>
            </a:r>
          </a:p>
        </p:txBody>
      </p:sp>
      <p:sp>
        <p:nvSpPr>
          <p:cNvPr id="10" name="Left Brace 9">
            <a:extLst>
              <a:ext uri="{FF2B5EF4-FFF2-40B4-BE49-F238E27FC236}">
                <a16:creationId xmlns:a16="http://schemas.microsoft.com/office/drawing/2014/main" id="{8732901A-32BF-7BEE-078E-0BBC39AE4FD4}"/>
              </a:ext>
            </a:extLst>
          </p:cNvPr>
          <p:cNvSpPr/>
          <p:nvPr/>
        </p:nvSpPr>
        <p:spPr>
          <a:xfrm rot="5400000">
            <a:off x="6053916" y="-350819"/>
            <a:ext cx="252488" cy="7248396"/>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N"/>
          </a:p>
        </p:txBody>
      </p:sp>
    </p:spTree>
    <p:extLst>
      <p:ext uri="{BB962C8B-B14F-4D97-AF65-F5344CB8AC3E}">
        <p14:creationId xmlns:p14="http://schemas.microsoft.com/office/powerpoint/2010/main" val="368091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5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500"/>
                                        <p:tgtEl>
                                          <p:spTgt spid="3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500"/>
                                        <p:tgtEl>
                                          <p:spTgt spid="3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5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500"/>
                                        <p:tgtEl>
                                          <p:spTgt spid="3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500"/>
                                        <p:tgtEl>
                                          <p:spTgt spid="36"/>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500"/>
                                        <p:tgtEl>
                                          <p:spTgt spid="4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animBg="1"/>
      <p:bldP spid="13" grpId="0" animBg="1"/>
      <p:bldP spid="14" grpId="0"/>
      <p:bldP spid="15" grpId="0"/>
      <p:bldP spid="16" grpId="0"/>
      <p:bldP spid="17" grpId="0" animBg="1"/>
      <p:bldP spid="18" grpId="0"/>
      <p:bldP spid="20" grpId="0" animBg="1"/>
      <p:bldP spid="21" grpId="0" animBg="1"/>
      <p:bldP spid="22" grpId="0" animBg="1"/>
      <p:bldP spid="23" grpId="0" animBg="1"/>
      <p:bldP spid="24" grpId="0" animBg="1"/>
      <p:bldP spid="25" grpId="0" animBg="1"/>
      <p:bldP spid="26" grpId="0" animBg="1"/>
      <p:bldP spid="27" grpId="0" animBg="1"/>
      <p:bldP spid="31" grpId="0" animBg="1"/>
      <p:bldP spid="32" grpId="0" animBg="1"/>
      <p:bldP spid="33" grpId="0" animBg="1"/>
      <p:bldP spid="34" grpId="0" animBg="1"/>
      <p:bldP spid="35" grpId="0" animBg="1"/>
      <p:bldP spid="36" grpId="0" animBg="1"/>
      <p:bldP spid="37" grpId="0" animBg="1"/>
      <p:bldP spid="38" grpId="0" animBg="1"/>
      <p:bldP spid="39" grpId="0"/>
      <p:bldP spid="40"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A974F-5FD1-7D26-F3EE-D51CF913F823}"/>
              </a:ext>
            </a:extLst>
          </p:cNvPr>
          <p:cNvSpPr>
            <a:spLocks noGrp="1"/>
          </p:cNvSpPr>
          <p:nvPr>
            <p:ph type="title"/>
          </p:nvPr>
        </p:nvSpPr>
        <p:spPr/>
        <p:txBody>
          <a:bodyPr/>
          <a:lstStyle/>
          <a:p>
            <a:r>
              <a:rPr lang="en-CN"/>
              <a:t>Software Tiering at Odds With Virtualization</a:t>
            </a:r>
          </a:p>
        </p:txBody>
      </p:sp>
      <p:sp>
        <p:nvSpPr>
          <p:cNvPr id="3" name="Content Placeholder 2">
            <a:extLst>
              <a:ext uri="{FF2B5EF4-FFF2-40B4-BE49-F238E27FC236}">
                <a16:creationId xmlns:a16="http://schemas.microsoft.com/office/drawing/2014/main" id="{8D662979-2AD4-8BB7-4FA8-C52A1AF0563C}"/>
              </a:ext>
            </a:extLst>
          </p:cNvPr>
          <p:cNvSpPr>
            <a:spLocks noGrp="1"/>
          </p:cNvSpPr>
          <p:nvPr>
            <p:ph idx="1"/>
          </p:nvPr>
        </p:nvSpPr>
        <p:spPr>
          <a:xfrm>
            <a:off x="838199" y="1613865"/>
            <a:ext cx="10969487" cy="2447356"/>
          </a:xfrm>
        </p:spPr>
        <p:txBody>
          <a:bodyPr/>
          <a:lstStyle/>
          <a:p>
            <a:pPr marL="0" indent="0">
              <a:buNone/>
            </a:pPr>
            <a:r>
              <a:rPr lang="en-CN" b="1" dirty="0"/>
              <a:t>Issue 1: High CPU overhead</a:t>
            </a:r>
          </a:p>
          <a:p>
            <a:r>
              <a:rPr lang="en-CN" sz="2400" dirty="0"/>
              <a:t>Instruction sampling (PEBS, IBS) is disabled in clouds</a:t>
            </a:r>
          </a:p>
          <a:p>
            <a:r>
              <a:rPr lang="en-CN" sz="2400" dirty="0"/>
              <a:t>Frequent page table scans incur excessive CPU overhead</a:t>
            </a:r>
            <a:endParaRPr lang="en-CN" dirty="0"/>
          </a:p>
          <a:p>
            <a:pPr marL="0" indent="0">
              <a:buNone/>
            </a:pPr>
            <a:r>
              <a:rPr lang="en-CN" b="1" dirty="0"/>
              <a:t>Issue 2: Huge page penalty</a:t>
            </a:r>
            <a:r>
              <a:rPr lang="en-CN" baseline="30000" dirty="0"/>
              <a:t>[1]</a:t>
            </a:r>
          </a:p>
          <a:p>
            <a:r>
              <a:rPr lang="en-CN" sz="2400" dirty="0"/>
              <a:t>Virtualization uses larger page sizes (2 MB, 1 GB) to reduce TLB cost</a:t>
            </a:r>
            <a:endParaRPr lang="en-CN" dirty="0"/>
          </a:p>
        </p:txBody>
      </p:sp>
      <p:sp>
        <p:nvSpPr>
          <p:cNvPr id="4" name="Slide Number Placeholder 3">
            <a:extLst>
              <a:ext uri="{FF2B5EF4-FFF2-40B4-BE49-F238E27FC236}">
                <a16:creationId xmlns:a16="http://schemas.microsoft.com/office/drawing/2014/main" id="{7AF46FD7-6A5A-D82A-F07D-CB49FA2270A3}"/>
              </a:ext>
            </a:extLst>
          </p:cNvPr>
          <p:cNvSpPr>
            <a:spLocks noGrp="1"/>
          </p:cNvSpPr>
          <p:nvPr>
            <p:ph type="sldNum" sz="quarter" idx="12"/>
          </p:nvPr>
        </p:nvSpPr>
        <p:spPr/>
        <p:txBody>
          <a:bodyPr/>
          <a:lstStyle/>
          <a:p>
            <a:fld id="{5D76F006-5496-B946-A476-FEDACCAB686D}" type="slidenum">
              <a:rPr lang="en-CN" smtClean="0"/>
              <a:t>8</a:t>
            </a:fld>
            <a:endParaRPr lang="en-CN"/>
          </a:p>
        </p:txBody>
      </p:sp>
      <p:sp>
        <p:nvSpPr>
          <p:cNvPr id="5" name="Rectangle 4">
            <a:extLst>
              <a:ext uri="{FF2B5EF4-FFF2-40B4-BE49-F238E27FC236}">
                <a16:creationId xmlns:a16="http://schemas.microsoft.com/office/drawing/2014/main" id="{16161E1D-DD62-6FC1-6975-F64137976905}"/>
              </a:ext>
            </a:extLst>
          </p:cNvPr>
          <p:cNvSpPr/>
          <p:nvPr/>
        </p:nvSpPr>
        <p:spPr>
          <a:xfrm>
            <a:off x="1928428" y="4657493"/>
            <a:ext cx="2254928" cy="12583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600">
              <a:solidFill>
                <a:schemeClr val="tx1"/>
              </a:solidFill>
            </a:endParaRPr>
          </a:p>
        </p:txBody>
      </p:sp>
      <p:sp>
        <p:nvSpPr>
          <p:cNvPr id="6" name="TextBox 5">
            <a:extLst>
              <a:ext uri="{FF2B5EF4-FFF2-40B4-BE49-F238E27FC236}">
                <a16:creationId xmlns:a16="http://schemas.microsoft.com/office/drawing/2014/main" id="{F39CB61C-869C-E8DB-A260-0EAC7F7CB331}"/>
              </a:ext>
            </a:extLst>
          </p:cNvPr>
          <p:cNvSpPr txBox="1"/>
          <p:nvPr/>
        </p:nvSpPr>
        <p:spPr>
          <a:xfrm>
            <a:off x="2435946" y="4300228"/>
            <a:ext cx="1239891" cy="369332"/>
          </a:xfrm>
          <a:prstGeom prst="rect">
            <a:avLst/>
          </a:prstGeom>
          <a:noFill/>
        </p:spPr>
        <p:txBody>
          <a:bodyPr wrap="none" rtlCol="0">
            <a:spAutoFit/>
          </a:bodyPr>
          <a:lstStyle/>
          <a:p>
            <a:r>
              <a:rPr lang="en-CN"/>
              <a:t>Page Table</a:t>
            </a:r>
          </a:p>
        </p:txBody>
      </p:sp>
      <p:sp>
        <p:nvSpPr>
          <p:cNvPr id="7" name="Rectangle 6">
            <a:extLst>
              <a:ext uri="{FF2B5EF4-FFF2-40B4-BE49-F238E27FC236}">
                <a16:creationId xmlns:a16="http://schemas.microsoft.com/office/drawing/2014/main" id="{851233F4-BD7E-DF53-B899-4843F64DD2BD}"/>
              </a:ext>
            </a:extLst>
          </p:cNvPr>
          <p:cNvSpPr/>
          <p:nvPr/>
        </p:nvSpPr>
        <p:spPr>
          <a:xfrm>
            <a:off x="1928428" y="4902004"/>
            <a:ext cx="2254928" cy="73501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600">
              <a:solidFill>
                <a:schemeClr val="tx1"/>
              </a:solidFill>
            </a:endParaRPr>
          </a:p>
        </p:txBody>
      </p:sp>
      <p:sp>
        <p:nvSpPr>
          <p:cNvPr id="8" name="TextBox 7">
            <a:extLst>
              <a:ext uri="{FF2B5EF4-FFF2-40B4-BE49-F238E27FC236}">
                <a16:creationId xmlns:a16="http://schemas.microsoft.com/office/drawing/2014/main" id="{9E24E1B5-6F93-5A67-2E13-55DF52D56297}"/>
              </a:ext>
            </a:extLst>
          </p:cNvPr>
          <p:cNvSpPr txBox="1"/>
          <p:nvPr/>
        </p:nvSpPr>
        <p:spPr>
          <a:xfrm>
            <a:off x="2813938" y="4534188"/>
            <a:ext cx="381836" cy="369332"/>
          </a:xfrm>
          <a:prstGeom prst="rect">
            <a:avLst/>
          </a:prstGeom>
          <a:noFill/>
        </p:spPr>
        <p:txBody>
          <a:bodyPr wrap="none" rtlCol="0">
            <a:spAutoFit/>
          </a:bodyPr>
          <a:lstStyle/>
          <a:p>
            <a:r>
              <a:rPr lang="en-CN"/>
              <a:t>...</a:t>
            </a:r>
          </a:p>
        </p:txBody>
      </p:sp>
      <p:sp>
        <p:nvSpPr>
          <p:cNvPr id="9" name="TextBox 8">
            <a:extLst>
              <a:ext uri="{FF2B5EF4-FFF2-40B4-BE49-F238E27FC236}">
                <a16:creationId xmlns:a16="http://schemas.microsoft.com/office/drawing/2014/main" id="{D34C6A6F-DD6F-B50E-AFA4-7FB8BA712CBB}"/>
              </a:ext>
            </a:extLst>
          </p:cNvPr>
          <p:cNvSpPr txBox="1"/>
          <p:nvPr/>
        </p:nvSpPr>
        <p:spPr>
          <a:xfrm>
            <a:off x="2813938" y="5537524"/>
            <a:ext cx="381836" cy="369332"/>
          </a:xfrm>
          <a:prstGeom prst="rect">
            <a:avLst/>
          </a:prstGeom>
          <a:noFill/>
        </p:spPr>
        <p:txBody>
          <a:bodyPr wrap="none" rtlCol="0">
            <a:spAutoFit/>
          </a:bodyPr>
          <a:lstStyle/>
          <a:p>
            <a:r>
              <a:rPr lang="en-CN"/>
              <a:t>...</a:t>
            </a:r>
          </a:p>
        </p:txBody>
      </p:sp>
      <p:sp>
        <p:nvSpPr>
          <p:cNvPr id="10" name="Rectangle 9">
            <a:extLst>
              <a:ext uri="{FF2B5EF4-FFF2-40B4-BE49-F238E27FC236}">
                <a16:creationId xmlns:a16="http://schemas.microsoft.com/office/drawing/2014/main" id="{CD28861D-98F8-365E-04A9-C5AA1197B8E8}"/>
              </a:ext>
            </a:extLst>
          </p:cNvPr>
          <p:cNvSpPr/>
          <p:nvPr/>
        </p:nvSpPr>
        <p:spPr>
          <a:xfrm>
            <a:off x="1938588" y="4915078"/>
            <a:ext cx="2221810" cy="270762"/>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accent2"/>
                </a:solidFill>
              </a:rPr>
              <a:t>Hot Data</a:t>
            </a:r>
          </a:p>
        </p:txBody>
      </p:sp>
      <p:sp>
        <p:nvSpPr>
          <p:cNvPr id="11" name="Rectangle 10">
            <a:extLst>
              <a:ext uri="{FF2B5EF4-FFF2-40B4-BE49-F238E27FC236}">
                <a16:creationId xmlns:a16="http://schemas.microsoft.com/office/drawing/2014/main" id="{51561F93-FE57-2431-ABF0-A926CFEFCE46}"/>
              </a:ext>
            </a:extLst>
          </p:cNvPr>
          <p:cNvSpPr/>
          <p:nvPr/>
        </p:nvSpPr>
        <p:spPr>
          <a:xfrm>
            <a:off x="1944986" y="5135087"/>
            <a:ext cx="2221810" cy="494773"/>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2">
                    <a:lumMod val="50000"/>
                    <a:lumOff val="50000"/>
                  </a:schemeClr>
                </a:solidFill>
              </a:rPr>
              <a:t>Cold Data</a:t>
            </a:r>
          </a:p>
        </p:txBody>
      </p:sp>
      <p:sp>
        <p:nvSpPr>
          <p:cNvPr id="12" name="TextBox 11">
            <a:extLst>
              <a:ext uri="{FF2B5EF4-FFF2-40B4-BE49-F238E27FC236}">
                <a16:creationId xmlns:a16="http://schemas.microsoft.com/office/drawing/2014/main" id="{DAA5D5E9-EA05-01A5-EA6B-3723C8DD2F94}"/>
              </a:ext>
            </a:extLst>
          </p:cNvPr>
          <p:cNvSpPr txBox="1"/>
          <p:nvPr/>
        </p:nvSpPr>
        <p:spPr>
          <a:xfrm>
            <a:off x="579781" y="5081982"/>
            <a:ext cx="1225977" cy="369332"/>
          </a:xfrm>
          <a:prstGeom prst="rect">
            <a:avLst/>
          </a:prstGeom>
          <a:noFill/>
        </p:spPr>
        <p:txBody>
          <a:bodyPr wrap="none" rtlCol="0">
            <a:spAutoFit/>
          </a:bodyPr>
          <a:lstStyle/>
          <a:p>
            <a:r>
              <a:rPr lang="en-CN" sz="1800">
                <a:solidFill>
                  <a:schemeClr val="tx1"/>
                </a:solidFill>
              </a:rPr>
              <a:t>PTE (2 MB)</a:t>
            </a:r>
          </a:p>
        </p:txBody>
      </p:sp>
      <p:sp>
        <p:nvSpPr>
          <p:cNvPr id="13" name="Left Brace 12">
            <a:extLst>
              <a:ext uri="{FF2B5EF4-FFF2-40B4-BE49-F238E27FC236}">
                <a16:creationId xmlns:a16="http://schemas.microsoft.com/office/drawing/2014/main" id="{64FCD8E9-621B-32FA-BAAF-850B81DEF6B5}"/>
              </a:ext>
            </a:extLst>
          </p:cNvPr>
          <p:cNvSpPr/>
          <p:nvPr/>
        </p:nvSpPr>
        <p:spPr>
          <a:xfrm>
            <a:off x="1734435" y="4915078"/>
            <a:ext cx="157900" cy="70314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N"/>
          </a:p>
        </p:txBody>
      </p:sp>
      <p:sp>
        <p:nvSpPr>
          <p:cNvPr id="14" name="Rectangle 42">
            <a:extLst>
              <a:ext uri="{FF2B5EF4-FFF2-40B4-BE49-F238E27FC236}">
                <a16:creationId xmlns:a16="http://schemas.microsoft.com/office/drawing/2014/main" id="{6231AF03-7187-3BFD-5CBB-5F7B9C29A6C2}"/>
              </a:ext>
            </a:extLst>
          </p:cNvPr>
          <p:cNvSpPr/>
          <p:nvPr/>
        </p:nvSpPr>
        <p:spPr>
          <a:xfrm>
            <a:off x="4183354" y="4068884"/>
            <a:ext cx="1378769" cy="1568133"/>
          </a:xfrm>
          <a:custGeom>
            <a:avLst/>
            <a:gdLst>
              <a:gd name="connsiteX0" fmla="*/ 0 w 1378769"/>
              <a:gd name="connsiteY0" fmla="*/ 0 h 735013"/>
              <a:gd name="connsiteX1" fmla="*/ 1378769 w 1378769"/>
              <a:gd name="connsiteY1" fmla="*/ 0 h 735013"/>
              <a:gd name="connsiteX2" fmla="*/ 1378769 w 1378769"/>
              <a:gd name="connsiteY2" fmla="*/ 735013 h 735013"/>
              <a:gd name="connsiteX3" fmla="*/ 0 w 1378769"/>
              <a:gd name="connsiteY3" fmla="*/ 735013 h 735013"/>
              <a:gd name="connsiteX4" fmla="*/ 0 w 1378769"/>
              <a:gd name="connsiteY4" fmla="*/ 0 h 735013"/>
              <a:gd name="connsiteX0" fmla="*/ 0 w 1378769"/>
              <a:gd name="connsiteY0" fmla="*/ 833120 h 1568133"/>
              <a:gd name="connsiteX1" fmla="*/ 1378769 w 1378769"/>
              <a:gd name="connsiteY1" fmla="*/ 0 h 1568133"/>
              <a:gd name="connsiteX2" fmla="*/ 1378769 w 1378769"/>
              <a:gd name="connsiteY2" fmla="*/ 1568133 h 1568133"/>
              <a:gd name="connsiteX3" fmla="*/ 0 w 1378769"/>
              <a:gd name="connsiteY3" fmla="*/ 1568133 h 1568133"/>
              <a:gd name="connsiteX4" fmla="*/ 0 w 1378769"/>
              <a:gd name="connsiteY4" fmla="*/ 833120 h 1568133"/>
              <a:gd name="connsiteX0" fmla="*/ 0 w 1378769"/>
              <a:gd name="connsiteY0" fmla="*/ 833120 h 1568133"/>
              <a:gd name="connsiteX1" fmla="*/ 1378769 w 1378769"/>
              <a:gd name="connsiteY1" fmla="*/ 0 h 1568133"/>
              <a:gd name="connsiteX2" fmla="*/ 1368609 w 1378769"/>
              <a:gd name="connsiteY2" fmla="*/ 836613 h 1568133"/>
              <a:gd name="connsiteX3" fmla="*/ 0 w 1378769"/>
              <a:gd name="connsiteY3" fmla="*/ 1568133 h 1568133"/>
              <a:gd name="connsiteX4" fmla="*/ 0 w 1378769"/>
              <a:gd name="connsiteY4" fmla="*/ 833120 h 1568133"/>
              <a:gd name="connsiteX0" fmla="*/ 0 w 1378769"/>
              <a:gd name="connsiteY0" fmla="*/ 833120 h 1568133"/>
              <a:gd name="connsiteX1" fmla="*/ 1378769 w 1378769"/>
              <a:gd name="connsiteY1" fmla="*/ 0 h 1568133"/>
              <a:gd name="connsiteX2" fmla="*/ 1368609 w 1378769"/>
              <a:gd name="connsiteY2" fmla="*/ 795973 h 1568133"/>
              <a:gd name="connsiteX3" fmla="*/ 0 w 1378769"/>
              <a:gd name="connsiteY3" fmla="*/ 1568133 h 1568133"/>
              <a:gd name="connsiteX4" fmla="*/ 0 w 1378769"/>
              <a:gd name="connsiteY4" fmla="*/ 833120 h 1568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8769" h="1568133">
                <a:moveTo>
                  <a:pt x="0" y="833120"/>
                </a:moveTo>
                <a:lnTo>
                  <a:pt x="1378769" y="0"/>
                </a:lnTo>
                <a:lnTo>
                  <a:pt x="1368609" y="795973"/>
                </a:lnTo>
                <a:lnTo>
                  <a:pt x="0" y="1568133"/>
                </a:lnTo>
                <a:lnTo>
                  <a:pt x="0" y="833120"/>
                </a:lnTo>
                <a:close/>
              </a:path>
            </a:pathLst>
          </a:custGeom>
          <a:solidFill>
            <a:schemeClr val="tx2">
              <a:lumMod val="10000"/>
              <a:lumOff val="90000"/>
              <a:alpha val="5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600">
              <a:solidFill>
                <a:schemeClr val="tx1"/>
              </a:solidFill>
            </a:endParaRPr>
          </a:p>
        </p:txBody>
      </p:sp>
      <p:sp>
        <p:nvSpPr>
          <p:cNvPr id="15" name="Rectangle 42">
            <a:extLst>
              <a:ext uri="{FF2B5EF4-FFF2-40B4-BE49-F238E27FC236}">
                <a16:creationId xmlns:a16="http://schemas.microsoft.com/office/drawing/2014/main" id="{1040F292-8C90-5E00-348E-ADE0EB32A911}"/>
              </a:ext>
            </a:extLst>
          </p:cNvPr>
          <p:cNvSpPr/>
          <p:nvPr/>
        </p:nvSpPr>
        <p:spPr>
          <a:xfrm flipV="1">
            <a:off x="4183354" y="4915078"/>
            <a:ext cx="1378769" cy="1494522"/>
          </a:xfrm>
          <a:custGeom>
            <a:avLst/>
            <a:gdLst>
              <a:gd name="connsiteX0" fmla="*/ 0 w 1378769"/>
              <a:gd name="connsiteY0" fmla="*/ 0 h 735013"/>
              <a:gd name="connsiteX1" fmla="*/ 1378769 w 1378769"/>
              <a:gd name="connsiteY1" fmla="*/ 0 h 735013"/>
              <a:gd name="connsiteX2" fmla="*/ 1378769 w 1378769"/>
              <a:gd name="connsiteY2" fmla="*/ 735013 h 735013"/>
              <a:gd name="connsiteX3" fmla="*/ 0 w 1378769"/>
              <a:gd name="connsiteY3" fmla="*/ 735013 h 735013"/>
              <a:gd name="connsiteX4" fmla="*/ 0 w 1378769"/>
              <a:gd name="connsiteY4" fmla="*/ 0 h 735013"/>
              <a:gd name="connsiteX0" fmla="*/ 0 w 1378769"/>
              <a:gd name="connsiteY0" fmla="*/ 833120 h 1568133"/>
              <a:gd name="connsiteX1" fmla="*/ 1378769 w 1378769"/>
              <a:gd name="connsiteY1" fmla="*/ 0 h 1568133"/>
              <a:gd name="connsiteX2" fmla="*/ 1378769 w 1378769"/>
              <a:gd name="connsiteY2" fmla="*/ 1568133 h 1568133"/>
              <a:gd name="connsiteX3" fmla="*/ 0 w 1378769"/>
              <a:gd name="connsiteY3" fmla="*/ 1568133 h 1568133"/>
              <a:gd name="connsiteX4" fmla="*/ 0 w 1378769"/>
              <a:gd name="connsiteY4" fmla="*/ 833120 h 1568133"/>
              <a:gd name="connsiteX0" fmla="*/ 0 w 1378769"/>
              <a:gd name="connsiteY0" fmla="*/ 833120 h 1568133"/>
              <a:gd name="connsiteX1" fmla="*/ 1378769 w 1378769"/>
              <a:gd name="connsiteY1" fmla="*/ 0 h 1568133"/>
              <a:gd name="connsiteX2" fmla="*/ 1368609 w 1378769"/>
              <a:gd name="connsiteY2" fmla="*/ 836613 h 1568133"/>
              <a:gd name="connsiteX3" fmla="*/ 0 w 1378769"/>
              <a:gd name="connsiteY3" fmla="*/ 1568133 h 1568133"/>
              <a:gd name="connsiteX4" fmla="*/ 0 w 1378769"/>
              <a:gd name="connsiteY4" fmla="*/ 833120 h 1568133"/>
              <a:gd name="connsiteX0" fmla="*/ 0 w 1378769"/>
              <a:gd name="connsiteY0" fmla="*/ 833120 h 1568133"/>
              <a:gd name="connsiteX1" fmla="*/ 1378769 w 1378769"/>
              <a:gd name="connsiteY1" fmla="*/ 0 h 1568133"/>
              <a:gd name="connsiteX2" fmla="*/ 1368609 w 1378769"/>
              <a:gd name="connsiteY2" fmla="*/ 795973 h 1568133"/>
              <a:gd name="connsiteX3" fmla="*/ 0 w 1378769"/>
              <a:gd name="connsiteY3" fmla="*/ 1568133 h 1568133"/>
              <a:gd name="connsiteX4" fmla="*/ 0 w 1378769"/>
              <a:gd name="connsiteY4" fmla="*/ 833120 h 1568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8769" h="1568133">
                <a:moveTo>
                  <a:pt x="0" y="833120"/>
                </a:moveTo>
                <a:lnTo>
                  <a:pt x="1378769" y="0"/>
                </a:lnTo>
                <a:lnTo>
                  <a:pt x="1368609" y="795973"/>
                </a:lnTo>
                <a:lnTo>
                  <a:pt x="0" y="1568133"/>
                </a:lnTo>
                <a:lnTo>
                  <a:pt x="0" y="833120"/>
                </a:lnTo>
                <a:close/>
              </a:path>
            </a:pathLst>
          </a:custGeom>
          <a:solidFill>
            <a:schemeClr val="accent2">
              <a:lumMod val="20000"/>
              <a:lumOff val="80000"/>
              <a:alpha val="5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600">
              <a:solidFill>
                <a:schemeClr val="tx1"/>
              </a:solidFill>
            </a:endParaRPr>
          </a:p>
        </p:txBody>
      </p:sp>
      <p:sp>
        <p:nvSpPr>
          <p:cNvPr id="18" name="TextBox 17">
            <a:extLst>
              <a:ext uri="{FF2B5EF4-FFF2-40B4-BE49-F238E27FC236}">
                <a16:creationId xmlns:a16="http://schemas.microsoft.com/office/drawing/2014/main" id="{8DF4FBBC-AD62-FE52-78F7-FB2F3DDDB652}"/>
              </a:ext>
            </a:extLst>
          </p:cNvPr>
          <p:cNvSpPr txBox="1"/>
          <p:nvPr/>
        </p:nvSpPr>
        <p:spPr>
          <a:xfrm>
            <a:off x="5093653" y="5074585"/>
            <a:ext cx="402674" cy="369332"/>
          </a:xfrm>
          <a:prstGeom prst="rect">
            <a:avLst/>
          </a:prstGeom>
          <a:noFill/>
        </p:spPr>
        <p:txBody>
          <a:bodyPr wrap="none" rtlCol="0">
            <a:spAutoFit/>
          </a:bodyPr>
          <a:lstStyle/>
          <a:p>
            <a:r>
              <a:rPr lang="en-CN" b="1"/>
              <a:t>or</a:t>
            </a:r>
          </a:p>
        </p:txBody>
      </p:sp>
      <p:sp>
        <p:nvSpPr>
          <p:cNvPr id="19" name="Rectangle 18">
            <a:extLst>
              <a:ext uri="{FF2B5EF4-FFF2-40B4-BE49-F238E27FC236}">
                <a16:creationId xmlns:a16="http://schemas.microsoft.com/office/drawing/2014/main" id="{19B00333-E63F-C5CD-FC61-EC967CDA1CFF}"/>
              </a:ext>
            </a:extLst>
          </p:cNvPr>
          <p:cNvSpPr/>
          <p:nvPr/>
        </p:nvSpPr>
        <p:spPr>
          <a:xfrm>
            <a:off x="1943498" y="5483034"/>
            <a:ext cx="2221810" cy="97504"/>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600">
              <a:solidFill>
                <a:schemeClr val="accent2"/>
              </a:solidFill>
            </a:endParaRPr>
          </a:p>
        </p:txBody>
      </p:sp>
      <p:sp>
        <p:nvSpPr>
          <p:cNvPr id="35" name="TextBox 34">
            <a:extLst>
              <a:ext uri="{FF2B5EF4-FFF2-40B4-BE49-F238E27FC236}">
                <a16:creationId xmlns:a16="http://schemas.microsoft.com/office/drawing/2014/main" id="{94725FF8-3507-ACAD-A036-E5C06E5864AB}"/>
              </a:ext>
            </a:extLst>
          </p:cNvPr>
          <p:cNvSpPr txBox="1"/>
          <p:nvPr/>
        </p:nvSpPr>
        <p:spPr>
          <a:xfrm>
            <a:off x="6054176" y="5010306"/>
            <a:ext cx="1811586" cy="430887"/>
          </a:xfrm>
          <a:prstGeom prst="rect">
            <a:avLst/>
          </a:prstGeom>
          <a:noFill/>
        </p:spPr>
        <p:txBody>
          <a:bodyPr wrap="none" rtlCol="0">
            <a:spAutoFit/>
          </a:bodyPr>
          <a:lstStyle/>
          <a:p>
            <a:r>
              <a:rPr lang="en-CN" sz="2200" b="1"/>
              <a:t>Larger Pages</a:t>
            </a:r>
          </a:p>
        </p:txBody>
      </p:sp>
      <p:sp>
        <p:nvSpPr>
          <p:cNvPr id="36" name="TextBox 35">
            <a:extLst>
              <a:ext uri="{FF2B5EF4-FFF2-40B4-BE49-F238E27FC236}">
                <a16:creationId xmlns:a16="http://schemas.microsoft.com/office/drawing/2014/main" id="{42DCC531-C3C8-2F80-ED60-0532416B623F}"/>
              </a:ext>
            </a:extLst>
          </p:cNvPr>
          <p:cNvSpPr txBox="1"/>
          <p:nvPr/>
        </p:nvSpPr>
        <p:spPr>
          <a:xfrm>
            <a:off x="8243765" y="5405420"/>
            <a:ext cx="3554050" cy="461665"/>
          </a:xfrm>
          <a:prstGeom prst="rect">
            <a:avLst/>
          </a:prstGeom>
          <a:noFill/>
        </p:spPr>
        <p:txBody>
          <a:bodyPr wrap="none" rtlCol="0">
            <a:spAutoFit/>
          </a:bodyPr>
          <a:lstStyle/>
          <a:p>
            <a:r>
              <a:rPr lang="en-CN" sz="2400" dirty="0">
                <a:solidFill>
                  <a:srgbClr val="C00000"/>
                </a:solidFill>
              </a:rPr>
              <a:t>❌ </a:t>
            </a:r>
            <a:r>
              <a:rPr lang="en-CN" sz="2200" b="1" dirty="0">
                <a:solidFill>
                  <a:srgbClr val="C00000"/>
                </a:solidFill>
              </a:rPr>
              <a:t>Coarse data placement</a:t>
            </a:r>
          </a:p>
        </p:txBody>
      </p:sp>
      <p:sp>
        <p:nvSpPr>
          <p:cNvPr id="37" name="TextBox 36">
            <a:extLst>
              <a:ext uri="{FF2B5EF4-FFF2-40B4-BE49-F238E27FC236}">
                <a16:creationId xmlns:a16="http://schemas.microsoft.com/office/drawing/2014/main" id="{5169DA8E-902E-D6CD-37E7-1AE91BC192E2}"/>
              </a:ext>
            </a:extLst>
          </p:cNvPr>
          <p:cNvSpPr txBox="1"/>
          <p:nvPr/>
        </p:nvSpPr>
        <p:spPr>
          <a:xfrm>
            <a:off x="8243765" y="4651095"/>
            <a:ext cx="2443298" cy="430887"/>
          </a:xfrm>
          <a:prstGeom prst="rect">
            <a:avLst/>
          </a:prstGeom>
          <a:noFill/>
        </p:spPr>
        <p:txBody>
          <a:bodyPr wrap="none" rtlCol="0">
            <a:spAutoFit/>
          </a:bodyPr>
          <a:lstStyle/>
          <a:p>
            <a:r>
              <a:rPr lang="en-CN" sz="2200" b="1" dirty="0">
                <a:solidFill>
                  <a:schemeClr val="accent3"/>
                </a:solidFill>
              </a:rPr>
              <a:t>✅ Lower TLB cost</a:t>
            </a:r>
          </a:p>
        </p:txBody>
      </p:sp>
      <p:cxnSp>
        <p:nvCxnSpPr>
          <p:cNvPr id="38" name="Straight Arrow Connector 37">
            <a:extLst>
              <a:ext uri="{FF2B5EF4-FFF2-40B4-BE49-F238E27FC236}">
                <a16:creationId xmlns:a16="http://schemas.microsoft.com/office/drawing/2014/main" id="{8567527C-2CAD-22E0-86CB-61523D5CB397}"/>
              </a:ext>
            </a:extLst>
          </p:cNvPr>
          <p:cNvCxnSpPr>
            <a:cxnSpLocks/>
            <a:stCxn id="35" idx="3"/>
            <a:endCxn id="37" idx="1"/>
          </p:cNvCxnSpPr>
          <p:nvPr/>
        </p:nvCxnSpPr>
        <p:spPr>
          <a:xfrm flipV="1">
            <a:off x="7865762" y="4866539"/>
            <a:ext cx="378003" cy="35921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69FF83B7-C59D-F89D-104A-60DCABECD95D}"/>
              </a:ext>
            </a:extLst>
          </p:cNvPr>
          <p:cNvCxnSpPr>
            <a:cxnSpLocks/>
            <a:stCxn id="35" idx="3"/>
            <a:endCxn id="36" idx="1"/>
          </p:cNvCxnSpPr>
          <p:nvPr/>
        </p:nvCxnSpPr>
        <p:spPr>
          <a:xfrm>
            <a:off x="7865762" y="5225750"/>
            <a:ext cx="378003" cy="41050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0" name="Picture 39">
            <a:extLst>
              <a:ext uri="{FF2B5EF4-FFF2-40B4-BE49-F238E27FC236}">
                <a16:creationId xmlns:a16="http://schemas.microsoft.com/office/drawing/2014/main" id="{660110CA-CE6B-4829-B4A7-5931993081EF}"/>
              </a:ext>
            </a:extLst>
          </p:cNvPr>
          <p:cNvPicPr>
            <a:picLocks noChangeAspect="1"/>
          </p:cNvPicPr>
          <p:nvPr/>
        </p:nvPicPr>
        <p:blipFill>
          <a:blip r:embed="rId3"/>
          <a:stretch>
            <a:fillRect/>
          </a:stretch>
        </p:blipFill>
        <p:spPr>
          <a:xfrm>
            <a:off x="5504639" y="3911013"/>
            <a:ext cx="218542" cy="2595545"/>
          </a:xfrm>
          <a:prstGeom prst="rect">
            <a:avLst/>
          </a:prstGeom>
        </p:spPr>
      </p:pic>
      <p:sp>
        <p:nvSpPr>
          <p:cNvPr id="16" name="TextBox 15">
            <a:extLst>
              <a:ext uri="{FF2B5EF4-FFF2-40B4-BE49-F238E27FC236}">
                <a16:creationId xmlns:a16="http://schemas.microsoft.com/office/drawing/2014/main" id="{5084F47A-24F8-C41C-31C8-D92112E074B7}"/>
              </a:ext>
            </a:extLst>
          </p:cNvPr>
          <p:cNvSpPr txBox="1"/>
          <p:nvPr/>
        </p:nvSpPr>
        <p:spPr>
          <a:xfrm rot="19732503">
            <a:off x="4376450" y="4457695"/>
            <a:ext cx="1690463" cy="338554"/>
          </a:xfrm>
          <a:prstGeom prst="rect">
            <a:avLst/>
          </a:prstGeom>
          <a:noFill/>
        </p:spPr>
        <p:txBody>
          <a:bodyPr wrap="none" rtlCol="0">
            <a:spAutoFit/>
          </a:bodyPr>
          <a:lstStyle/>
          <a:p>
            <a:r>
              <a:rPr lang="en-CN" sz="1600"/>
              <a:t>Map to CXL mem</a:t>
            </a:r>
          </a:p>
        </p:txBody>
      </p:sp>
      <p:sp>
        <p:nvSpPr>
          <p:cNvPr id="17" name="TextBox 16">
            <a:extLst>
              <a:ext uri="{FF2B5EF4-FFF2-40B4-BE49-F238E27FC236}">
                <a16:creationId xmlns:a16="http://schemas.microsoft.com/office/drawing/2014/main" id="{89F46959-3CA1-C3D6-8E8E-3BA48CE051C8}"/>
              </a:ext>
            </a:extLst>
          </p:cNvPr>
          <p:cNvSpPr txBox="1"/>
          <p:nvPr/>
        </p:nvSpPr>
        <p:spPr>
          <a:xfrm rot="1691364">
            <a:off x="4462931" y="5745521"/>
            <a:ext cx="1766189" cy="338554"/>
          </a:xfrm>
          <a:prstGeom prst="rect">
            <a:avLst/>
          </a:prstGeom>
          <a:noFill/>
        </p:spPr>
        <p:txBody>
          <a:bodyPr wrap="none" rtlCol="0">
            <a:spAutoFit/>
          </a:bodyPr>
          <a:lstStyle/>
          <a:p>
            <a:r>
              <a:rPr lang="en-CN" sz="1600"/>
              <a:t>Map to local mem</a:t>
            </a:r>
          </a:p>
        </p:txBody>
      </p:sp>
      <p:sp>
        <p:nvSpPr>
          <p:cNvPr id="20" name="TextBox 19">
            <a:extLst>
              <a:ext uri="{FF2B5EF4-FFF2-40B4-BE49-F238E27FC236}">
                <a16:creationId xmlns:a16="http://schemas.microsoft.com/office/drawing/2014/main" id="{69140F83-5E87-5F74-53DE-8AE09D8DAC96}"/>
              </a:ext>
            </a:extLst>
          </p:cNvPr>
          <p:cNvSpPr txBox="1"/>
          <p:nvPr/>
        </p:nvSpPr>
        <p:spPr>
          <a:xfrm>
            <a:off x="-51157" y="6616097"/>
            <a:ext cx="5974713" cy="276999"/>
          </a:xfrm>
          <a:prstGeom prst="rect">
            <a:avLst/>
          </a:prstGeom>
          <a:noFill/>
        </p:spPr>
        <p:txBody>
          <a:bodyPr wrap="none" rtlCol="0">
            <a:spAutoFit/>
          </a:bodyPr>
          <a:lstStyle/>
          <a:p>
            <a:r>
              <a:rPr lang="en-CN" sz="1200" dirty="0"/>
              <a:t>[1] Calciu et al., </a:t>
            </a:r>
            <a:r>
              <a:rPr lang="en-US" sz="1200" dirty="0"/>
              <a:t>Rethinking Software Runtimes for Disaggregated Memory, ASPLOS 2021</a:t>
            </a:r>
            <a:endParaRPr lang="en-CN" sz="1200" dirty="0"/>
          </a:p>
        </p:txBody>
      </p:sp>
    </p:spTree>
    <p:extLst>
      <p:ext uri="{BB962C8B-B14F-4D97-AF65-F5344CB8AC3E}">
        <p14:creationId xmlns:p14="http://schemas.microsoft.com/office/powerpoint/2010/main" val="278634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500"/>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500"/>
                                        <p:tgtEl>
                                          <p:spTgt spid="1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50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500"/>
                                        <p:tgtEl>
                                          <p:spTgt spid="35"/>
                                        </p:tgtEl>
                                      </p:cBhvr>
                                    </p:animEffect>
                                  </p:childTnLst>
                                </p:cTn>
                              </p:par>
                              <p:par>
                                <p:cTn id="88" presetID="10" presetClass="entr" presetSubtype="0" fill="hold"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500"/>
                                        <p:tgtEl>
                                          <p:spTgt spid="3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500"/>
                                        <p:tgtEl>
                                          <p:spTgt spid="37"/>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fade">
                                      <p:cBhvr>
                                        <p:cTn id="98" dur="500"/>
                                        <p:tgtEl>
                                          <p:spTgt spid="3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9" grpId="0"/>
      <p:bldP spid="10" grpId="0" animBg="1"/>
      <p:bldP spid="11" grpId="0" animBg="1"/>
      <p:bldP spid="12" grpId="0"/>
      <p:bldP spid="13" grpId="0" animBg="1"/>
      <p:bldP spid="14" grpId="0" animBg="1"/>
      <p:bldP spid="15" grpId="0" animBg="1"/>
      <p:bldP spid="18" grpId="0"/>
      <p:bldP spid="19" grpId="0" animBg="1"/>
      <p:bldP spid="35" grpId="0"/>
      <p:bldP spid="36" grpId="0"/>
      <p:bldP spid="37"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4DED4-8416-0579-F539-0570F281761F}"/>
              </a:ext>
            </a:extLst>
          </p:cNvPr>
          <p:cNvSpPr>
            <a:spLocks noGrp="1"/>
          </p:cNvSpPr>
          <p:nvPr>
            <p:ph type="title"/>
          </p:nvPr>
        </p:nvSpPr>
        <p:spPr/>
        <p:txBody>
          <a:bodyPr/>
          <a:lstStyle/>
          <a:p>
            <a:r>
              <a:rPr lang="en-CN"/>
              <a:t>Introducing Hardware Tiering for CXL</a:t>
            </a:r>
          </a:p>
        </p:txBody>
      </p:sp>
      <p:sp>
        <p:nvSpPr>
          <p:cNvPr id="3" name="Content Placeholder 2">
            <a:extLst>
              <a:ext uri="{FF2B5EF4-FFF2-40B4-BE49-F238E27FC236}">
                <a16:creationId xmlns:a16="http://schemas.microsoft.com/office/drawing/2014/main" id="{1748286F-9AFF-5D2A-5D0D-D0A8DFA733E9}"/>
              </a:ext>
            </a:extLst>
          </p:cNvPr>
          <p:cNvSpPr>
            <a:spLocks noGrp="1"/>
          </p:cNvSpPr>
          <p:nvPr>
            <p:ph idx="1"/>
          </p:nvPr>
        </p:nvSpPr>
        <p:spPr/>
        <p:txBody>
          <a:bodyPr>
            <a:normAutofit/>
          </a:bodyPr>
          <a:lstStyle/>
          <a:p>
            <a:pPr marL="0" indent="0">
              <a:buNone/>
            </a:pPr>
            <a:r>
              <a:rPr lang="en-CN" sz="2600" dirty="0"/>
              <a:t>We introduce </a:t>
            </a:r>
            <a:r>
              <a:rPr lang="en-CN" sz="2600" b="1" dirty="0"/>
              <a:t>Intel Flat Memory Mode</a:t>
            </a:r>
            <a:r>
              <a:rPr lang="en-CN" sz="2600" dirty="0"/>
              <a:t>:</a:t>
            </a:r>
          </a:p>
          <a:p>
            <a:r>
              <a:rPr lang="en-CN" sz="2600" dirty="0"/>
              <a:t>First hardware-managed cacheline-granular memory tiering for CXL</a:t>
            </a:r>
          </a:p>
          <a:p>
            <a:r>
              <a:rPr lang="en-CN" sz="2600" dirty="0"/>
              <a:t>Data placement managed by the CPU memory controller</a:t>
            </a:r>
          </a:p>
          <a:p>
            <a:pPr lvl="1"/>
            <a:r>
              <a:rPr lang="en-CN" sz="2600" dirty="0">
                <a:solidFill>
                  <a:schemeClr val="accent3"/>
                </a:solidFill>
              </a:rPr>
              <a:t>Zero CPU overhead</a:t>
            </a:r>
          </a:p>
          <a:p>
            <a:pPr lvl="1"/>
            <a:r>
              <a:rPr lang="en-CN" sz="2600" dirty="0">
                <a:solidFill>
                  <a:schemeClr val="accent3"/>
                </a:solidFill>
              </a:rPr>
              <a:t>Huge</a:t>
            </a:r>
            <a:r>
              <a:rPr lang="en-CN" sz="2600" b="1" dirty="0">
                <a:solidFill>
                  <a:schemeClr val="accent3"/>
                </a:solidFill>
              </a:rPr>
              <a:t> </a:t>
            </a:r>
            <a:r>
              <a:rPr lang="en-CN" sz="2600" dirty="0">
                <a:solidFill>
                  <a:schemeClr val="accent3"/>
                </a:solidFill>
              </a:rPr>
              <a:t>page friendly</a:t>
            </a:r>
          </a:p>
          <a:p>
            <a:r>
              <a:rPr lang="en-CN" sz="2600" dirty="0"/>
              <a:t>Available in Intel Xeon 6 Processor</a:t>
            </a:r>
          </a:p>
        </p:txBody>
      </p:sp>
      <p:sp>
        <p:nvSpPr>
          <p:cNvPr id="4" name="Slide Number Placeholder 3">
            <a:extLst>
              <a:ext uri="{FF2B5EF4-FFF2-40B4-BE49-F238E27FC236}">
                <a16:creationId xmlns:a16="http://schemas.microsoft.com/office/drawing/2014/main" id="{21456A11-1F72-D5F5-4C48-DE93DC9954E7}"/>
              </a:ext>
            </a:extLst>
          </p:cNvPr>
          <p:cNvSpPr>
            <a:spLocks noGrp="1"/>
          </p:cNvSpPr>
          <p:nvPr>
            <p:ph type="sldNum" sz="quarter" idx="12"/>
          </p:nvPr>
        </p:nvSpPr>
        <p:spPr/>
        <p:txBody>
          <a:bodyPr/>
          <a:lstStyle/>
          <a:p>
            <a:fld id="{5D76F006-5496-B946-A476-FEDACCAB686D}" type="slidenum">
              <a:rPr lang="en-CN" smtClean="0"/>
              <a:t>9</a:t>
            </a:fld>
            <a:endParaRPr lang="en-CN"/>
          </a:p>
        </p:txBody>
      </p:sp>
    </p:spTree>
    <p:extLst>
      <p:ext uri="{BB962C8B-B14F-4D97-AF65-F5344CB8AC3E}">
        <p14:creationId xmlns:p14="http://schemas.microsoft.com/office/powerpoint/2010/main" val="292150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C242C-6A00-AE21-114C-62DDD0DB6511}"/>
              </a:ext>
            </a:extLst>
          </p:cNvPr>
          <p:cNvSpPr>
            <a:spLocks noGrp="1"/>
          </p:cNvSpPr>
          <p:nvPr>
            <p:ph type="title"/>
          </p:nvPr>
        </p:nvSpPr>
        <p:spPr/>
        <p:txBody>
          <a:bodyPr>
            <a:normAutofit/>
          </a:bodyPr>
          <a:lstStyle/>
          <a:p>
            <a:r>
              <a:rPr lang="en-CN" sz="3800"/>
              <a:t>Associativity and Mapping of Intel Flat Memory Mode</a:t>
            </a:r>
          </a:p>
        </p:txBody>
      </p:sp>
      <p:sp>
        <p:nvSpPr>
          <p:cNvPr id="4" name="Slide Number Placeholder 3">
            <a:extLst>
              <a:ext uri="{FF2B5EF4-FFF2-40B4-BE49-F238E27FC236}">
                <a16:creationId xmlns:a16="http://schemas.microsoft.com/office/drawing/2014/main" id="{88D36524-3A1F-689E-2438-6F7308215692}"/>
              </a:ext>
            </a:extLst>
          </p:cNvPr>
          <p:cNvSpPr>
            <a:spLocks noGrp="1"/>
          </p:cNvSpPr>
          <p:nvPr>
            <p:ph type="sldNum" sz="quarter" idx="12"/>
          </p:nvPr>
        </p:nvSpPr>
        <p:spPr/>
        <p:txBody>
          <a:bodyPr/>
          <a:lstStyle/>
          <a:p>
            <a:fld id="{5D76F006-5496-B946-A476-FEDACCAB686D}" type="slidenum">
              <a:rPr lang="en-CN" smtClean="0"/>
              <a:t>10</a:t>
            </a:fld>
            <a:endParaRPr lang="en-CN"/>
          </a:p>
        </p:txBody>
      </p:sp>
      <p:sp>
        <p:nvSpPr>
          <p:cNvPr id="5" name="Rectangle 4">
            <a:extLst>
              <a:ext uri="{FF2B5EF4-FFF2-40B4-BE49-F238E27FC236}">
                <a16:creationId xmlns:a16="http://schemas.microsoft.com/office/drawing/2014/main" id="{7AC0C655-0232-962C-3CCF-34B068EC9735}"/>
              </a:ext>
            </a:extLst>
          </p:cNvPr>
          <p:cNvSpPr/>
          <p:nvPr/>
        </p:nvSpPr>
        <p:spPr>
          <a:xfrm>
            <a:off x="3016370" y="3736641"/>
            <a:ext cx="3079630" cy="59006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a:solidFill>
                  <a:schemeClr val="tx1"/>
                </a:solidFill>
              </a:rPr>
              <a:t>N </a:t>
            </a:r>
            <a:r>
              <a:rPr lang="en-US">
                <a:solidFill>
                  <a:schemeClr val="tx1"/>
                </a:solidFill>
              </a:rPr>
              <a:t>GB</a:t>
            </a:r>
            <a:endParaRPr lang="en-CN">
              <a:solidFill>
                <a:schemeClr val="tx1"/>
              </a:solidFill>
            </a:endParaRPr>
          </a:p>
        </p:txBody>
      </p:sp>
      <p:sp>
        <p:nvSpPr>
          <p:cNvPr id="6" name="TextBox 5">
            <a:extLst>
              <a:ext uri="{FF2B5EF4-FFF2-40B4-BE49-F238E27FC236}">
                <a16:creationId xmlns:a16="http://schemas.microsoft.com/office/drawing/2014/main" id="{182716AD-4DA5-4CA3-AF59-0B75298A45C5}"/>
              </a:ext>
            </a:extLst>
          </p:cNvPr>
          <p:cNvSpPr txBox="1"/>
          <p:nvPr/>
        </p:nvSpPr>
        <p:spPr>
          <a:xfrm>
            <a:off x="6088250" y="2773212"/>
            <a:ext cx="1729448"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CXL Memory</a:t>
            </a:r>
          </a:p>
        </p:txBody>
      </p:sp>
      <p:sp>
        <p:nvSpPr>
          <p:cNvPr id="7" name="Rectangle 6">
            <a:extLst>
              <a:ext uri="{FF2B5EF4-FFF2-40B4-BE49-F238E27FC236}">
                <a16:creationId xmlns:a16="http://schemas.microsoft.com/office/drawing/2014/main" id="{65534C6D-63DC-FDA7-15F1-3B042FA67DE1}"/>
              </a:ext>
            </a:extLst>
          </p:cNvPr>
          <p:cNvSpPr/>
          <p:nvPr/>
        </p:nvSpPr>
        <p:spPr>
          <a:xfrm>
            <a:off x="3016370" y="2717376"/>
            <a:ext cx="3079630" cy="59006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a:solidFill>
                  <a:schemeClr val="tx1"/>
                </a:solidFill>
              </a:rPr>
              <a:t>N</a:t>
            </a:r>
            <a:r>
              <a:rPr lang="en-US">
                <a:solidFill>
                  <a:schemeClr val="tx1"/>
                </a:solidFill>
              </a:rPr>
              <a:t> GB</a:t>
            </a:r>
            <a:endParaRPr lang="en-CN">
              <a:solidFill>
                <a:schemeClr val="tx1"/>
              </a:solidFill>
            </a:endParaRPr>
          </a:p>
        </p:txBody>
      </p:sp>
      <p:sp>
        <p:nvSpPr>
          <p:cNvPr id="8" name="TextBox 7">
            <a:extLst>
              <a:ext uri="{FF2B5EF4-FFF2-40B4-BE49-F238E27FC236}">
                <a16:creationId xmlns:a16="http://schemas.microsoft.com/office/drawing/2014/main" id="{DA4FCB8C-79B5-6155-B6C8-C3AD81672A3D}"/>
              </a:ext>
            </a:extLst>
          </p:cNvPr>
          <p:cNvSpPr txBox="1"/>
          <p:nvPr/>
        </p:nvSpPr>
        <p:spPr>
          <a:xfrm>
            <a:off x="6096000" y="3848865"/>
            <a:ext cx="1904817"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Local Memory</a:t>
            </a:r>
          </a:p>
        </p:txBody>
      </p:sp>
      <p:sp>
        <p:nvSpPr>
          <p:cNvPr id="9" name="Rectangle 8">
            <a:extLst>
              <a:ext uri="{FF2B5EF4-FFF2-40B4-BE49-F238E27FC236}">
                <a16:creationId xmlns:a16="http://schemas.microsoft.com/office/drawing/2014/main" id="{9BFE921E-28CE-16E4-1CF7-AB35E3073CFD}"/>
              </a:ext>
            </a:extLst>
          </p:cNvPr>
          <p:cNvSpPr/>
          <p:nvPr/>
        </p:nvSpPr>
        <p:spPr>
          <a:xfrm>
            <a:off x="3016370" y="4718775"/>
            <a:ext cx="6096277" cy="605324"/>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0" name="TextBox 9">
            <a:extLst>
              <a:ext uri="{FF2B5EF4-FFF2-40B4-BE49-F238E27FC236}">
                <a16:creationId xmlns:a16="http://schemas.microsoft.com/office/drawing/2014/main" id="{E56A0429-388E-8C6B-161B-4E10A5E5D849}"/>
              </a:ext>
            </a:extLst>
          </p:cNvPr>
          <p:cNvSpPr txBox="1"/>
          <p:nvPr/>
        </p:nvSpPr>
        <p:spPr>
          <a:xfrm>
            <a:off x="3461681" y="6321292"/>
            <a:ext cx="5141472"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Physical </a:t>
            </a:r>
            <a:r>
              <a:rPr lang="en-US" sz="2200">
                <a:latin typeface="Aptos" panose="020B0004020202020204" pitchFamily="34" charset="0"/>
                <a:cs typeface="Times New Roman" panose="02020603050405020304" pitchFamily="18" charset="0"/>
              </a:rPr>
              <a:t>Memory Address</a:t>
            </a:r>
            <a:r>
              <a:rPr lang="en-CN" sz="2200">
                <a:latin typeface="Aptos" panose="020B0004020202020204" pitchFamily="34" charset="0"/>
                <a:cs typeface="Times New Roman" panose="02020603050405020304" pitchFamily="18" charset="0"/>
              </a:rPr>
              <a:t> </a:t>
            </a:r>
            <a:r>
              <a:rPr lang="en-US" sz="2200">
                <a:latin typeface="Aptos" panose="020B0004020202020204" pitchFamily="34" charset="0"/>
                <a:cs typeface="Times New Roman" panose="02020603050405020304" pitchFamily="18" charset="0"/>
              </a:rPr>
              <a:t>Space (2</a:t>
            </a:r>
            <a:r>
              <a:rPr lang="en-US" sz="2200" i="1">
                <a:latin typeface="Aptos" panose="020B0004020202020204" pitchFamily="34" charset="0"/>
                <a:cs typeface="Times New Roman" panose="02020603050405020304" pitchFamily="18" charset="0"/>
              </a:rPr>
              <a:t>N</a:t>
            </a:r>
            <a:r>
              <a:rPr lang="en-US" sz="2200">
                <a:latin typeface="Aptos" panose="020B0004020202020204" pitchFamily="34" charset="0"/>
                <a:cs typeface="Times New Roman" panose="02020603050405020304" pitchFamily="18" charset="0"/>
              </a:rPr>
              <a:t> GB)</a:t>
            </a:r>
            <a:endParaRPr lang="en-CN" sz="2200">
              <a:latin typeface="Aptos" panose="020B0004020202020204" pitchFamily="34" charset="0"/>
              <a:cs typeface="Times New Roman" panose="02020603050405020304" pitchFamily="18" charset="0"/>
            </a:endParaRPr>
          </a:p>
        </p:txBody>
      </p:sp>
      <p:sp>
        <p:nvSpPr>
          <p:cNvPr id="11" name="Left Brace 10">
            <a:extLst>
              <a:ext uri="{FF2B5EF4-FFF2-40B4-BE49-F238E27FC236}">
                <a16:creationId xmlns:a16="http://schemas.microsoft.com/office/drawing/2014/main" id="{B9956D12-0154-8486-B58A-0D349FA8081A}"/>
              </a:ext>
            </a:extLst>
          </p:cNvPr>
          <p:cNvSpPr/>
          <p:nvPr/>
        </p:nvSpPr>
        <p:spPr>
          <a:xfrm rot="16200000">
            <a:off x="5860400" y="3058076"/>
            <a:ext cx="286326" cy="615107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2" name="Rectangle 11">
            <a:extLst>
              <a:ext uri="{FF2B5EF4-FFF2-40B4-BE49-F238E27FC236}">
                <a16:creationId xmlns:a16="http://schemas.microsoft.com/office/drawing/2014/main" id="{25A09F51-95E2-C227-2299-546C7AB1D0CD}"/>
              </a:ext>
            </a:extLst>
          </p:cNvPr>
          <p:cNvSpPr/>
          <p:nvPr/>
        </p:nvSpPr>
        <p:spPr>
          <a:xfrm>
            <a:off x="3016369" y="2714248"/>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Aptos" panose="020B0004020202020204" pitchFamily="34" charset="0"/>
                <a:cs typeface="Times New Roman" panose="02020603050405020304" pitchFamily="18" charset="0"/>
              </a:rPr>
              <a:t>B</a:t>
            </a:r>
          </a:p>
        </p:txBody>
      </p:sp>
      <p:sp>
        <p:nvSpPr>
          <p:cNvPr id="13" name="Rectangle 12">
            <a:extLst>
              <a:ext uri="{FF2B5EF4-FFF2-40B4-BE49-F238E27FC236}">
                <a16:creationId xmlns:a16="http://schemas.microsoft.com/office/drawing/2014/main" id="{9C3A4B0D-CC95-A99F-A8B8-A40B42B2B4A0}"/>
              </a:ext>
            </a:extLst>
          </p:cNvPr>
          <p:cNvSpPr/>
          <p:nvPr/>
        </p:nvSpPr>
        <p:spPr>
          <a:xfrm>
            <a:off x="3012938" y="3734888"/>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ptos" panose="020B0004020202020204" pitchFamily="34" charset="0"/>
                <a:cs typeface="Times New Roman" panose="02020603050405020304" pitchFamily="18" charset="0"/>
              </a:rPr>
              <a:t>A</a:t>
            </a:r>
            <a:endParaRPr lang="en-CN" b="1">
              <a:solidFill>
                <a:schemeClr val="tx1"/>
              </a:solidFill>
              <a:latin typeface="Aptos" panose="020B000402020202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id="{F76CA502-9CE9-DD2B-A24A-FCA01604AFC6}"/>
              </a:ext>
            </a:extLst>
          </p:cNvPr>
          <p:cNvSpPr/>
          <p:nvPr/>
        </p:nvSpPr>
        <p:spPr>
          <a:xfrm>
            <a:off x="6088250" y="4714595"/>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Aptos" panose="020B0004020202020204" pitchFamily="34" charset="0"/>
                <a:cs typeface="Times New Roman" panose="02020603050405020304" pitchFamily="18" charset="0"/>
              </a:rPr>
              <a:t>B</a:t>
            </a:r>
          </a:p>
        </p:txBody>
      </p:sp>
      <p:sp>
        <p:nvSpPr>
          <p:cNvPr id="15" name="Rectangle 14">
            <a:extLst>
              <a:ext uri="{FF2B5EF4-FFF2-40B4-BE49-F238E27FC236}">
                <a16:creationId xmlns:a16="http://schemas.microsoft.com/office/drawing/2014/main" id="{DC3A65C7-7BD6-6545-6589-8BACB23110D2}"/>
              </a:ext>
            </a:extLst>
          </p:cNvPr>
          <p:cNvSpPr/>
          <p:nvPr/>
        </p:nvSpPr>
        <p:spPr>
          <a:xfrm>
            <a:off x="3012938" y="4722172"/>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ptos" panose="020B0004020202020204" pitchFamily="34" charset="0"/>
                <a:cs typeface="Times New Roman" panose="02020603050405020304" pitchFamily="18" charset="0"/>
              </a:rPr>
              <a:t>A</a:t>
            </a:r>
            <a:endParaRPr lang="en-CN" b="1">
              <a:solidFill>
                <a:schemeClr val="tx1"/>
              </a:solidFill>
              <a:latin typeface="Aptos" panose="020B0004020202020204" pitchFamily="34" charset="0"/>
              <a:cs typeface="Times New Roman" panose="02020603050405020304" pitchFamily="18" charset="0"/>
            </a:endParaRPr>
          </a:p>
        </p:txBody>
      </p:sp>
      <p:cxnSp>
        <p:nvCxnSpPr>
          <p:cNvPr id="16" name="Straight Connector 15">
            <a:extLst>
              <a:ext uri="{FF2B5EF4-FFF2-40B4-BE49-F238E27FC236}">
                <a16:creationId xmlns:a16="http://schemas.microsoft.com/office/drawing/2014/main" id="{7E9486D4-C5E9-5C4D-3591-D3DCAFA638BA}"/>
              </a:ext>
            </a:extLst>
          </p:cNvPr>
          <p:cNvCxnSpPr>
            <a:cxnSpLocks/>
          </p:cNvCxnSpPr>
          <p:nvPr/>
        </p:nvCxnSpPr>
        <p:spPr>
          <a:xfrm>
            <a:off x="3230687" y="4339712"/>
            <a:ext cx="0" cy="379063"/>
          </a:xfrm>
          <a:prstGeom prst="line">
            <a:avLst/>
          </a:prstGeom>
          <a:ln w="38100">
            <a:solidFill>
              <a:schemeClr val="accent4">
                <a:lumMod val="75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ED80A3-1EF5-8FE6-BD93-97ED8207753E}"/>
              </a:ext>
            </a:extLst>
          </p:cNvPr>
          <p:cNvCxnSpPr>
            <a:cxnSpLocks/>
            <a:stCxn id="14" idx="0"/>
          </p:cNvCxnSpPr>
          <p:nvPr/>
        </p:nvCxnSpPr>
        <p:spPr>
          <a:xfrm flipH="1" flipV="1">
            <a:off x="3264734" y="4351818"/>
            <a:ext cx="3034403" cy="362777"/>
          </a:xfrm>
          <a:prstGeom prst="line">
            <a:avLst/>
          </a:prstGeom>
          <a:ln w="38100">
            <a:solidFill>
              <a:schemeClr val="accent4">
                <a:lumMod val="75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33928D7-0284-387D-A959-F29E5769EC89}"/>
              </a:ext>
            </a:extLst>
          </p:cNvPr>
          <p:cNvCxnSpPr>
            <a:cxnSpLocks/>
            <a:stCxn id="13" idx="0"/>
          </p:cNvCxnSpPr>
          <p:nvPr/>
        </p:nvCxnSpPr>
        <p:spPr>
          <a:xfrm flipV="1">
            <a:off x="3223825" y="3324052"/>
            <a:ext cx="0" cy="410836"/>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9CFBC77-4DE9-03E2-5530-174220AEFCD1}"/>
              </a:ext>
            </a:extLst>
          </p:cNvPr>
          <p:cNvSpPr txBox="1"/>
          <p:nvPr/>
        </p:nvSpPr>
        <p:spPr>
          <a:xfrm>
            <a:off x="2584260" y="5597588"/>
            <a:ext cx="1360948" cy="369332"/>
          </a:xfrm>
          <a:prstGeom prst="rect">
            <a:avLst/>
          </a:prstGeom>
          <a:noFill/>
        </p:spPr>
        <p:txBody>
          <a:bodyPr wrap="square" rtlCol="0">
            <a:spAutoFit/>
          </a:bodyPr>
          <a:lstStyle/>
          <a:p>
            <a:pPr algn="ctr"/>
            <a:r>
              <a:rPr lang="en-CN">
                <a:latin typeface="Aptos" panose="020B0004020202020204" pitchFamily="34" charset="0"/>
                <a:cs typeface="Times New Roman" panose="02020603050405020304" pitchFamily="18" charset="0"/>
              </a:rPr>
              <a:t>64B</a:t>
            </a:r>
            <a:r>
              <a:rPr lang="en-US">
                <a:latin typeface="Aptos" panose="020B0004020202020204" pitchFamily="34" charset="0"/>
                <a:cs typeface="Times New Roman" panose="02020603050405020304" pitchFamily="18" charset="0"/>
              </a:rPr>
              <a:t> </a:t>
            </a:r>
            <a:r>
              <a:rPr lang="en-CN">
                <a:latin typeface="Aptos" panose="020B0004020202020204" pitchFamily="34" charset="0"/>
                <a:cs typeface="Times New Roman" panose="02020603050405020304" pitchFamily="18" charset="0"/>
              </a:rPr>
              <a:t>Line</a:t>
            </a:r>
          </a:p>
        </p:txBody>
      </p:sp>
      <p:sp>
        <p:nvSpPr>
          <p:cNvPr id="20" name="Left Brace 19">
            <a:extLst>
              <a:ext uri="{FF2B5EF4-FFF2-40B4-BE49-F238E27FC236}">
                <a16:creationId xmlns:a16="http://schemas.microsoft.com/office/drawing/2014/main" id="{E231ACE1-7298-3F62-4588-B4E5BAAB1D61}"/>
              </a:ext>
            </a:extLst>
          </p:cNvPr>
          <p:cNvSpPr/>
          <p:nvPr/>
        </p:nvSpPr>
        <p:spPr>
          <a:xfrm rot="16200000">
            <a:off x="3094822" y="5323167"/>
            <a:ext cx="271730" cy="42177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21" name="TextBox 20">
            <a:extLst>
              <a:ext uri="{FF2B5EF4-FFF2-40B4-BE49-F238E27FC236}">
                <a16:creationId xmlns:a16="http://schemas.microsoft.com/office/drawing/2014/main" id="{B0EEDE59-1DC0-B38A-8599-2BEDF29FEA71}"/>
              </a:ext>
            </a:extLst>
          </p:cNvPr>
          <p:cNvSpPr txBox="1"/>
          <p:nvPr/>
        </p:nvSpPr>
        <p:spPr>
          <a:xfrm>
            <a:off x="3264734" y="3331877"/>
            <a:ext cx="5395644" cy="369332"/>
          </a:xfrm>
          <a:prstGeom prst="rect">
            <a:avLst/>
          </a:prstGeom>
          <a:noFill/>
        </p:spPr>
        <p:txBody>
          <a:bodyPr wrap="none" rtlCol="0">
            <a:spAutoFit/>
          </a:bodyPr>
          <a:lstStyle/>
          <a:p>
            <a:r>
              <a:rPr lang="en-US">
                <a:solidFill>
                  <a:schemeClr val="bg1">
                    <a:lumMod val="50000"/>
                  </a:schemeClr>
                </a:solidFill>
                <a:latin typeface="Aptos" panose="020B0004020202020204" pitchFamily="34" charset="0"/>
              </a:rPr>
              <a:t>Data Placement Managed by CPU Memory Controller</a:t>
            </a:r>
          </a:p>
        </p:txBody>
      </p:sp>
      <p:sp>
        <p:nvSpPr>
          <p:cNvPr id="22" name="Content Placeholder 2">
            <a:extLst>
              <a:ext uri="{FF2B5EF4-FFF2-40B4-BE49-F238E27FC236}">
                <a16:creationId xmlns:a16="http://schemas.microsoft.com/office/drawing/2014/main" id="{C51289C5-A8C7-6B16-67F4-4112DF074505}"/>
              </a:ext>
            </a:extLst>
          </p:cNvPr>
          <p:cNvSpPr>
            <a:spLocks noGrp="1"/>
          </p:cNvSpPr>
          <p:nvPr>
            <p:ph idx="1"/>
          </p:nvPr>
        </p:nvSpPr>
        <p:spPr>
          <a:xfrm>
            <a:off x="838200" y="1797498"/>
            <a:ext cx="10784840" cy="740859"/>
          </a:xfrm>
        </p:spPr>
        <p:txBody>
          <a:bodyPr>
            <a:normAutofit/>
          </a:bodyPr>
          <a:lstStyle/>
          <a:p>
            <a:pPr marL="0" indent="0">
              <a:buNone/>
            </a:pPr>
            <a:r>
              <a:rPr lang="en-US" sz="2800"/>
              <a:t>Local memory as a </a:t>
            </a:r>
            <a:r>
              <a:rPr lang="en-US" sz="2800" b="1"/>
              <a:t>direct-mapped</a:t>
            </a:r>
            <a:r>
              <a:rPr lang="en-US" sz="2800"/>
              <a:t>, </a:t>
            </a:r>
            <a:r>
              <a:rPr lang="en-US" sz="2800" b="1"/>
              <a:t>exclusive</a:t>
            </a:r>
            <a:r>
              <a:rPr lang="en-US" sz="2800"/>
              <a:t> cache of CXL memory</a:t>
            </a:r>
            <a:r>
              <a:rPr lang="en-CN"/>
              <a:t> </a:t>
            </a:r>
          </a:p>
        </p:txBody>
      </p:sp>
      <p:sp>
        <p:nvSpPr>
          <p:cNvPr id="3" name="TextBox 2">
            <a:extLst>
              <a:ext uri="{FF2B5EF4-FFF2-40B4-BE49-F238E27FC236}">
                <a16:creationId xmlns:a16="http://schemas.microsoft.com/office/drawing/2014/main" id="{BB76A661-E58A-8354-7DA6-8D16B8CED5DF}"/>
              </a:ext>
            </a:extLst>
          </p:cNvPr>
          <p:cNvSpPr txBox="1"/>
          <p:nvPr/>
        </p:nvSpPr>
        <p:spPr>
          <a:xfrm>
            <a:off x="5618663" y="5621118"/>
            <a:ext cx="1360948" cy="369332"/>
          </a:xfrm>
          <a:prstGeom prst="rect">
            <a:avLst/>
          </a:prstGeom>
          <a:noFill/>
        </p:spPr>
        <p:txBody>
          <a:bodyPr wrap="square" rtlCol="0">
            <a:spAutoFit/>
          </a:bodyPr>
          <a:lstStyle/>
          <a:p>
            <a:pPr algn="ctr"/>
            <a:r>
              <a:rPr lang="en-CN" dirty="0">
                <a:latin typeface="Aptos" panose="020B0004020202020204" pitchFamily="34" charset="0"/>
                <a:cs typeface="Times New Roman" panose="02020603050405020304" pitchFamily="18" charset="0"/>
              </a:rPr>
              <a:t>64B</a:t>
            </a:r>
            <a:r>
              <a:rPr lang="en-US" dirty="0">
                <a:latin typeface="Aptos" panose="020B0004020202020204" pitchFamily="34" charset="0"/>
                <a:cs typeface="Times New Roman" panose="02020603050405020304" pitchFamily="18" charset="0"/>
              </a:rPr>
              <a:t> </a:t>
            </a:r>
            <a:r>
              <a:rPr lang="en-CN" dirty="0">
                <a:latin typeface="Aptos" panose="020B0004020202020204" pitchFamily="34" charset="0"/>
                <a:cs typeface="Times New Roman" panose="02020603050405020304" pitchFamily="18" charset="0"/>
              </a:rPr>
              <a:t>Line</a:t>
            </a:r>
          </a:p>
        </p:txBody>
      </p:sp>
      <p:sp>
        <p:nvSpPr>
          <p:cNvPr id="23" name="Left Brace 22">
            <a:extLst>
              <a:ext uri="{FF2B5EF4-FFF2-40B4-BE49-F238E27FC236}">
                <a16:creationId xmlns:a16="http://schemas.microsoft.com/office/drawing/2014/main" id="{301E289E-C79D-9C25-E32E-4FA5E7356595}"/>
              </a:ext>
            </a:extLst>
          </p:cNvPr>
          <p:cNvSpPr/>
          <p:nvPr/>
        </p:nvSpPr>
        <p:spPr>
          <a:xfrm rot="16200000">
            <a:off x="6163271" y="5333494"/>
            <a:ext cx="271730" cy="421776"/>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Tree>
    <p:extLst>
      <p:ext uri="{BB962C8B-B14F-4D97-AF65-F5344CB8AC3E}">
        <p14:creationId xmlns:p14="http://schemas.microsoft.com/office/powerpoint/2010/main" val="2822034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500"/>
                                        <p:tgtEl>
                                          <p:spTgt spid="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2"/>
                                        </p:tgtEl>
                                        <p:attrNameLst>
                                          <p:attrName>style.visibility</p:attrName>
                                        </p:attrNameLst>
                                      </p:cBhvr>
                                      <p:to>
                                        <p:strVal val="visible"/>
                                      </p:to>
                                    </p:set>
                                    <p:animEffect transition="in" filter="fade">
                                      <p:cBhvr>
                                        <p:cTn id="68" dur="500"/>
                                        <p:tgtEl>
                                          <p:spTgt spid="1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9" grpId="0" animBg="1"/>
      <p:bldP spid="10" grpId="0"/>
      <p:bldP spid="11" grpId="0" animBg="1"/>
      <p:bldP spid="12" grpId="0" animBg="1"/>
      <p:bldP spid="13" grpId="0" animBg="1"/>
      <p:bldP spid="14" grpId="0" animBg="1"/>
      <p:bldP spid="15" grpId="0" animBg="1"/>
      <p:bldP spid="19" grpId="0"/>
      <p:bldP spid="20" grpId="0" animBg="1"/>
      <p:bldP spid="21" grpId="0"/>
      <p:bldP spid="3" grpId="0"/>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B20C1-5319-043F-2E09-3D1805BE1828}"/>
              </a:ext>
            </a:extLst>
          </p:cNvPr>
          <p:cNvSpPr>
            <a:spLocks noGrp="1"/>
          </p:cNvSpPr>
          <p:nvPr>
            <p:ph type="title"/>
          </p:nvPr>
        </p:nvSpPr>
        <p:spPr/>
        <p:txBody>
          <a:bodyPr/>
          <a:lstStyle/>
          <a:p>
            <a:r>
              <a:rPr lang="en-US" dirty="0"/>
              <a:t>Local Memory Miss in Intel Flat Memory Mode</a:t>
            </a:r>
          </a:p>
        </p:txBody>
      </p:sp>
      <p:sp>
        <p:nvSpPr>
          <p:cNvPr id="3" name="Content Placeholder 2">
            <a:extLst>
              <a:ext uri="{FF2B5EF4-FFF2-40B4-BE49-F238E27FC236}">
                <a16:creationId xmlns:a16="http://schemas.microsoft.com/office/drawing/2014/main" id="{E688B260-A160-23D2-ABE4-66CB7F22DF9D}"/>
              </a:ext>
            </a:extLst>
          </p:cNvPr>
          <p:cNvSpPr>
            <a:spLocks noGrp="1"/>
          </p:cNvSpPr>
          <p:nvPr>
            <p:ph idx="1"/>
          </p:nvPr>
        </p:nvSpPr>
        <p:spPr>
          <a:xfrm>
            <a:off x="838200" y="1825625"/>
            <a:ext cx="10515600" cy="1302711"/>
          </a:xfrm>
        </p:spPr>
        <p:txBody>
          <a:bodyPr>
            <a:normAutofit/>
          </a:bodyPr>
          <a:lstStyle/>
          <a:p>
            <a:pPr marL="0" indent="0">
              <a:buNone/>
            </a:pPr>
            <a:r>
              <a:rPr lang="en-US" dirty="0"/>
              <a:t>When a main memory access misses in local memory, the hardware will “</a:t>
            </a:r>
            <a:r>
              <a:rPr lang="en-US" b="1" dirty="0"/>
              <a:t>swap</a:t>
            </a:r>
            <a:r>
              <a:rPr lang="en-US" dirty="0"/>
              <a:t>” the two cache lines</a:t>
            </a:r>
          </a:p>
        </p:txBody>
      </p:sp>
      <p:sp>
        <p:nvSpPr>
          <p:cNvPr id="4" name="Rectangle 3">
            <a:extLst>
              <a:ext uri="{FF2B5EF4-FFF2-40B4-BE49-F238E27FC236}">
                <a16:creationId xmlns:a16="http://schemas.microsoft.com/office/drawing/2014/main" id="{AB1A27A5-DDC2-E71C-5690-BEAFF5D3C208}"/>
              </a:ext>
            </a:extLst>
          </p:cNvPr>
          <p:cNvSpPr/>
          <p:nvPr/>
        </p:nvSpPr>
        <p:spPr>
          <a:xfrm>
            <a:off x="3024120" y="4032637"/>
            <a:ext cx="3079630" cy="590065"/>
          </a:xfrm>
          <a:prstGeom prst="rect">
            <a:avLst/>
          </a:prstGeom>
          <a:solidFill>
            <a:srgbClr val="FBE3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N</a:t>
            </a:r>
            <a:r>
              <a:rPr lang="en-US" dirty="0">
                <a:solidFill>
                  <a:schemeClr val="tx1"/>
                </a:solidFill>
              </a:rPr>
              <a:t> GB</a:t>
            </a:r>
            <a:endParaRPr lang="en-CN">
              <a:solidFill>
                <a:schemeClr val="tx1"/>
              </a:solidFill>
            </a:endParaRPr>
          </a:p>
        </p:txBody>
      </p:sp>
      <p:sp>
        <p:nvSpPr>
          <p:cNvPr id="5" name="TextBox 4">
            <a:extLst>
              <a:ext uri="{FF2B5EF4-FFF2-40B4-BE49-F238E27FC236}">
                <a16:creationId xmlns:a16="http://schemas.microsoft.com/office/drawing/2014/main" id="{9E504739-0129-3A8C-2C3E-2A5AFF0625E2}"/>
              </a:ext>
            </a:extLst>
          </p:cNvPr>
          <p:cNvSpPr txBox="1"/>
          <p:nvPr/>
        </p:nvSpPr>
        <p:spPr>
          <a:xfrm>
            <a:off x="6096000" y="3109609"/>
            <a:ext cx="1729448"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CXL Memory</a:t>
            </a:r>
          </a:p>
        </p:txBody>
      </p:sp>
      <p:sp>
        <p:nvSpPr>
          <p:cNvPr id="6" name="Rectangle 5">
            <a:extLst>
              <a:ext uri="{FF2B5EF4-FFF2-40B4-BE49-F238E27FC236}">
                <a16:creationId xmlns:a16="http://schemas.microsoft.com/office/drawing/2014/main" id="{01ADB498-E1AB-68EC-BD16-137666CA6F96}"/>
              </a:ext>
            </a:extLst>
          </p:cNvPr>
          <p:cNvSpPr/>
          <p:nvPr/>
        </p:nvSpPr>
        <p:spPr>
          <a:xfrm>
            <a:off x="3024120" y="3013372"/>
            <a:ext cx="3079630" cy="59006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N</a:t>
            </a:r>
            <a:r>
              <a:rPr lang="en-US" dirty="0">
                <a:solidFill>
                  <a:schemeClr val="tx1"/>
                </a:solidFill>
              </a:rPr>
              <a:t> GB</a:t>
            </a:r>
            <a:endParaRPr lang="en-CN">
              <a:solidFill>
                <a:schemeClr val="tx1"/>
              </a:solidFill>
            </a:endParaRPr>
          </a:p>
        </p:txBody>
      </p:sp>
      <p:sp>
        <p:nvSpPr>
          <p:cNvPr id="7" name="TextBox 6">
            <a:extLst>
              <a:ext uri="{FF2B5EF4-FFF2-40B4-BE49-F238E27FC236}">
                <a16:creationId xmlns:a16="http://schemas.microsoft.com/office/drawing/2014/main" id="{86BF9C2C-3DEC-DC0B-D0D4-7E2A7C5E00AE}"/>
              </a:ext>
            </a:extLst>
          </p:cNvPr>
          <p:cNvSpPr txBox="1"/>
          <p:nvPr/>
        </p:nvSpPr>
        <p:spPr>
          <a:xfrm>
            <a:off x="6103750" y="4113585"/>
            <a:ext cx="1904817"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Local Memory</a:t>
            </a:r>
          </a:p>
        </p:txBody>
      </p:sp>
      <p:sp>
        <p:nvSpPr>
          <p:cNvPr id="8" name="Rectangle 7">
            <a:extLst>
              <a:ext uri="{FF2B5EF4-FFF2-40B4-BE49-F238E27FC236}">
                <a16:creationId xmlns:a16="http://schemas.microsoft.com/office/drawing/2014/main" id="{67BB50FA-1ECA-C4AF-4773-A7EA42345790}"/>
              </a:ext>
            </a:extLst>
          </p:cNvPr>
          <p:cNvSpPr/>
          <p:nvPr/>
        </p:nvSpPr>
        <p:spPr>
          <a:xfrm>
            <a:off x="3024120" y="5014771"/>
            <a:ext cx="6096277" cy="605324"/>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1" name="Rectangle 10">
            <a:extLst>
              <a:ext uri="{FF2B5EF4-FFF2-40B4-BE49-F238E27FC236}">
                <a16:creationId xmlns:a16="http://schemas.microsoft.com/office/drawing/2014/main" id="{3E783111-F453-9B5C-3D0B-5E0453999174}"/>
              </a:ext>
            </a:extLst>
          </p:cNvPr>
          <p:cNvSpPr/>
          <p:nvPr/>
        </p:nvSpPr>
        <p:spPr>
          <a:xfrm>
            <a:off x="3024119" y="3010244"/>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Aptos" panose="020B0004020202020204" pitchFamily="34" charset="0"/>
                <a:cs typeface="Times New Roman" panose="02020603050405020304" pitchFamily="18" charset="0"/>
              </a:rPr>
              <a:t>B</a:t>
            </a:r>
          </a:p>
        </p:txBody>
      </p:sp>
      <p:sp>
        <p:nvSpPr>
          <p:cNvPr id="12" name="Rectangle 11">
            <a:extLst>
              <a:ext uri="{FF2B5EF4-FFF2-40B4-BE49-F238E27FC236}">
                <a16:creationId xmlns:a16="http://schemas.microsoft.com/office/drawing/2014/main" id="{6977E747-B24E-2AFC-3E03-52E32CD9ABB5}"/>
              </a:ext>
            </a:extLst>
          </p:cNvPr>
          <p:cNvSpPr/>
          <p:nvPr/>
        </p:nvSpPr>
        <p:spPr>
          <a:xfrm>
            <a:off x="3020688" y="4030884"/>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ptos" panose="020B0004020202020204" pitchFamily="34" charset="0"/>
                <a:cs typeface="Times New Roman" panose="02020603050405020304" pitchFamily="18" charset="0"/>
              </a:rPr>
              <a:t>A</a:t>
            </a:r>
            <a:endParaRPr lang="en-CN" b="1">
              <a:solidFill>
                <a:schemeClr val="tx1"/>
              </a:solidFill>
              <a:latin typeface="Aptos" panose="020B000402020202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E635FD40-B30A-C900-D83D-1B263889C676}"/>
              </a:ext>
            </a:extLst>
          </p:cNvPr>
          <p:cNvSpPr/>
          <p:nvPr/>
        </p:nvSpPr>
        <p:spPr>
          <a:xfrm>
            <a:off x="6096000" y="5010591"/>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Aptos" panose="020B0004020202020204" pitchFamily="34" charset="0"/>
                <a:cs typeface="Times New Roman" panose="02020603050405020304" pitchFamily="18" charset="0"/>
              </a:rPr>
              <a:t>B</a:t>
            </a:r>
          </a:p>
        </p:txBody>
      </p:sp>
      <p:sp>
        <p:nvSpPr>
          <p:cNvPr id="14" name="Rectangle 13">
            <a:extLst>
              <a:ext uri="{FF2B5EF4-FFF2-40B4-BE49-F238E27FC236}">
                <a16:creationId xmlns:a16="http://schemas.microsoft.com/office/drawing/2014/main" id="{9766554E-CF29-FD34-E237-6CE6730974F7}"/>
              </a:ext>
            </a:extLst>
          </p:cNvPr>
          <p:cNvSpPr/>
          <p:nvPr/>
        </p:nvSpPr>
        <p:spPr>
          <a:xfrm>
            <a:off x="3020688" y="5018168"/>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ptos" panose="020B0004020202020204" pitchFamily="34" charset="0"/>
                <a:cs typeface="Times New Roman" panose="02020603050405020304" pitchFamily="18" charset="0"/>
              </a:rPr>
              <a:t>A</a:t>
            </a:r>
            <a:endParaRPr lang="en-CN" b="1">
              <a:solidFill>
                <a:schemeClr val="tx1"/>
              </a:solidFill>
              <a:latin typeface="Aptos" panose="020B0004020202020204" pitchFamily="34"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210CE2AB-5355-BD04-B777-E65A26D194A4}"/>
              </a:ext>
            </a:extLst>
          </p:cNvPr>
          <p:cNvCxnSpPr>
            <a:cxnSpLocks/>
          </p:cNvCxnSpPr>
          <p:nvPr/>
        </p:nvCxnSpPr>
        <p:spPr>
          <a:xfrm>
            <a:off x="3238437" y="4635708"/>
            <a:ext cx="0" cy="379063"/>
          </a:xfrm>
          <a:prstGeom prst="line">
            <a:avLst/>
          </a:prstGeom>
          <a:ln w="38100">
            <a:solidFill>
              <a:schemeClr val="accent4">
                <a:lumMod val="75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E5B6248-1592-B209-3DC7-4747BA245C5C}"/>
              </a:ext>
            </a:extLst>
          </p:cNvPr>
          <p:cNvCxnSpPr>
            <a:cxnSpLocks/>
            <a:stCxn id="13" idx="0"/>
          </p:cNvCxnSpPr>
          <p:nvPr/>
        </p:nvCxnSpPr>
        <p:spPr>
          <a:xfrm flipH="1" flipV="1">
            <a:off x="3272484" y="4647814"/>
            <a:ext cx="3034403" cy="362777"/>
          </a:xfrm>
          <a:prstGeom prst="line">
            <a:avLst/>
          </a:prstGeom>
          <a:ln w="38100">
            <a:solidFill>
              <a:schemeClr val="accent4">
                <a:lumMod val="75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A9FC8F-D0AC-5BD3-D072-4762EEFB62E8}"/>
              </a:ext>
            </a:extLst>
          </p:cNvPr>
          <p:cNvCxnSpPr>
            <a:cxnSpLocks/>
            <a:stCxn id="12" idx="0"/>
          </p:cNvCxnSpPr>
          <p:nvPr/>
        </p:nvCxnSpPr>
        <p:spPr>
          <a:xfrm flipV="1">
            <a:off x="3231575" y="3620048"/>
            <a:ext cx="0" cy="410836"/>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B655B25-FE29-B3D7-9042-813ED57E25C4}"/>
              </a:ext>
            </a:extLst>
          </p:cNvPr>
          <p:cNvSpPr txBox="1"/>
          <p:nvPr/>
        </p:nvSpPr>
        <p:spPr>
          <a:xfrm>
            <a:off x="2551101" y="5987018"/>
            <a:ext cx="1360948" cy="369332"/>
          </a:xfrm>
          <a:prstGeom prst="rect">
            <a:avLst/>
          </a:prstGeom>
          <a:noFill/>
        </p:spPr>
        <p:txBody>
          <a:bodyPr wrap="square" rtlCol="0">
            <a:spAutoFit/>
          </a:bodyPr>
          <a:lstStyle/>
          <a:p>
            <a:pPr algn="ctr"/>
            <a:r>
              <a:rPr lang="en-CN">
                <a:latin typeface="Aptos" panose="020B0004020202020204" pitchFamily="34" charset="0"/>
                <a:cs typeface="Times New Roman" panose="02020603050405020304" pitchFamily="18" charset="0"/>
              </a:rPr>
              <a:t>64B</a:t>
            </a:r>
            <a:r>
              <a:rPr lang="en-US" dirty="0">
                <a:latin typeface="Aptos" panose="020B0004020202020204" pitchFamily="34" charset="0"/>
                <a:cs typeface="Times New Roman" panose="02020603050405020304" pitchFamily="18" charset="0"/>
              </a:rPr>
              <a:t> </a:t>
            </a:r>
            <a:r>
              <a:rPr lang="en-CN">
                <a:latin typeface="Aptos" panose="020B0004020202020204" pitchFamily="34" charset="0"/>
                <a:cs typeface="Times New Roman" panose="02020603050405020304" pitchFamily="18" charset="0"/>
              </a:rPr>
              <a:t>Line</a:t>
            </a:r>
          </a:p>
        </p:txBody>
      </p:sp>
      <p:sp>
        <p:nvSpPr>
          <p:cNvPr id="19" name="Left Brace 18">
            <a:extLst>
              <a:ext uri="{FF2B5EF4-FFF2-40B4-BE49-F238E27FC236}">
                <a16:creationId xmlns:a16="http://schemas.microsoft.com/office/drawing/2014/main" id="{69947292-A47C-72B7-1216-42F53FB23A73}"/>
              </a:ext>
            </a:extLst>
          </p:cNvPr>
          <p:cNvSpPr/>
          <p:nvPr/>
        </p:nvSpPr>
        <p:spPr>
          <a:xfrm rot="16200000">
            <a:off x="3095712" y="5648328"/>
            <a:ext cx="271730" cy="42177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cxnSp>
        <p:nvCxnSpPr>
          <p:cNvPr id="22" name="Straight Arrow Connector 21">
            <a:extLst>
              <a:ext uri="{FF2B5EF4-FFF2-40B4-BE49-F238E27FC236}">
                <a16:creationId xmlns:a16="http://schemas.microsoft.com/office/drawing/2014/main" id="{2B749BA5-BE64-FBF7-0298-38DBB93C5D87}"/>
              </a:ext>
            </a:extLst>
          </p:cNvPr>
          <p:cNvCxnSpPr>
            <a:endCxn id="13" idx="2"/>
          </p:cNvCxnSpPr>
          <p:nvPr/>
        </p:nvCxnSpPr>
        <p:spPr>
          <a:xfrm flipV="1">
            <a:off x="6306887" y="5606911"/>
            <a:ext cx="0" cy="453421"/>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034F340-4DA3-E4FB-953C-BA737432BD76}"/>
              </a:ext>
            </a:extLst>
          </p:cNvPr>
          <p:cNvSpPr txBox="1"/>
          <p:nvPr/>
        </p:nvSpPr>
        <p:spPr>
          <a:xfrm>
            <a:off x="4321519" y="6060332"/>
            <a:ext cx="4798878" cy="400110"/>
          </a:xfrm>
          <a:prstGeom prst="rect">
            <a:avLst/>
          </a:prstGeom>
          <a:noFill/>
        </p:spPr>
        <p:txBody>
          <a:bodyPr wrap="none" rtlCol="0">
            <a:spAutoFit/>
          </a:bodyPr>
          <a:lstStyle/>
          <a:p>
            <a:r>
              <a:rPr lang="en-US" sz="2000" b="1" dirty="0">
                <a:solidFill>
                  <a:srgbClr val="FF0000"/>
                </a:solidFill>
                <a:latin typeface="Aptos" panose="020B0004020202020204" pitchFamily="34" charset="0"/>
              </a:rPr>
              <a:t>1. Main memory access (e.g., LLC miss)</a:t>
            </a:r>
          </a:p>
        </p:txBody>
      </p:sp>
      <p:sp>
        <p:nvSpPr>
          <p:cNvPr id="9" name="TextBox 8">
            <a:extLst>
              <a:ext uri="{FF2B5EF4-FFF2-40B4-BE49-F238E27FC236}">
                <a16:creationId xmlns:a16="http://schemas.microsoft.com/office/drawing/2014/main" id="{42C39238-E253-639C-6D4A-14D22D0FBFDA}"/>
              </a:ext>
            </a:extLst>
          </p:cNvPr>
          <p:cNvSpPr txBox="1"/>
          <p:nvPr/>
        </p:nvSpPr>
        <p:spPr>
          <a:xfrm>
            <a:off x="9105065" y="5115278"/>
            <a:ext cx="3086935" cy="430887"/>
          </a:xfrm>
          <a:prstGeom prst="rect">
            <a:avLst/>
          </a:prstGeom>
          <a:noFill/>
        </p:spPr>
        <p:txBody>
          <a:bodyPr wrap="none" rtlCol="0">
            <a:spAutoFit/>
          </a:bodyPr>
          <a:lstStyle/>
          <a:p>
            <a:r>
              <a:rPr lang="en-US" sz="2200" dirty="0">
                <a:latin typeface="Aptos" panose="020B0004020202020204" pitchFamily="34" charset="0"/>
                <a:cs typeface="Times New Roman" panose="02020603050405020304" pitchFamily="18" charset="0"/>
              </a:rPr>
              <a:t>Physical Address Space</a:t>
            </a:r>
            <a:endParaRPr lang="en-CN" sz="2200">
              <a:latin typeface="Aptos" panose="020B0004020202020204" pitchFamily="34" charset="0"/>
              <a:cs typeface="Times New Roman" panose="02020603050405020304" pitchFamily="18" charset="0"/>
            </a:endParaRPr>
          </a:p>
        </p:txBody>
      </p:sp>
      <p:sp>
        <p:nvSpPr>
          <p:cNvPr id="21" name="Slide Number Placeholder 20">
            <a:extLst>
              <a:ext uri="{FF2B5EF4-FFF2-40B4-BE49-F238E27FC236}">
                <a16:creationId xmlns:a16="http://schemas.microsoft.com/office/drawing/2014/main" id="{9F0D76E6-41D0-FF76-658C-2756FA1603B6}"/>
              </a:ext>
            </a:extLst>
          </p:cNvPr>
          <p:cNvSpPr>
            <a:spLocks noGrp="1"/>
          </p:cNvSpPr>
          <p:nvPr>
            <p:ph type="sldNum" sz="quarter" idx="12"/>
          </p:nvPr>
        </p:nvSpPr>
        <p:spPr/>
        <p:txBody>
          <a:bodyPr/>
          <a:lstStyle/>
          <a:p>
            <a:fld id="{5D76F006-5496-B946-A476-FEDACCAB686D}" type="slidenum">
              <a:rPr lang="en-CN" smtClean="0"/>
              <a:t>11</a:t>
            </a:fld>
            <a:endParaRPr lang="en-CN"/>
          </a:p>
        </p:txBody>
      </p:sp>
    </p:spTree>
    <p:extLst>
      <p:ext uri="{BB962C8B-B14F-4D97-AF65-F5344CB8AC3E}">
        <p14:creationId xmlns:p14="http://schemas.microsoft.com/office/powerpoint/2010/main" val="3411994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B20C1-5319-043F-2E09-3D1805BE1828}"/>
              </a:ext>
            </a:extLst>
          </p:cNvPr>
          <p:cNvSpPr>
            <a:spLocks noGrp="1"/>
          </p:cNvSpPr>
          <p:nvPr>
            <p:ph type="title"/>
          </p:nvPr>
        </p:nvSpPr>
        <p:spPr/>
        <p:txBody>
          <a:bodyPr/>
          <a:lstStyle/>
          <a:p>
            <a:r>
              <a:rPr lang="en-US" dirty="0"/>
              <a:t>Local Memory Miss in Intel Flat Memory Mode</a:t>
            </a:r>
          </a:p>
        </p:txBody>
      </p:sp>
      <p:sp>
        <p:nvSpPr>
          <p:cNvPr id="3" name="Content Placeholder 2">
            <a:extLst>
              <a:ext uri="{FF2B5EF4-FFF2-40B4-BE49-F238E27FC236}">
                <a16:creationId xmlns:a16="http://schemas.microsoft.com/office/drawing/2014/main" id="{E688B260-A160-23D2-ABE4-66CB7F22DF9D}"/>
              </a:ext>
            </a:extLst>
          </p:cNvPr>
          <p:cNvSpPr>
            <a:spLocks noGrp="1"/>
          </p:cNvSpPr>
          <p:nvPr>
            <p:ph idx="1"/>
          </p:nvPr>
        </p:nvSpPr>
        <p:spPr>
          <a:xfrm>
            <a:off x="838200" y="1825625"/>
            <a:ext cx="10515600" cy="1302711"/>
          </a:xfrm>
        </p:spPr>
        <p:txBody>
          <a:bodyPr>
            <a:normAutofit/>
          </a:bodyPr>
          <a:lstStyle/>
          <a:p>
            <a:pPr marL="0" indent="0">
              <a:buNone/>
            </a:pPr>
            <a:r>
              <a:rPr lang="en-US" dirty="0"/>
              <a:t>When a main memory access misses in local memory, the hardware will “</a:t>
            </a:r>
            <a:r>
              <a:rPr lang="en-US" b="1" dirty="0"/>
              <a:t>swap</a:t>
            </a:r>
            <a:r>
              <a:rPr lang="en-US" dirty="0"/>
              <a:t>” the two cache lines</a:t>
            </a:r>
          </a:p>
        </p:txBody>
      </p:sp>
      <p:sp>
        <p:nvSpPr>
          <p:cNvPr id="4" name="Rectangle 3">
            <a:extLst>
              <a:ext uri="{FF2B5EF4-FFF2-40B4-BE49-F238E27FC236}">
                <a16:creationId xmlns:a16="http://schemas.microsoft.com/office/drawing/2014/main" id="{AB1A27A5-DDC2-E71C-5690-BEAFF5D3C208}"/>
              </a:ext>
            </a:extLst>
          </p:cNvPr>
          <p:cNvSpPr/>
          <p:nvPr/>
        </p:nvSpPr>
        <p:spPr>
          <a:xfrm>
            <a:off x="3024120" y="4032637"/>
            <a:ext cx="3079630" cy="590065"/>
          </a:xfrm>
          <a:prstGeom prst="rect">
            <a:avLst/>
          </a:prstGeom>
          <a:solidFill>
            <a:srgbClr val="FBE3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N</a:t>
            </a:r>
            <a:r>
              <a:rPr lang="en-US" dirty="0">
                <a:solidFill>
                  <a:schemeClr val="tx1"/>
                </a:solidFill>
              </a:rPr>
              <a:t> GB</a:t>
            </a:r>
            <a:endParaRPr lang="en-CN">
              <a:solidFill>
                <a:schemeClr val="tx1"/>
              </a:solidFill>
            </a:endParaRPr>
          </a:p>
        </p:txBody>
      </p:sp>
      <p:sp>
        <p:nvSpPr>
          <p:cNvPr id="6" name="Rectangle 5">
            <a:extLst>
              <a:ext uri="{FF2B5EF4-FFF2-40B4-BE49-F238E27FC236}">
                <a16:creationId xmlns:a16="http://schemas.microsoft.com/office/drawing/2014/main" id="{01ADB498-E1AB-68EC-BD16-137666CA6F96}"/>
              </a:ext>
            </a:extLst>
          </p:cNvPr>
          <p:cNvSpPr/>
          <p:nvPr/>
        </p:nvSpPr>
        <p:spPr>
          <a:xfrm>
            <a:off x="3024120" y="3013372"/>
            <a:ext cx="3079630" cy="59006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N </a:t>
            </a:r>
            <a:r>
              <a:rPr lang="en-US" dirty="0">
                <a:solidFill>
                  <a:schemeClr val="tx1"/>
                </a:solidFill>
              </a:rPr>
              <a:t>GB</a:t>
            </a:r>
            <a:endParaRPr lang="en-CN">
              <a:solidFill>
                <a:schemeClr val="tx1"/>
              </a:solidFill>
            </a:endParaRPr>
          </a:p>
        </p:txBody>
      </p:sp>
      <p:sp>
        <p:nvSpPr>
          <p:cNvPr id="8" name="Rectangle 7">
            <a:extLst>
              <a:ext uri="{FF2B5EF4-FFF2-40B4-BE49-F238E27FC236}">
                <a16:creationId xmlns:a16="http://schemas.microsoft.com/office/drawing/2014/main" id="{67BB50FA-1ECA-C4AF-4773-A7EA42345790}"/>
              </a:ext>
            </a:extLst>
          </p:cNvPr>
          <p:cNvSpPr/>
          <p:nvPr/>
        </p:nvSpPr>
        <p:spPr>
          <a:xfrm>
            <a:off x="3024120" y="5014771"/>
            <a:ext cx="6096277" cy="605324"/>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1" name="Rectangle 10">
            <a:extLst>
              <a:ext uri="{FF2B5EF4-FFF2-40B4-BE49-F238E27FC236}">
                <a16:creationId xmlns:a16="http://schemas.microsoft.com/office/drawing/2014/main" id="{3E783111-F453-9B5C-3D0B-5E0453999174}"/>
              </a:ext>
            </a:extLst>
          </p:cNvPr>
          <p:cNvSpPr/>
          <p:nvPr/>
        </p:nvSpPr>
        <p:spPr>
          <a:xfrm>
            <a:off x="3024119" y="3010244"/>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Aptos" panose="020B0004020202020204" pitchFamily="34" charset="0"/>
                <a:cs typeface="Times New Roman" panose="02020603050405020304" pitchFamily="18" charset="0"/>
              </a:rPr>
              <a:t>B</a:t>
            </a:r>
          </a:p>
        </p:txBody>
      </p:sp>
      <p:sp>
        <p:nvSpPr>
          <p:cNvPr id="12" name="Rectangle 11">
            <a:extLst>
              <a:ext uri="{FF2B5EF4-FFF2-40B4-BE49-F238E27FC236}">
                <a16:creationId xmlns:a16="http://schemas.microsoft.com/office/drawing/2014/main" id="{6977E747-B24E-2AFC-3E03-52E32CD9ABB5}"/>
              </a:ext>
            </a:extLst>
          </p:cNvPr>
          <p:cNvSpPr/>
          <p:nvPr/>
        </p:nvSpPr>
        <p:spPr>
          <a:xfrm>
            <a:off x="3020688" y="4030884"/>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ptos" panose="020B0004020202020204" pitchFamily="34" charset="0"/>
                <a:cs typeface="Times New Roman" panose="02020603050405020304" pitchFamily="18" charset="0"/>
              </a:rPr>
              <a:t>A</a:t>
            </a:r>
            <a:endParaRPr lang="en-CN" b="1">
              <a:solidFill>
                <a:schemeClr val="tx1"/>
              </a:solidFill>
              <a:latin typeface="Aptos" panose="020B000402020202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E635FD40-B30A-C900-D83D-1B263889C676}"/>
              </a:ext>
            </a:extLst>
          </p:cNvPr>
          <p:cNvSpPr/>
          <p:nvPr/>
        </p:nvSpPr>
        <p:spPr>
          <a:xfrm>
            <a:off x="6096000" y="5010591"/>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Aptos" panose="020B0004020202020204" pitchFamily="34" charset="0"/>
                <a:cs typeface="Times New Roman" panose="02020603050405020304" pitchFamily="18" charset="0"/>
              </a:rPr>
              <a:t>B</a:t>
            </a:r>
          </a:p>
        </p:txBody>
      </p:sp>
      <p:sp>
        <p:nvSpPr>
          <p:cNvPr id="14" name="Rectangle 13">
            <a:extLst>
              <a:ext uri="{FF2B5EF4-FFF2-40B4-BE49-F238E27FC236}">
                <a16:creationId xmlns:a16="http://schemas.microsoft.com/office/drawing/2014/main" id="{9766554E-CF29-FD34-E237-6CE6730974F7}"/>
              </a:ext>
            </a:extLst>
          </p:cNvPr>
          <p:cNvSpPr/>
          <p:nvPr/>
        </p:nvSpPr>
        <p:spPr>
          <a:xfrm>
            <a:off x="3020688" y="5018168"/>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ptos" panose="020B0004020202020204" pitchFamily="34" charset="0"/>
                <a:cs typeface="Times New Roman" panose="02020603050405020304" pitchFamily="18" charset="0"/>
              </a:rPr>
              <a:t>A</a:t>
            </a:r>
            <a:endParaRPr lang="en-CN" b="1">
              <a:solidFill>
                <a:schemeClr val="tx1"/>
              </a:solidFill>
              <a:latin typeface="Aptos" panose="020B0004020202020204" pitchFamily="34"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210CE2AB-5355-BD04-B777-E65A26D194A4}"/>
              </a:ext>
            </a:extLst>
          </p:cNvPr>
          <p:cNvCxnSpPr>
            <a:cxnSpLocks/>
          </p:cNvCxnSpPr>
          <p:nvPr/>
        </p:nvCxnSpPr>
        <p:spPr>
          <a:xfrm>
            <a:off x="3238437" y="4635708"/>
            <a:ext cx="0" cy="379063"/>
          </a:xfrm>
          <a:prstGeom prst="line">
            <a:avLst/>
          </a:prstGeom>
          <a:ln w="38100">
            <a:solidFill>
              <a:schemeClr val="accent4">
                <a:lumMod val="75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A9FC8F-D0AC-5BD3-D072-4762EEFB62E8}"/>
              </a:ext>
            </a:extLst>
          </p:cNvPr>
          <p:cNvCxnSpPr>
            <a:cxnSpLocks/>
            <a:stCxn id="12" idx="0"/>
          </p:cNvCxnSpPr>
          <p:nvPr/>
        </p:nvCxnSpPr>
        <p:spPr>
          <a:xfrm flipV="1">
            <a:off x="3231575" y="3620048"/>
            <a:ext cx="0" cy="410836"/>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B749BA5-BE64-FBF7-0298-38DBB93C5D87}"/>
              </a:ext>
            </a:extLst>
          </p:cNvPr>
          <p:cNvCxnSpPr>
            <a:endCxn id="13" idx="2"/>
          </p:cNvCxnSpPr>
          <p:nvPr/>
        </p:nvCxnSpPr>
        <p:spPr>
          <a:xfrm flipV="1">
            <a:off x="6306887" y="5606911"/>
            <a:ext cx="0" cy="45342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034F340-4DA3-E4FB-953C-BA737432BD76}"/>
              </a:ext>
            </a:extLst>
          </p:cNvPr>
          <p:cNvSpPr txBox="1"/>
          <p:nvPr/>
        </p:nvSpPr>
        <p:spPr>
          <a:xfrm>
            <a:off x="5286864" y="6049863"/>
            <a:ext cx="2288512" cy="400110"/>
          </a:xfrm>
          <a:prstGeom prst="rect">
            <a:avLst/>
          </a:prstGeom>
          <a:noFill/>
        </p:spPr>
        <p:txBody>
          <a:bodyPr wrap="none" rtlCol="0">
            <a:spAutoFit/>
          </a:bodyPr>
          <a:lstStyle/>
          <a:p>
            <a:r>
              <a:rPr lang="en-US" sz="2000" b="1" dirty="0"/>
              <a:t>1. Memory access</a:t>
            </a:r>
          </a:p>
        </p:txBody>
      </p:sp>
      <p:cxnSp>
        <p:nvCxnSpPr>
          <p:cNvPr id="9" name="Straight Arrow Connector 8">
            <a:extLst>
              <a:ext uri="{FF2B5EF4-FFF2-40B4-BE49-F238E27FC236}">
                <a16:creationId xmlns:a16="http://schemas.microsoft.com/office/drawing/2014/main" id="{33F7C6AE-E903-13B2-C5F2-25B80FC8BF2E}"/>
              </a:ext>
            </a:extLst>
          </p:cNvPr>
          <p:cNvCxnSpPr>
            <a:cxnSpLocks/>
          </p:cNvCxnSpPr>
          <p:nvPr/>
        </p:nvCxnSpPr>
        <p:spPr>
          <a:xfrm flipH="1" flipV="1">
            <a:off x="3247498" y="4625114"/>
            <a:ext cx="3070569" cy="383387"/>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CB5B577-2241-300F-E5AC-BC4CD16D90F1}"/>
              </a:ext>
            </a:extLst>
          </p:cNvPr>
          <p:cNvSpPr txBox="1"/>
          <p:nvPr/>
        </p:nvSpPr>
        <p:spPr>
          <a:xfrm>
            <a:off x="5968680" y="4574401"/>
            <a:ext cx="3810851" cy="400110"/>
          </a:xfrm>
          <a:prstGeom prst="rect">
            <a:avLst/>
          </a:prstGeom>
          <a:noFill/>
        </p:spPr>
        <p:txBody>
          <a:bodyPr wrap="none" rtlCol="0">
            <a:spAutoFit/>
          </a:bodyPr>
          <a:lstStyle/>
          <a:p>
            <a:r>
              <a:rPr lang="en-US" sz="2000" b="1" dirty="0">
                <a:solidFill>
                  <a:srgbClr val="FF0000"/>
                </a:solidFill>
              </a:rPr>
              <a:t>2. Read local memory and miss</a:t>
            </a:r>
          </a:p>
        </p:txBody>
      </p:sp>
      <p:sp>
        <p:nvSpPr>
          <p:cNvPr id="24" name="Slide Number Placeholder 23">
            <a:extLst>
              <a:ext uri="{FF2B5EF4-FFF2-40B4-BE49-F238E27FC236}">
                <a16:creationId xmlns:a16="http://schemas.microsoft.com/office/drawing/2014/main" id="{C1478E2B-BE9B-BE0C-F0F4-4EDBCDEA8A13}"/>
              </a:ext>
            </a:extLst>
          </p:cNvPr>
          <p:cNvSpPr>
            <a:spLocks noGrp="1"/>
          </p:cNvSpPr>
          <p:nvPr>
            <p:ph type="sldNum" sz="quarter" idx="12"/>
          </p:nvPr>
        </p:nvSpPr>
        <p:spPr/>
        <p:txBody>
          <a:bodyPr/>
          <a:lstStyle/>
          <a:p>
            <a:fld id="{5D76F006-5496-B946-A476-FEDACCAB686D}" type="slidenum">
              <a:rPr lang="en-CN" smtClean="0"/>
              <a:t>12</a:t>
            </a:fld>
            <a:endParaRPr lang="en-CN"/>
          </a:p>
        </p:txBody>
      </p:sp>
      <p:sp>
        <p:nvSpPr>
          <p:cNvPr id="16" name="TextBox 15">
            <a:extLst>
              <a:ext uri="{FF2B5EF4-FFF2-40B4-BE49-F238E27FC236}">
                <a16:creationId xmlns:a16="http://schemas.microsoft.com/office/drawing/2014/main" id="{9CE5CF82-35EA-73DC-9442-9D72B952CE1F}"/>
              </a:ext>
            </a:extLst>
          </p:cNvPr>
          <p:cNvSpPr txBox="1"/>
          <p:nvPr/>
        </p:nvSpPr>
        <p:spPr>
          <a:xfrm>
            <a:off x="6096000" y="3109609"/>
            <a:ext cx="1729448"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CXL Memory</a:t>
            </a:r>
          </a:p>
        </p:txBody>
      </p:sp>
      <p:sp>
        <p:nvSpPr>
          <p:cNvPr id="21" name="TextBox 20">
            <a:extLst>
              <a:ext uri="{FF2B5EF4-FFF2-40B4-BE49-F238E27FC236}">
                <a16:creationId xmlns:a16="http://schemas.microsoft.com/office/drawing/2014/main" id="{4B23772F-A3FC-5A6F-6FE0-A4D9A51B631A}"/>
              </a:ext>
            </a:extLst>
          </p:cNvPr>
          <p:cNvSpPr txBox="1"/>
          <p:nvPr/>
        </p:nvSpPr>
        <p:spPr>
          <a:xfrm>
            <a:off x="6103750" y="4113585"/>
            <a:ext cx="1904817"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Local Memory</a:t>
            </a:r>
          </a:p>
        </p:txBody>
      </p:sp>
      <p:sp>
        <p:nvSpPr>
          <p:cNvPr id="26" name="TextBox 25">
            <a:extLst>
              <a:ext uri="{FF2B5EF4-FFF2-40B4-BE49-F238E27FC236}">
                <a16:creationId xmlns:a16="http://schemas.microsoft.com/office/drawing/2014/main" id="{9A0DF5B8-430F-DD7B-4377-5CEDFBE7A848}"/>
              </a:ext>
            </a:extLst>
          </p:cNvPr>
          <p:cNvSpPr txBox="1"/>
          <p:nvPr/>
        </p:nvSpPr>
        <p:spPr>
          <a:xfrm>
            <a:off x="9105065" y="5115278"/>
            <a:ext cx="3086935" cy="430887"/>
          </a:xfrm>
          <a:prstGeom prst="rect">
            <a:avLst/>
          </a:prstGeom>
          <a:noFill/>
        </p:spPr>
        <p:txBody>
          <a:bodyPr wrap="none" rtlCol="0">
            <a:spAutoFit/>
          </a:bodyPr>
          <a:lstStyle/>
          <a:p>
            <a:r>
              <a:rPr lang="en-US" sz="2200" dirty="0">
                <a:latin typeface="Aptos" panose="020B0004020202020204" pitchFamily="34" charset="0"/>
                <a:cs typeface="Times New Roman" panose="02020603050405020304" pitchFamily="18" charset="0"/>
              </a:rPr>
              <a:t>Physical Address Space</a:t>
            </a:r>
            <a:endParaRPr lang="en-CN" sz="2200">
              <a:latin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AA9F888-1298-2D3D-A76E-D401C69A6F5C}"/>
              </a:ext>
            </a:extLst>
          </p:cNvPr>
          <p:cNvSpPr txBox="1"/>
          <p:nvPr/>
        </p:nvSpPr>
        <p:spPr>
          <a:xfrm>
            <a:off x="2551101" y="5987018"/>
            <a:ext cx="1360948" cy="369332"/>
          </a:xfrm>
          <a:prstGeom prst="rect">
            <a:avLst/>
          </a:prstGeom>
          <a:noFill/>
        </p:spPr>
        <p:txBody>
          <a:bodyPr wrap="square" rtlCol="0">
            <a:spAutoFit/>
          </a:bodyPr>
          <a:lstStyle/>
          <a:p>
            <a:pPr algn="ctr"/>
            <a:r>
              <a:rPr lang="en-CN">
                <a:latin typeface="Aptos" panose="020B0004020202020204" pitchFamily="34" charset="0"/>
                <a:cs typeface="Times New Roman" panose="02020603050405020304" pitchFamily="18" charset="0"/>
              </a:rPr>
              <a:t>64B</a:t>
            </a:r>
            <a:r>
              <a:rPr lang="en-US" dirty="0">
                <a:latin typeface="Aptos" panose="020B0004020202020204" pitchFamily="34" charset="0"/>
                <a:cs typeface="Times New Roman" panose="02020603050405020304" pitchFamily="18" charset="0"/>
              </a:rPr>
              <a:t> </a:t>
            </a:r>
            <a:r>
              <a:rPr lang="en-CN">
                <a:latin typeface="Aptos" panose="020B0004020202020204" pitchFamily="34" charset="0"/>
                <a:cs typeface="Times New Roman" panose="02020603050405020304" pitchFamily="18" charset="0"/>
              </a:rPr>
              <a:t>Line</a:t>
            </a:r>
          </a:p>
        </p:txBody>
      </p:sp>
      <p:sp>
        <p:nvSpPr>
          <p:cNvPr id="7" name="Left Brace 6">
            <a:extLst>
              <a:ext uri="{FF2B5EF4-FFF2-40B4-BE49-F238E27FC236}">
                <a16:creationId xmlns:a16="http://schemas.microsoft.com/office/drawing/2014/main" id="{C2E78D8E-17D9-34FA-1070-7F187462135D}"/>
              </a:ext>
            </a:extLst>
          </p:cNvPr>
          <p:cNvSpPr/>
          <p:nvPr/>
        </p:nvSpPr>
        <p:spPr>
          <a:xfrm rot="16200000">
            <a:off x="3095712" y="5648328"/>
            <a:ext cx="271730" cy="42177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Tree>
    <p:extLst>
      <p:ext uri="{BB962C8B-B14F-4D97-AF65-F5344CB8AC3E}">
        <p14:creationId xmlns:p14="http://schemas.microsoft.com/office/powerpoint/2010/main" val="3565594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B20C1-5319-043F-2E09-3D1805BE1828}"/>
              </a:ext>
            </a:extLst>
          </p:cNvPr>
          <p:cNvSpPr>
            <a:spLocks noGrp="1"/>
          </p:cNvSpPr>
          <p:nvPr>
            <p:ph type="title"/>
          </p:nvPr>
        </p:nvSpPr>
        <p:spPr/>
        <p:txBody>
          <a:bodyPr/>
          <a:lstStyle/>
          <a:p>
            <a:r>
              <a:rPr lang="en-US" dirty="0"/>
              <a:t>Local Memory Miss in Intel Flat Memory Mode</a:t>
            </a:r>
          </a:p>
        </p:txBody>
      </p:sp>
      <p:sp>
        <p:nvSpPr>
          <p:cNvPr id="3" name="Content Placeholder 2">
            <a:extLst>
              <a:ext uri="{FF2B5EF4-FFF2-40B4-BE49-F238E27FC236}">
                <a16:creationId xmlns:a16="http://schemas.microsoft.com/office/drawing/2014/main" id="{E688B260-A160-23D2-ABE4-66CB7F22DF9D}"/>
              </a:ext>
            </a:extLst>
          </p:cNvPr>
          <p:cNvSpPr>
            <a:spLocks noGrp="1"/>
          </p:cNvSpPr>
          <p:nvPr>
            <p:ph idx="1"/>
          </p:nvPr>
        </p:nvSpPr>
        <p:spPr>
          <a:xfrm>
            <a:off x="838200" y="1825625"/>
            <a:ext cx="10515600" cy="1302711"/>
          </a:xfrm>
        </p:spPr>
        <p:txBody>
          <a:bodyPr>
            <a:normAutofit/>
          </a:bodyPr>
          <a:lstStyle/>
          <a:p>
            <a:pPr marL="0" indent="0">
              <a:buNone/>
            </a:pPr>
            <a:r>
              <a:rPr lang="en-US" dirty="0"/>
              <a:t>When a main memory access misses in local memory, the hardware will “</a:t>
            </a:r>
            <a:r>
              <a:rPr lang="en-US" b="1" dirty="0"/>
              <a:t>swap</a:t>
            </a:r>
            <a:r>
              <a:rPr lang="en-US" dirty="0"/>
              <a:t>” the two cache lines</a:t>
            </a:r>
          </a:p>
        </p:txBody>
      </p:sp>
      <p:sp>
        <p:nvSpPr>
          <p:cNvPr id="4" name="Rectangle 3">
            <a:extLst>
              <a:ext uri="{FF2B5EF4-FFF2-40B4-BE49-F238E27FC236}">
                <a16:creationId xmlns:a16="http://schemas.microsoft.com/office/drawing/2014/main" id="{AB1A27A5-DDC2-E71C-5690-BEAFF5D3C208}"/>
              </a:ext>
            </a:extLst>
          </p:cNvPr>
          <p:cNvSpPr/>
          <p:nvPr/>
        </p:nvSpPr>
        <p:spPr>
          <a:xfrm>
            <a:off x="3024120" y="4032637"/>
            <a:ext cx="3079630" cy="590065"/>
          </a:xfrm>
          <a:prstGeom prst="rect">
            <a:avLst/>
          </a:prstGeom>
          <a:solidFill>
            <a:srgbClr val="FBE3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N</a:t>
            </a:r>
            <a:r>
              <a:rPr lang="en-US" dirty="0">
                <a:solidFill>
                  <a:schemeClr val="tx1"/>
                </a:solidFill>
              </a:rPr>
              <a:t> GB</a:t>
            </a:r>
            <a:endParaRPr lang="en-CN" dirty="0">
              <a:solidFill>
                <a:schemeClr val="tx1"/>
              </a:solidFill>
            </a:endParaRPr>
          </a:p>
        </p:txBody>
      </p:sp>
      <p:sp>
        <p:nvSpPr>
          <p:cNvPr id="6" name="Rectangle 5">
            <a:extLst>
              <a:ext uri="{FF2B5EF4-FFF2-40B4-BE49-F238E27FC236}">
                <a16:creationId xmlns:a16="http://schemas.microsoft.com/office/drawing/2014/main" id="{01ADB498-E1AB-68EC-BD16-137666CA6F96}"/>
              </a:ext>
            </a:extLst>
          </p:cNvPr>
          <p:cNvSpPr/>
          <p:nvPr/>
        </p:nvSpPr>
        <p:spPr>
          <a:xfrm>
            <a:off x="3024120" y="3013372"/>
            <a:ext cx="3079630" cy="59006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N</a:t>
            </a:r>
            <a:r>
              <a:rPr lang="en-US" dirty="0">
                <a:solidFill>
                  <a:schemeClr val="tx1"/>
                </a:solidFill>
              </a:rPr>
              <a:t> GB</a:t>
            </a:r>
            <a:endParaRPr lang="en-CN" dirty="0">
              <a:solidFill>
                <a:schemeClr val="tx1"/>
              </a:solidFill>
            </a:endParaRPr>
          </a:p>
        </p:txBody>
      </p:sp>
      <p:sp>
        <p:nvSpPr>
          <p:cNvPr id="8" name="Rectangle 7">
            <a:extLst>
              <a:ext uri="{FF2B5EF4-FFF2-40B4-BE49-F238E27FC236}">
                <a16:creationId xmlns:a16="http://schemas.microsoft.com/office/drawing/2014/main" id="{67BB50FA-1ECA-C4AF-4773-A7EA42345790}"/>
              </a:ext>
            </a:extLst>
          </p:cNvPr>
          <p:cNvSpPr/>
          <p:nvPr/>
        </p:nvSpPr>
        <p:spPr>
          <a:xfrm>
            <a:off x="3024120" y="5014771"/>
            <a:ext cx="6096277" cy="605324"/>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1" name="Rectangle 10">
            <a:extLst>
              <a:ext uri="{FF2B5EF4-FFF2-40B4-BE49-F238E27FC236}">
                <a16:creationId xmlns:a16="http://schemas.microsoft.com/office/drawing/2014/main" id="{3E783111-F453-9B5C-3D0B-5E0453999174}"/>
              </a:ext>
            </a:extLst>
          </p:cNvPr>
          <p:cNvSpPr/>
          <p:nvPr/>
        </p:nvSpPr>
        <p:spPr>
          <a:xfrm>
            <a:off x="3024119" y="3010244"/>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Aptos" panose="020B0004020202020204" pitchFamily="34" charset="0"/>
                <a:cs typeface="Times New Roman" panose="02020603050405020304" pitchFamily="18" charset="0"/>
              </a:rPr>
              <a:t>B</a:t>
            </a:r>
          </a:p>
        </p:txBody>
      </p:sp>
      <p:sp>
        <p:nvSpPr>
          <p:cNvPr id="12" name="Rectangle 11">
            <a:extLst>
              <a:ext uri="{FF2B5EF4-FFF2-40B4-BE49-F238E27FC236}">
                <a16:creationId xmlns:a16="http://schemas.microsoft.com/office/drawing/2014/main" id="{6977E747-B24E-2AFC-3E03-52E32CD9ABB5}"/>
              </a:ext>
            </a:extLst>
          </p:cNvPr>
          <p:cNvSpPr/>
          <p:nvPr/>
        </p:nvSpPr>
        <p:spPr>
          <a:xfrm>
            <a:off x="3020688" y="4030884"/>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ptos" panose="020B0004020202020204" pitchFamily="34" charset="0"/>
                <a:cs typeface="Times New Roman" panose="02020603050405020304" pitchFamily="18" charset="0"/>
              </a:rPr>
              <a:t>A</a:t>
            </a:r>
            <a:endParaRPr lang="en-CN" b="1">
              <a:solidFill>
                <a:schemeClr val="tx1"/>
              </a:solidFill>
              <a:latin typeface="Aptos" panose="020B000402020202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E635FD40-B30A-C900-D83D-1B263889C676}"/>
              </a:ext>
            </a:extLst>
          </p:cNvPr>
          <p:cNvSpPr/>
          <p:nvPr/>
        </p:nvSpPr>
        <p:spPr>
          <a:xfrm>
            <a:off x="6096000" y="5010591"/>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Aptos" panose="020B0004020202020204" pitchFamily="34" charset="0"/>
                <a:cs typeface="Times New Roman" panose="02020603050405020304" pitchFamily="18" charset="0"/>
              </a:rPr>
              <a:t>B</a:t>
            </a:r>
          </a:p>
        </p:txBody>
      </p:sp>
      <p:sp>
        <p:nvSpPr>
          <p:cNvPr id="14" name="Rectangle 13">
            <a:extLst>
              <a:ext uri="{FF2B5EF4-FFF2-40B4-BE49-F238E27FC236}">
                <a16:creationId xmlns:a16="http://schemas.microsoft.com/office/drawing/2014/main" id="{9766554E-CF29-FD34-E237-6CE6730974F7}"/>
              </a:ext>
            </a:extLst>
          </p:cNvPr>
          <p:cNvSpPr/>
          <p:nvPr/>
        </p:nvSpPr>
        <p:spPr>
          <a:xfrm>
            <a:off x="3020688" y="5018168"/>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ptos" panose="020B0004020202020204" pitchFamily="34" charset="0"/>
                <a:cs typeface="Times New Roman" panose="02020603050405020304" pitchFamily="18" charset="0"/>
              </a:rPr>
              <a:t>A</a:t>
            </a:r>
            <a:endParaRPr lang="en-CN" b="1">
              <a:solidFill>
                <a:schemeClr val="tx1"/>
              </a:solidFill>
              <a:latin typeface="Aptos" panose="020B0004020202020204" pitchFamily="34"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210CE2AB-5355-BD04-B777-E65A26D194A4}"/>
              </a:ext>
            </a:extLst>
          </p:cNvPr>
          <p:cNvCxnSpPr>
            <a:cxnSpLocks/>
          </p:cNvCxnSpPr>
          <p:nvPr/>
        </p:nvCxnSpPr>
        <p:spPr>
          <a:xfrm>
            <a:off x="3238437" y="4635708"/>
            <a:ext cx="0" cy="379063"/>
          </a:xfrm>
          <a:prstGeom prst="line">
            <a:avLst/>
          </a:prstGeom>
          <a:ln w="38100">
            <a:solidFill>
              <a:schemeClr val="accent4">
                <a:lumMod val="75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B749BA5-BE64-FBF7-0298-38DBB93C5D87}"/>
              </a:ext>
            </a:extLst>
          </p:cNvPr>
          <p:cNvCxnSpPr>
            <a:endCxn id="13" idx="2"/>
          </p:cNvCxnSpPr>
          <p:nvPr/>
        </p:nvCxnSpPr>
        <p:spPr>
          <a:xfrm flipV="1">
            <a:off x="6306887" y="5606911"/>
            <a:ext cx="0" cy="45342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034F340-4DA3-E4FB-953C-BA737432BD76}"/>
              </a:ext>
            </a:extLst>
          </p:cNvPr>
          <p:cNvSpPr txBox="1"/>
          <p:nvPr/>
        </p:nvSpPr>
        <p:spPr>
          <a:xfrm>
            <a:off x="5286864" y="6049863"/>
            <a:ext cx="2288512" cy="400110"/>
          </a:xfrm>
          <a:prstGeom prst="rect">
            <a:avLst/>
          </a:prstGeom>
          <a:noFill/>
        </p:spPr>
        <p:txBody>
          <a:bodyPr wrap="none" rtlCol="0">
            <a:spAutoFit/>
          </a:bodyPr>
          <a:lstStyle/>
          <a:p>
            <a:r>
              <a:rPr lang="en-US" sz="2000" b="1" dirty="0"/>
              <a:t>1. Memory access</a:t>
            </a:r>
          </a:p>
        </p:txBody>
      </p:sp>
      <p:cxnSp>
        <p:nvCxnSpPr>
          <p:cNvPr id="9" name="Straight Arrow Connector 8">
            <a:extLst>
              <a:ext uri="{FF2B5EF4-FFF2-40B4-BE49-F238E27FC236}">
                <a16:creationId xmlns:a16="http://schemas.microsoft.com/office/drawing/2014/main" id="{33F7C6AE-E903-13B2-C5F2-25B80FC8BF2E}"/>
              </a:ext>
            </a:extLst>
          </p:cNvPr>
          <p:cNvCxnSpPr>
            <a:cxnSpLocks/>
          </p:cNvCxnSpPr>
          <p:nvPr/>
        </p:nvCxnSpPr>
        <p:spPr>
          <a:xfrm flipH="1" flipV="1">
            <a:off x="3247498" y="4625114"/>
            <a:ext cx="3070569" cy="38338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CB5B577-2241-300F-E5AC-BC4CD16D90F1}"/>
              </a:ext>
            </a:extLst>
          </p:cNvPr>
          <p:cNvSpPr txBox="1"/>
          <p:nvPr/>
        </p:nvSpPr>
        <p:spPr>
          <a:xfrm>
            <a:off x="5968680" y="4574401"/>
            <a:ext cx="3810851" cy="400110"/>
          </a:xfrm>
          <a:prstGeom prst="rect">
            <a:avLst/>
          </a:prstGeom>
          <a:noFill/>
        </p:spPr>
        <p:txBody>
          <a:bodyPr wrap="none" rtlCol="0">
            <a:spAutoFit/>
          </a:bodyPr>
          <a:lstStyle/>
          <a:p>
            <a:r>
              <a:rPr lang="en-US" sz="2000" b="1" dirty="0"/>
              <a:t>2. Read local memory and miss</a:t>
            </a:r>
          </a:p>
        </p:txBody>
      </p:sp>
      <p:cxnSp>
        <p:nvCxnSpPr>
          <p:cNvPr id="10" name="Straight Arrow Connector 9">
            <a:extLst>
              <a:ext uri="{FF2B5EF4-FFF2-40B4-BE49-F238E27FC236}">
                <a16:creationId xmlns:a16="http://schemas.microsoft.com/office/drawing/2014/main" id="{EAEF0A3E-0A45-FDA5-2E1D-E3CCBCCD441F}"/>
              </a:ext>
            </a:extLst>
          </p:cNvPr>
          <p:cNvCxnSpPr>
            <a:cxnSpLocks/>
          </p:cNvCxnSpPr>
          <p:nvPr/>
        </p:nvCxnSpPr>
        <p:spPr>
          <a:xfrm flipV="1">
            <a:off x="3328852" y="3600705"/>
            <a:ext cx="3431" cy="432912"/>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B4FF44E8-8AB7-4D84-10B2-7CA5901F4DD6}"/>
              </a:ext>
            </a:extLst>
          </p:cNvPr>
          <p:cNvSpPr txBox="1"/>
          <p:nvPr/>
        </p:nvSpPr>
        <p:spPr>
          <a:xfrm>
            <a:off x="3378804" y="3621065"/>
            <a:ext cx="2589876" cy="400110"/>
          </a:xfrm>
          <a:prstGeom prst="rect">
            <a:avLst/>
          </a:prstGeom>
          <a:noFill/>
        </p:spPr>
        <p:txBody>
          <a:bodyPr wrap="none" rtlCol="0">
            <a:spAutoFit/>
          </a:bodyPr>
          <a:lstStyle/>
          <a:p>
            <a:r>
              <a:rPr lang="en-US" sz="2000" b="1" dirty="0">
                <a:solidFill>
                  <a:srgbClr val="FF0000"/>
                </a:solidFill>
              </a:rPr>
              <a:t>3. Read CXL memory</a:t>
            </a:r>
          </a:p>
        </p:txBody>
      </p:sp>
      <p:sp>
        <p:nvSpPr>
          <p:cNvPr id="25" name="Slide Number Placeholder 24">
            <a:extLst>
              <a:ext uri="{FF2B5EF4-FFF2-40B4-BE49-F238E27FC236}">
                <a16:creationId xmlns:a16="http://schemas.microsoft.com/office/drawing/2014/main" id="{D20E554E-8143-9324-C25F-13D576A4E78F}"/>
              </a:ext>
            </a:extLst>
          </p:cNvPr>
          <p:cNvSpPr>
            <a:spLocks noGrp="1"/>
          </p:cNvSpPr>
          <p:nvPr>
            <p:ph type="sldNum" sz="quarter" idx="12"/>
          </p:nvPr>
        </p:nvSpPr>
        <p:spPr/>
        <p:txBody>
          <a:bodyPr/>
          <a:lstStyle/>
          <a:p>
            <a:fld id="{5D76F006-5496-B946-A476-FEDACCAB686D}" type="slidenum">
              <a:rPr lang="en-CN" smtClean="0"/>
              <a:t>13</a:t>
            </a:fld>
            <a:endParaRPr lang="en-CN"/>
          </a:p>
        </p:txBody>
      </p:sp>
      <p:sp>
        <p:nvSpPr>
          <p:cNvPr id="17" name="TextBox 16">
            <a:extLst>
              <a:ext uri="{FF2B5EF4-FFF2-40B4-BE49-F238E27FC236}">
                <a16:creationId xmlns:a16="http://schemas.microsoft.com/office/drawing/2014/main" id="{DF9DFA09-832F-3C5C-2ED0-1CF5188EA046}"/>
              </a:ext>
            </a:extLst>
          </p:cNvPr>
          <p:cNvSpPr txBox="1"/>
          <p:nvPr/>
        </p:nvSpPr>
        <p:spPr>
          <a:xfrm>
            <a:off x="6096000" y="3109609"/>
            <a:ext cx="1729448"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CXL Memory</a:t>
            </a:r>
          </a:p>
        </p:txBody>
      </p:sp>
      <p:sp>
        <p:nvSpPr>
          <p:cNvPr id="21" name="TextBox 20">
            <a:extLst>
              <a:ext uri="{FF2B5EF4-FFF2-40B4-BE49-F238E27FC236}">
                <a16:creationId xmlns:a16="http://schemas.microsoft.com/office/drawing/2014/main" id="{54EFAD0C-7C5F-FCBA-8355-CAD67DA7B3A0}"/>
              </a:ext>
            </a:extLst>
          </p:cNvPr>
          <p:cNvSpPr txBox="1"/>
          <p:nvPr/>
        </p:nvSpPr>
        <p:spPr>
          <a:xfrm>
            <a:off x="6103750" y="4113585"/>
            <a:ext cx="1904817"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Local Memory</a:t>
            </a:r>
          </a:p>
        </p:txBody>
      </p:sp>
      <p:sp>
        <p:nvSpPr>
          <p:cNvPr id="27" name="TextBox 26">
            <a:extLst>
              <a:ext uri="{FF2B5EF4-FFF2-40B4-BE49-F238E27FC236}">
                <a16:creationId xmlns:a16="http://schemas.microsoft.com/office/drawing/2014/main" id="{AAF4FE02-9185-18CC-66B2-A858AFD88F83}"/>
              </a:ext>
            </a:extLst>
          </p:cNvPr>
          <p:cNvSpPr txBox="1"/>
          <p:nvPr/>
        </p:nvSpPr>
        <p:spPr>
          <a:xfrm>
            <a:off x="9105065" y="5115278"/>
            <a:ext cx="3086935" cy="430887"/>
          </a:xfrm>
          <a:prstGeom prst="rect">
            <a:avLst/>
          </a:prstGeom>
          <a:noFill/>
        </p:spPr>
        <p:txBody>
          <a:bodyPr wrap="none" rtlCol="0">
            <a:spAutoFit/>
          </a:bodyPr>
          <a:lstStyle/>
          <a:p>
            <a:r>
              <a:rPr lang="en-US" sz="2200" dirty="0">
                <a:latin typeface="Aptos" panose="020B0004020202020204" pitchFamily="34" charset="0"/>
                <a:cs typeface="Times New Roman" panose="02020603050405020304" pitchFamily="18" charset="0"/>
              </a:rPr>
              <a:t>Physical Address Space</a:t>
            </a:r>
            <a:endParaRPr lang="en-CN" sz="2200">
              <a:latin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5B1968F-A237-25F1-2D45-B69167054BB8}"/>
              </a:ext>
            </a:extLst>
          </p:cNvPr>
          <p:cNvSpPr txBox="1"/>
          <p:nvPr/>
        </p:nvSpPr>
        <p:spPr>
          <a:xfrm>
            <a:off x="2551101" y="5987018"/>
            <a:ext cx="1360948" cy="369332"/>
          </a:xfrm>
          <a:prstGeom prst="rect">
            <a:avLst/>
          </a:prstGeom>
          <a:noFill/>
        </p:spPr>
        <p:txBody>
          <a:bodyPr wrap="square" rtlCol="0">
            <a:spAutoFit/>
          </a:bodyPr>
          <a:lstStyle/>
          <a:p>
            <a:pPr algn="ctr"/>
            <a:r>
              <a:rPr lang="en-CN">
                <a:latin typeface="Aptos" panose="020B0004020202020204" pitchFamily="34" charset="0"/>
                <a:cs typeface="Times New Roman" panose="02020603050405020304" pitchFamily="18" charset="0"/>
              </a:rPr>
              <a:t>64B</a:t>
            </a:r>
            <a:r>
              <a:rPr lang="en-US" dirty="0">
                <a:latin typeface="Aptos" panose="020B0004020202020204" pitchFamily="34" charset="0"/>
                <a:cs typeface="Times New Roman" panose="02020603050405020304" pitchFamily="18" charset="0"/>
              </a:rPr>
              <a:t> </a:t>
            </a:r>
            <a:r>
              <a:rPr lang="en-CN">
                <a:latin typeface="Aptos" panose="020B0004020202020204" pitchFamily="34" charset="0"/>
                <a:cs typeface="Times New Roman" panose="02020603050405020304" pitchFamily="18" charset="0"/>
              </a:rPr>
              <a:t>Line</a:t>
            </a:r>
          </a:p>
        </p:txBody>
      </p:sp>
      <p:sp>
        <p:nvSpPr>
          <p:cNvPr id="7" name="Left Brace 6">
            <a:extLst>
              <a:ext uri="{FF2B5EF4-FFF2-40B4-BE49-F238E27FC236}">
                <a16:creationId xmlns:a16="http://schemas.microsoft.com/office/drawing/2014/main" id="{D931609D-9ECD-FD9E-528B-C0EBEF27FFD6}"/>
              </a:ext>
            </a:extLst>
          </p:cNvPr>
          <p:cNvSpPr/>
          <p:nvPr/>
        </p:nvSpPr>
        <p:spPr>
          <a:xfrm rot="16200000">
            <a:off x="3095712" y="5648328"/>
            <a:ext cx="271730" cy="42177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Tree>
    <p:extLst>
      <p:ext uri="{BB962C8B-B14F-4D97-AF65-F5344CB8AC3E}">
        <p14:creationId xmlns:p14="http://schemas.microsoft.com/office/powerpoint/2010/main" val="769517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B20C1-5319-043F-2E09-3D1805BE1828}"/>
              </a:ext>
            </a:extLst>
          </p:cNvPr>
          <p:cNvSpPr>
            <a:spLocks noGrp="1"/>
          </p:cNvSpPr>
          <p:nvPr>
            <p:ph type="title"/>
          </p:nvPr>
        </p:nvSpPr>
        <p:spPr/>
        <p:txBody>
          <a:bodyPr/>
          <a:lstStyle/>
          <a:p>
            <a:r>
              <a:rPr lang="en-US" dirty="0"/>
              <a:t>Local Memory Miss in Intel Flat Memory Mode</a:t>
            </a:r>
          </a:p>
        </p:txBody>
      </p:sp>
      <p:sp>
        <p:nvSpPr>
          <p:cNvPr id="3" name="Content Placeholder 2">
            <a:extLst>
              <a:ext uri="{FF2B5EF4-FFF2-40B4-BE49-F238E27FC236}">
                <a16:creationId xmlns:a16="http://schemas.microsoft.com/office/drawing/2014/main" id="{E688B260-A160-23D2-ABE4-66CB7F22DF9D}"/>
              </a:ext>
            </a:extLst>
          </p:cNvPr>
          <p:cNvSpPr>
            <a:spLocks noGrp="1"/>
          </p:cNvSpPr>
          <p:nvPr>
            <p:ph idx="1"/>
          </p:nvPr>
        </p:nvSpPr>
        <p:spPr>
          <a:xfrm>
            <a:off x="838200" y="1825625"/>
            <a:ext cx="10515600" cy="1302711"/>
          </a:xfrm>
        </p:spPr>
        <p:txBody>
          <a:bodyPr>
            <a:normAutofit/>
          </a:bodyPr>
          <a:lstStyle/>
          <a:p>
            <a:pPr marL="0" indent="0">
              <a:buNone/>
            </a:pPr>
            <a:r>
              <a:rPr lang="en-US" dirty="0"/>
              <a:t>When a main memory access misses in local memory, the hardware will “</a:t>
            </a:r>
            <a:r>
              <a:rPr lang="en-US" b="1" dirty="0"/>
              <a:t>swap</a:t>
            </a:r>
            <a:r>
              <a:rPr lang="en-US" dirty="0"/>
              <a:t>” the two cache lines</a:t>
            </a:r>
          </a:p>
        </p:txBody>
      </p:sp>
      <p:sp>
        <p:nvSpPr>
          <p:cNvPr id="4" name="Rectangle 3">
            <a:extLst>
              <a:ext uri="{FF2B5EF4-FFF2-40B4-BE49-F238E27FC236}">
                <a16:creationId xmlns:a16="http://schemas.microsoft.com/office/drawing/2014/main" id="{AB1A27A5-DDC2-E71C-5690-BEAFF5D3C208}"/>
              </a:ext>
            </a:extLst>
          </p:cNvPr>
          <p:cNvSpPr/>
          <p:nvPr/>
        </p:nvSpPr>
        <p:spPr>
          <a:xfrm>
            <a:off x="3024120" y="4032637"/>
            <a:ext cx="3079630" cy="590065"/>
          </a:xfrm>
          <a:prstGeom prst="rect">
            <a:avLst/>
          </a:prstGeom>
          <a:solidFill>
            <a:srgbClr val="FBE3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N</a:t>
            </a:r>
            <a:r>
              <a:rPr lang="en-US" dirty="0">
                <a:solidFill>
                  <a:schemeClr val="tx1"/>
                </a:solidFill>
              </a:rPr>
              <a:t> GB</a:t>
            </a:r>
            <a:endParaRPr lang="en-CN" dirty="0">
              <a:solidFill>
                <a:schemeClr val="tx1"/>
              </a:solidFill>
            </a:endParaRPr>
          </a:p>
        </p:txBody>
      </p:sp>
      <p:sp>
        <p:nvSpPr>
          <p:cNvPr id="6" name="Rectangle 5">
            <a:extLst>
              <a:ext uri="{FF2B5EF4-FFF2-40B4-BE49-F238E27FC236}">
                <a16:creationId xmlns:a16="http://schemas.microsoft.com/office/drawing/2014/main" id="{01ADB498-E1AB-68EC-BD16-137666CA6F96}"/>
              </a:ext>
            </a:extLst>
          </p:cNvPr>
          <p:cNvSpPr/>
          <p:nvPr/>
        </p:nvSpPr>
        <p:spPr>
          <a:xfrm>
            <a:off x="3024120" y="3013372"/>
            <a:ext cx="3079630" cy="59006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N</a:t>
            </a:r>
            <a:r>
              <a:rPr lang="en-US" dirty="0">
                <a:solidFill>
                  <a:schemeClr val="tx1"/>
                </a:solidFill>
              </a:rPr>
              <a:t> GB</a:t>
            </a:r>
            <a:endParaRPr lang="en-CN" dirty="0">
              <a:solidFill>
                <a:schemeClr val="tx1"/>
              </a:solidFill>
            </a:endParaRPr>
          </a:p>
        </p:txBody>
      </p:sp>
      <p:sp>
        <p:nvSpPr>
          <p:cNvPr id="8" name="Rectangle 7">
            <a:extLst>
              <a:ext uri="{FF2B5EF4-FFF2-40B4-BE49-F238E27FC236}">
                <a16:creationId xmlns:a16="http://schemas.microsoft.com/office/drawing/2014/main" id="{67BB50FA-1ECA-C4AF-4773-A7EA42345790}"/>
              </a:ext>
            </a:extLst>
          </p:cNvPr>
          <p:cNvSpPr/>
          <p:nvPr/>
        </p:nvSpPr>
        <p:spPr>
          <a:xfrm>
            <a:off x="3024120" y="5014771"/>
            <a:ext cx="6096277" cy="605324"/>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1" name="Rectangle 10">
            <a:extLst>
              <a:ext uri="{FF2B5EF4-FFF2-40B4-BE49-F238E27FC236}">
                <a16:creationId xmlns:a16="http://schemas.microsoft.com/office/drawing/2014/main" id="{3E783111-F453-9B5C-3D0B-5E0453999174}"/>
              </a:ext>
            </a:extLst>
          </p:cNvPr>
          <p:cNvSpPr/>
          <p:nvPr/>
        </p:nvSpPr>
        <p:spPr>
          <a:xfrm>
            <a:off x="3024119" y="3010244"/>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ptos" panose="020B0004020202020204" pitchFamily="34" charset="0"/>
                <a:cs typeface="Times New Roman" panose="02020603050405020304" pitchFamily="18" charset="0"/>
              </a:rPr>
              <a:t>A</a:t>
            </a:r>
            <a:endParaRPr lang="en-CN" b="1">
              <a:solidFill>
                <a:srgbClr val="FF0000"/>
              </a:solidFill>
              <a:latin typeface="Aptos" panose="020B000402020202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6977E747-B24E-2AFC-3E03-52E32CD9ABB5}"/>
              </a:ext>
            </a:extLst>
          </p:cNvPr>
          <p:cNvSpPr/>
          <p:nvPr/>
        </p:nvSpPr>
        <p:spPr>
          <a:xfrm>
            <a:off x="3020688" y="4030884"/>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ptos" panose="020B0004020202020204" pitchFamily="34" charset="0"/>
                <a:cs typeface="Times New Roman" panose="02020603050405020304" pitchFamily="18" charset="0"/>
              </a:rPr>
              <a:t>B</a:t>
            </a:r>
            <a:endParaRPr lang="en-CN" b="1">
              <a:solidFill>
                <a:srgbClr val="FF0000"/>
              </a:solidFill>
              <a:latin typeface="Aptos" panose="020B000402020202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E635FD40-B30A-C900-D83D-1B263889C676}"/>
              </a:ext>
            </a:extLst>
          </p:cNvPr>
          <p:cNvSpPr/>
          <p:nvPr/>
        </p:nvSpPr>
        <p:spPr>
          <a:xfrm>
            <a:off x="6096000" y="5010591"/>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Aptos" panose="020B0004020202020204" pitchFamily="34" charset="0"/>
                <a:cs typeface="Times New Roman" panose="02020603050405020304" pitchFamily="18" charset="0"/>
              </a:rPr>
              <a:t>B</a:t>
            </a:r>
          </a:p>
        </p:txBody>
      </p:sp>
      <p:sp>
        <p:nvSpPr>
          <p:cNvPr id="14" name="Rectangle 13">
            <a:extLst>
              <a:ext uri="{FF2B5EF4-FFF2-40B4-BE49-F238E27FC236}">
                <a16:creationId xmlns:a16="http://schemas.microsoft.com/office/drawing/2014/main" id="{9766554E-CF29-FD34-E237-6CE6730974F7}"/>
              </a:ext>
            </a:extLst>
          </p:cNvPr>
          <p:cNvSpPr/>
          <p:nvPr/>
        </p:nvSpPr>
        <p:spPr>
          <a:xfrm>
            <a:off x="3020688" y="5018168"/>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ptos" panose="020B0004020202020204" pitchFamily="34" charset="0"/>
                <a:cs typeface="Times New Roman" panose="02020603050405020304" pitchFamily="18" charset="0"/>
              </a:rPr>
              <a:t>A</a:t>
            </a:r>
            <a:endParaRPr lang="en-CN" b="1">
              <a:solidFill>
                <a:schemeClr val="tx1"/>
              </a:solidFill>
              <a:latin typeface="Aptos" panose="020B0004020202020204" pitchFamily="34"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210CE2AB-5355-BD04-B777-E65A26D194A4}"/>
              </a:ext>
            </a:extLst>
          </p:cNvPr>
          <p:cNvCxnSpPr>
            <a:cxnSpLocks/>
          </p:cNvCxnSpPr>
          <p:nvPr/>
        </p:nvCxnSpPr>
        <p:spPr>
          <a:xfrm>
            <a:off x="3238437" y="4635708"/>
            <a:ext cx="0" cy="379063"/>
          </a:xfrm>
          <a:prstGeom prst="line">
            <a:avLst/>
          </a:prstGeom>
          <a:ln w="38100">
            <a:solidFill>
              <a:schemeClr val="accent4">
                <a:lumMod val="75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B749BA5-BE64-FBF7-0298-38DBB93C5D87}"/>
              </a:ext>
            </a:extLst>
          </p:cNvPr>
          <p:cNvCxnSpPr>
            <a:endCxn id="13" idx="2"/>
          </p:cNvCxnSpPr>
          <p:nvPr/>
        </p:nvCxnSpPr>
        <p:spPr>
          <a:xfrm flipV="1">
            <a:off x="6306887" y="5606911"/>
            <a:ext cx="0" cy="45342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034F340-4DA3-E4FB-953C-BA737432BD76}"/>
              </a:ext>
            </a:extLst>
          </p:cNvPr>
          <p:cNvSpPr txBox="1"/>
          <p:nvPr/>
        </p:nvSpPr>
        <p:spPr>
          <a:xfrm>
            <a:off x="5286864" y="6049863"/>
            <a:ext cx="2288512" cy="400110"/>
          </a:xfrm>
          <a:prstGeom prst="rect">
            <a:avLst/>
          </a:prstGeom>
          <a:noFill/>
        </p:spPr>
        <p:txBody>
          <a:bodyPr wrap="none" rtlCol="0">
            <a:spAutoFit/>
          </a:bodyPr>
          <a:lstStyle/>
          <a:p>
            <a:r>
              <a:rPr lang="en-US" sz="2000" b="1" dirty="0"/>
              <a:t>1. Memory access</a:t>
            </a:r>
          </a:p>
        </p:txBody>
      </p:sp>
      <p:cxnSp>
        <p:nvCxnSpPr>
          <p:cNvPr id="9" name="Straight Arrow Connector 8">
            <a:extLst>
              <a:ext uri="{FF2B5EF4-FFF2-40B4-BE49-F238E27FC236}">
                <a16:creationId xmlns:a16="http://schemas.microsoft.com/office/drawing/2014/main" id="{33F7C6AE-E903-13B2-C5F2-25B80FC8BF2E}"/>
              </a:ext>
            </a:extLst>
          </p:cNvPr>
          <p:cNvCxnSpPr>
            <a:cxnSpLocks/>
          </p:cNvCxnSpPr>
          <p:nvPr/>
        </p:nvCxnSpPr>
        <p:spPr>
          <a:xfrm flipH="1" flipV="1">
            <a:off x="3247498" y="4625114"/>
            <a:ext cx="3070569" cy="38338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CB5B577-2241-300F-E5AC-BC4CD16D90F1}"/>
              </a:ext>
            </a:extLst>
          </p:cNvPr>
          <p:cNvSpPr txBox="1"/>
          <p:nvPr/>
        </p:nvSpPr>
        <p:spPr>
          <a:xfrm>
            <a:off x="5968680" y="4574401"/>
            <a:ext cx="3810851" cy="400110"/>
          </a:xfrm>
          <a:prstGeom prst="rect">
            <a:avLst/>
          </a:prstGeom>
          <a:noFill/>
        </p:spPr>
        <p:txBody>
          <a:bodyPr wrap="none" rtlCol="0">
            <a:spAutoFit/>
          </a:bodyPr>
          <a:lstStyle/>
          <a:p>
            <a:r>
              <a:rPr lang="en-US" sz="2000" b="1" dirty="0"/>
              <a:t>2. Read local memory and miss</a:t>
            </a:r>
          </a:p>
        </p:txBody>
      </p:sp>
      <p:cxnSp>
        <p:nvCxnSpPr>
          <p:cNvPr id="10" name="Straight Arrow Connector 9">
            <a:extLst>
              <a:ext uri="{FF2B5EF4-FFF2-40B4-BE49-F238E27FC236}">
                <a16:creationId xmlns:a16="http://schemas.microsoft.com/office/drawing/2014/main" id="{EAEF0A3E-0A45-FDA5-2E1D-E3CCBCCD441F}"/>
              </a:ext>
            </a:extLst>
          </p:cNvPr>
          <p:cNvCxnSpPr>
            <a:cxnSpLocks/>
          </p:cNvCxnSpPr>
          <p:nvPr/>
        </p:nvCxnSpPr>
        <p:spPr>
          <a:xfrm flipV="1">
            <a:off x="3328852" y="3600705"/>
            <a:ext cx="3431" cy="432912"/>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1D76DAE-5C2E-3D03-BD65-EA416AC5DCEA}"/>
              </a:ext>
            </a:extLst>
          </p:cNvPr>
          <p:cNvCxnSpPr>
            <a:cxnSpLocks/>
          </p:cNvCxnSpPr>
          <p:nvPr/>
        </p:nvCxnSpPr>
        <p:spPr>
          <a:xfrm flipV="1">
            <a:off x="3114535" y="3602852"/>
            <a:ext cx="3431" cy="432912"/>
          </a:xfrm>
          <a:prstGeom prst="straightConnector1">
            <a:avLst/>
          </a:prstGeom>
          <a:ln w="57150">
            <a:solidFill>
              <a:srgbClr val="FF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17551EC5-02C0-720F-FC18-3B43781849B6}"/>
              </a:ext>
            </a:extLst>
          </p:cNvPr>
          <p:cNvSpPr txBox="1"/>
          <p:nvPr/>
        </p:nvSpPr>
        <p:spPr>
          <a:xfrm>
            <a:off x="1122464" y="3594031"/>
            <a:ext cx="1945148" cy="400110"/>
          </a:xfrm>
          <a:prstGeom prst="rect">
            <a:avLst/>
          </a:prstGeom>
          <a:noFill/>
        </p:spPr>
        <p:txBody>
          <a:bodyPr wrap="none" rtlCol="0">
            <a:spAutoFit/>
          </a:bodyPr>
          <a:lstStyle/>
          <a:p>
            <a:r>
              <a:rPr lang="en-US" sz="2000" b="1" dirty="0">
                <a:solidFill>
                  <a:srgbClr val="FF0000"/>
                </a:solidFill>
              </a:rPr>
              <a:t>4. “Swap” lines</a:t>
            </a:r>
          </a:p>
        </p:txBody>
      </p:sp>
      <p:cxnSp>
        <p:nvCxnSpPr>
          <p:cNvPr id="21" name="Straight Arrow Connector 20">
            <a:extLst>
              <a:ext uri="{FF2B5EF4-FFF2-40B4-BE49-F238E27FC236}">
                <a16:creationId xmlns:a16="http://schemas.microsoft.com/office/drawing/2014/main" id="{7960C3F6-0CC0-12C8-C235-1E6D92F3A937}"/>
              </a:ext>
            </a:extLst>
          </p:cNvPr>
          <p:cNvCxnSpPr>
            <a:cxnSpLocks/>
            <a:stCxn id="13" idx="0"/>
          </p:cNvCxnSpPr>
          <p:nvPr/>
        </p:nvCxnSpPr>
        <p:spPr>
          <a:xfrm flipH="1" flipV="1">
            <a:off x="3305357" y="3616655"/>
            <a:ext cx="3001530" cy="1393936"/>
          </a:xfrm>
          <a:prstGeom prst="straightConnector1">
            <a:avLst/>
          </a:prstGeom>
          <a:ln w="57150">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341908BD-5C4E-7764-6E64-F45B3364F482}"/>
              </a:ext>
            </a:extLst>
          </p:cNvPr>
          <p:cNvSpPr txBox="1"/>
          <p:nvPr/>
        </p:nvSpPr>
        <p:spPr>
          <a:xfrm>
            <a:off x="3954459" y="3582390"/>
            <a:ext cx="1421608" cy="400110"/>
          </a:xfrm>
          <a:prstGeom prst="rect">
            <a:avLst/>
          </a:prstGeom>
          <a:noFill/>
        </p:spPr>
        <p:txBody>
          <a:bodyPr wrap="none" rtlCol="0">
            <a:spAutoFit/>
          </a:bodyPr>
          <a:lstStyle/>
          <a:p>
            <a:r>
              <a:rPr lang="en-US" sz="2000" b="1" dirty="0">
                <a:solidFill>
                  <a:srgbClr val="FF0000"/>
                </a:solidFill>
              </a:rPr>
              <a:t>Serve data</a:t>
            </a:r>
          </a:p>
        </p:txBody>
      </p:sp>
      <p:sp>
        <p:nvSpPr>
          <p:cNvPr id="27" name="Slide Number Placeholder 26">
            <a:extLst>
              <a:ext uri="{FF2B5EF4-FFF2-40B4-BE49-F238E27FC236}">
                <a16:creationId xmlns:a16="http://schemas.microsoft.com/office/drawing/2014/main" id="{835B001D-5908-9D51-E56E-CD0B0306BF80}"/>
              </a:ext>
            </a:extLst>
          </p:cNvPr>
          <p:cNvSpPr>
            <a:spLocks noGrp="1"/>
          </p:cNvSpPr>
          <p:nvPr>
            <p:ph type="sldNum" sz="quarter" idx="12"/>
          </p:nvPr>
        </p:nvSpPr>
        <p:spPr/>
        <p:txBody>
          <a:bodyPr/>
          <a:lstStyle/>
          <a:p>
            <a:fld id="{5D76F006-5496-B946-A476-FEDACCAB686D}" type="slidenum">
              <a:rPr lang="en-CN" smtClean="0"/>
              <a:t>14</a:t>
            </a:fld>
            <a:endParaRPr lang="en-CN"/>
          </a:p>
        </p:txBody>
      </p:sp>
      <p:sp>
        <p:nvSpPr>
          <p:cNvPr id="25" name="TextBox 24">
            <a:extLst>
              <a:ext uri="{FF2B5EF4-FFF2-40B4-BE49-F238E27FC236}">
                <a16:creationId xmlns:a16="http://schemas.microsoft.com/office/drawing/2014/main" id="{08FBE06D-8D7F-2C21-A96E-5BDB4062AB20}"/>
              </a:ext>
            </a:extLst>
          </p:cNvPr>
          <p:cNvSpPr txBox="1"/>
          <p:nvPr/>
        </p:nvSpPr>
        <p:spPr>
          <a:xfrm>
            <a:off x="6096000" y="3109609"/>
            <a:ext cx="1729448"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CXL Memory</a:t>
            </a:r>
          </a:p>
        </p:txBody>
      </p:sp>
      <p:sp>
        <p:nvSpPr>
          <p:cNvPr id="26" name="TextBox 25">
            <a:extLst>
              <a:ext uri="{FF2B5EF4-FFF2-40B4-BE49-F238E27FC236}">
                <a16:creationId xmlns:a16="http://schemas.microsoft.com/office/drawing/2014/main" id="{C7FBD9A6-0946-0471-EABE-2A7503972DA7}"/>
              </a:ext>
            </a:extLst>
          </p:cNvPr>
          <p:cNvSpPr txBox="1"/>
          <p:nvPr/>
        </p:nvSpPr>
        <p:spPr>
          <a:xfrm>
            <a:off x="6103750" y="4113585"/>
            <a:ext cx="1904817"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Local Memory</a:t>
            </a:r>
          </a:p>
        </p:txBody>
      </p:sp>
      <p:sp>
        <p:nvSpPr>
          <p:cNvPr id="29" name="TextBox 28">
            <a:extLst>
              <a:ext uri="{FF2B5EF4-FFF2-40B4-BE49-F238E27FC236}">
                <a16:creationId xmlns:a16="http://schemas.microsoft.com/office/drawing/2014/main" id="{7B9C99EB-8597-D5E1-B696-EB36F9B43A94}"/>
              </a:ext>
            </a:extLst>
          </p:cNvPr>
          <p:cNvSpPr txBox="1"/>
          <p:nvPr/>
        </p:nvSpPr>
        <p:spPr>
          <a:xfrm>
            <a:off x="9105065" y="5115278"/>
            <a:ext cx="3086935" cy="430887"/>
          </a:xfrm>
          <a:prstGeom prst="rect">
            <a:avLst/>
          </a:prstGeom>
          <a:noFill/>
        </p:spPr>
        <p:txBody>
          <a:bodyPr wrap="none" rtlCol="0">
            <a:spAutoFit/>
          </a:bodyPr>
          <a:lstStyle/>
          <a:p>
            <a:r>
              <a:rPr lang="en-US" sz="2200" dirty="0">
                <a:latin typeface="Aptos" panose="020B0004020202020204" pitchFamily="34" charset="0"/>
                <a:cs typeface="Times New Roman" panose="02020603050405020304" pitchFamily="18" charset="0"/>
              </a:rPr>
              <a:t>Physical Address Space</a:t>
            </a:r>
            <a:endParaRPr lang="en-CN" sz="2200">
              <a:latin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6F94E35A-8400-D92D-61FF-40084BA4C561}"/>
              </a:ext>
            </a:extLst>
          </p:cNvPr>
          <p:cNvSpPr txBox="1"/>
          <p:nvPr/>
        </p:nvSpPr>
        <p:spPr>
          <a:xfrm>
            <a:off x="2551101" y="5987018"/>
            <a:ext cx="1360948" cy="369332"/>
          </a:xfrm>
          <a:prstGeom prst="rect">
            <a:avLst/>
          </a:prstGeom>
          <a:noFill/>
        </p:spPr>
        <p:txBody>
          <a:bodyPr wrap="square" rtlCol="0">
            <a:spAutoFit/>
          </a:bodyPr>
          <a:lstStyle/>
          <a:p>
            <a:pPr algn="ctr"/>
            <a:r>
              <a:rPr lang="en-CN">
                <a:latin typeface="Aptos" panose="020B0004020202020204" pitchFamily="34" charset="0"/>
                <a:cs typeface="Times New Roman" panose="02020603050405020304" pitchFamily="18" charset="0"/>
              </a:rPr>
              <a:t>64B</a:t>
            </a:r>
            <a:r>
              <a:rPr lang="en-US" dirty="0">
                <a:latin typeface="Aptos" panose="020B0004020202020204" pitchFamily="34" charset="0"/>
                <a:cs typeface="Times New Roman" panose="02020603050405020304" pitchFamily="18" charset="0"/>
              </a:rPr>
              <a:t> </a:t>
            </a:r>
            <a:r>
              <a:rPr lang="en-CN">
                <a:latin typeface="Aptos" panose="020B0004020202020204" pitchFamily="34" charset="0"/>
                <a:cs typeface="Times New Roman" panose="02020603050405020304" pitchFamily="18" charset="0"/>
              </a:rPr>
              <a:t>Line</a:t>
            </a:r>
          </a:p>
        </p:txBody>
      </p:sp>
      <p:sp>
        <p:nvSpPr>
          <p:cNvPr id="7" name="Left Brace 6">
            <a:extLst>
              <a:ext uri="{FF2B5EF4-FFF2-40B4-BE49-F238E27FC236}">
                <a16:creationId xmlns:a16="http://schemas.microsoft.com/office/drawing/2014/main" id="{09EB9DF9-6980-AB1B-9CC0-A765BEA0DCFB}"/>
              </a:ext>
            </a:extLst>
          </p:cNvPr>
          <p:cNvSpPr/>
          <p:nvPr/>
        </p:nvSpPr>
        <p:spPr>
          <a:xfrm rot="16200000">
            <a:off x="3095712" y="5648328"/>
            <a:ext cx="271730" cy="42177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Tree>
    <p:extLst>
      <p:ext uri="{BB962C8B-B14F-4D97-AF65-F5344CB8AC3E}">
        <p14:creationId xmlns:p14="http://schemas.microsoft.com/office/powerpoint/2010/main" val="3282601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C0B7DE3-99AB-CEE8-0DE1-BBC055E291FF}"/>
              </a:ext>
            </a:extLst>
          </p:cNvPr>
          <p:cNvSpPr/>
          <p:nvPr/>
        </p:nvSpPr>
        <p:spPr>
          <a:xfrm>
            <a:off x="7987879" y="5224255"/>
            <a:ext cx="1828755" cy="406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34" name="Rectangle 33">
            <a:extLst>
              <a:ext uri="{FF2B5EF4-FFF2-40B4-BE49-F238E27FC236}">
                <a16:creationId xmlns:a16="http://schemas.microsoft.com/office/drawing/2014/main" id="{DFB1E1A6-4380-E4E4-F536-B79E1E81A292}"/>
              </a:ext>
            </a:extLst>
          </p:cNvPr>
          <p:cNvSpPr/>
          <p:nvPr/>
        </p:nvSpPr>
        <p:spPr>
          <a:xfrm>
            <a:off x="9791276" y="5224255"/>
            <a:ext cx="421644" cy="4064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2" name="Title 1">
            <a:extLst>
              <a:ext uri="{FF2B5EF4-FFF2-40B4-BE49-F238E27FC236}">
                <a16:creationId xmlns:a16="http://schemas.microsoft.com/office/drawing/2014/main" id="{C209151B-5794-C018-06B0-EF1F264D12F1}"/>
              </a:ext>
            </a:extLst>
          </p:cNvPr>
          <p:cNvSpPr>
            <a:spLocks noGrp="1"/>
          </p:cNvSpPr>
          <p:nvPr>
            <p:ph type="title"/>
          </p:nvPr>
        </p:nvSpPr>
        <p:spPr>
          <a:xfrm>
            <a:off x="838200" y="365125"/>
            <a:ext cx="11079480" cy="1325563"/>
          </a:xfrm>
        </p:spPr>
        <p:txBody>
          <a:bodyPr>
            <a:normAutofit/>
          </a:bodyPr>
          <a:lstStyle/>
          <a:p>
            <a:r>
              <a:rPr lang="en-CN" dirty="0"/>
              <a:t>Hardware Tiering Alone Still Has Limitations</a:t>
            </a:r>
          </a:p>
        </p:txBody>
      </p:sp>
      <p:sp>
        <p:nvSpPr>
          <p:cNvPr id="4" name="Slide Number Placeholder 3">
            <a:extLst>
              <a:ext uri="{FF2B5EF4-FFF2-40B4-BE49-F238E27FC236}">
                <a16:creationId xmlns:a16="http://schemas.microsoft.com/office/drawing/2014/main" id="{C990BA78-C668-3063-0D97-7C7EAE1473D8}"/>
              </a:ext>
            </a:extLst>
          </p:cNvPr>
          <p:cNvSpPr>
            <a:spLocks noGrp="1"/>
          </p:cNvSpPr>
          <p:nvPr>
            <p:ph type="sldNum" sz="quarter" idx="12"/>
          </p:nvPr>
        </p:nvSpPr>
        <p:spPr/>
        <p:txBody>
          <a:bodyPr/>
          <a:lstStyle/>
          <a:p>
            <a:fld id="{5D76F006-5496-B946-A476-FEDACCAB686D}" type="slidenum">
              <a:rPr lang="en-CN" smtClean="0"/>
              <a:t>15</a:t>
            </a:fld>
            <a:endParaRPr lang="en-CN"/>
          </a:p>
        </p:txBody>
      </p:sp>
      <p:sp>
        <p:nvSpPr>
          <p:cNvPr id="13" name="TextBox 12">
            <a:extLst>
              <a:ext uri="{FF2B5EF4-FFF2-40B4-BE49-F238E27FC236}">
                <a16:creationId xmlns:a16="http://schemas.microsoft.com/office/drawing/2014/main" id="{17A188E1-6184-C1B0-E521-E7533573A694}"/>
              </a:ext>
            </a:extLst>
          </p:cNvPr>
          <p:cNvSpPr txBox="1"/>
          <p:nvPr/>
        </p:nvSpPr>
        <p:spPr>
          <a:xfrm>
            <a:off x="6377940" y="1499591"/>
            <a:ext cx="5425019" cy="830997"/>
          </a:xfrm>
          <a:prstGeom prst="rect">
            <a:avLst/>
          </a:prstGeom>
          <a:noFill/>
        </p:spPr>
        <p:txBody>
          <a:bodyPr wrap="square" rtlCol="0">
            <a:spAutoFit/>
          </a:bodyPr>
          <a:lstStyle/>
          <a:p>
            <a:r>
              <a:rPr lang="en-CN" sz="2400"/>
              <a:t>Challenge 2: </a:t>
            </a:r>
            <a:r>
              <a:rPr lang="en-CN" sz="2400" b="1"/>
              <a:t>No</a:t>
            </a:r>
            <a:r>
              <a:rPr lang="zh-CN" altLang="en-US" sz="2400" b="1"/>
              <a:t> </a:t>
            </a:r>
            <a:r>
              <a:rPr lang="en-US" altLang="zh-CN" sz="2400" b="1" dirty="0"/>
              <a:t>performance</a:t>
            </a:r>
            <a:r>
              <a:rPr lang="zh-CN" altLang="en-US" sz="2400" b="1"/>
              <a:t> </a:t>
            </a:r>
            <a:r>
              <a:rPr lang="en-US" altLang="zh-CN" sz="2400" b="1" dirty="0"/>
              <a:t>isolation </a:t>
            </a:r>
            <a:r>
              <a:rPr lang="en-US" altLang="zh-CN" sz="2400" dirty="0"/>
              <a:t>across VMs</a:t>
            </a:r>
            <a:endParaRPr lang="en-CN" sz="2400" b="1"/>
          </a:p>
        </p:txBody>
      </p:sp>
      <p:sp>
        <p:nvSpPr>
          <p:cNvPr id="14" name="TextBox 13">
            <a:extLst>
              <a:ext uri="{FF2B5EF4-FFF2-40B4-BE49-F238E27FC236}">
                <a16:creationId xmlns:a16="http://schemas.microsoft.com/office/drawing/2014/main" id="{64844EC0-39B2-85C5-1EBF-87BBDAD36194}"/>
              </a:ext>
            </a:extLst>
          </p:cNvPr>
          <p:cNvSpPr txBox="1"/>
          <p:nvPr/>
        </p:nvSpPr>
        <p:spPr>
          <a:xfrm>
            <a:off x="744895" y="1497455"/>
            <a:ext cx="4820049" cy="830997"/>
          </a:xfrm>
          <a:prstGeom prst="rect">
            <a:avLst/>
          </a:prstGeom>
          <a:noFill/>
        </p:spPr>
        <p:txBody>
          <a:bodyPr wrap="square" rtlCol="0">
            <a:spAutoFit/>
          </a:bodyPr>
          <a:lstStyle/>
          <a:p>
            <a:r>
              <a:rPr lang="en-CN" sz="2400" dirty="0"/>
              <a:t>Challenge 1: Some workloads have </a:t>
            </a:r>
            <a:r>
              <a:rPr lang="en-CN" sz="2400" b="1" dirty="0"/>
              <a:t>heavy local memory misses</a:t>
            </a:r>
          </a:p>
        </p:txBody>
      </p:sp>
      <p:cxnSp>
        <p:nvCxnSpPr>
          <p:cNvPr id="5" name="Straight Connector 4">
            <a:extLst>
              <a:ext uri="{FF2B5EF4-FFF2-40B4-BE49-F238E27FC236}">
                <a16:creationId xmlns:a16="http://schemas.microsoft.com/office/drawing/2014/main" id="{F28E2598-9F46-249D-81BE-5AD411D5DD33}"/>
              </a:ext>
            </a:extLst>
          </p:cNvPr>
          <p:cNvCxnSpPr>
            <a:cxnSpLocks/>
          </p:cNvCxnSpPr>
          <p:nvPr/>
        </p:nvCxnSpPr>
        <p:spPr>
          <a:xfrm>
            <a:off x="5980555" y="1571193"/>
            <a:ext cx="0" cy="488620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70CE5020-BD77-78AC-072C-CF3B090C6CC6}"/>
              </a:ext>
            </a:extLst>
          </p:cNvPr>
          <p:cNvSpPr txBox="1"/>
          <p:nvPr/>
        </p:nvSpPr>
        <p:spPr>
          <a:xfrm>
            <a:off x="7213881" y="3764272"/>
            <a:ext cx="3859198" cy="369332"/>
          </a:xfrm>
          <a:prstGeom prst="rect">
            <a:avLst/>
          </a:prstGeom>
          <a:noFill/>
        </p:spPr>
        <p:txBody>
          <a:bodyPr wrap="none" rtlCol="0">
            <a:spAutoFit/>
          </a:bodyPr>
          <a:lstStyle/>
          <a:p>
            <a:r>
              <a:rPr lang="en-CN"/>
              <a:t>Mapped to same local memory range</a:t>
            </a:r>
          </a:p>
        </p:txBody>
      </p:sp>
      <p:sp>
        <p:nvSpPr>
          <p:cNvPr id="24" name="Rectangle 23">
            <a:extLst>
              <a:ext uri="{FF2B5EF4-FFF2-40B4-BE49-F238E27FC236}">
                <a16:creationId xmlns:a16="http://schemas.microsoft.com/office/drawing/2014/main" id="{D4289CE1-AC41-37B2-DC46-FB12F1BD617B}"/>
              </a:ext>
            </a:extLst>
          </p:cNvPr>
          <p:cNvSpPr/>
          <p:nvPr/>
        </p:nvSpPr>
        <p:spPr>
          <a:xfrm>
            <a:off x="6580719" y="4563940"/>
            <a:ext cx="3632200" cy="660400"/>
          </a:xfrm>
          <a:custGeom>
            <a:avLst/>
            <a:gdLst>
              <a:gd name="connsiteX0" fmla="*/ 0 w 2225040"/>
              <a:gd name="connsiteY0" fmla="*/ 0 h 406400"/>
              <a:gd name="connsiteX1" fmla="*/ 2225040 w 2225040"/>
              <a:gd name="connsiteY1" fmla="*/ 0 h 406400"/>
              <a:gd name="connsiteX2" fmla="*/ 2225040 w 2225040"/>
              <a:gd name="connsiteY2" fmla="*/ 406400 h 406400"/>
              <a:gd name="connsiteX3" fmla="*/ 0 w 2225040"/>
              <a:gd name="connsiteY3" fmla="*/ 406400 h 406400"/>
              <a:gd name="connsiteX4" fmla="*/ 0 w 2225040"/>
              <a:gd name="connsiteY4" fmla="*/ 0 h 406400"/>
              <a:gd name="connsiteX0" fmla="*/ 0 w 3342640"/>
              <a:gd name="connsiteY0" fmla="*/ 0 h 650240"/>
              <a:gd name="connsiteX1" fmla="*/ 3342640 w 3342640"/>
              <a:gd name="connsiteY1" fmla="*/ 243840 h 650240"/>
              <a:gd name="connsiteX2" fmla="*/ 3342640 w 3342640"/>
              <a:gd name="connsiteY2" fmla="*/ 650240 h 650240"/>
              <a:gd name="connsiteX3" fmla="*/ 1117600 w 3342640"/>
              <a:gd name="connsiteY3" fmla="*/ 650240 h 650240"/>
              <a:gd name="connsiteX4" fmla="*/ 0 w 3342640"/>
              <a:gd name="connsiteY4" fmla="*/ 0 h 650240"/>
              <a:gd name="connsiteX0" fmla="*/ 0 w 3342640"/>
              <a:gd name="connsiteY0" fmla="*/ 0 h 650240"/>
              <a:gd name="connsiteX1" fmla="*/ 2235200 w 3342640"/>
              <a:gd name="connsiteY1" fmla="*/ 20320 h 650240"/>
              <a:gd name="connsiteX2" fmla="*/ 3342640 w 3342640"/>
              <a:gd name="connsiteY2" fmla="*/ 650240 h 650240"/>
              <a:gd name="connsiteX3" fmla="*/ 1117600 w 3342640"/>
              <a:gd name="connsiteY3" fmla="*/ 650240 h 650240"/>
              <a:gd name="connsiteX4" fmla="*/ 0 w 3342640"/>
              <a:gd name="connsiteY4" fmla="*/ 0 h 650240"/>
              <a:gd name="connsiteX0" fmla="*/ 0 w 3332465"/>
              <a:gd name="connsiteY0" fmla="*/ 0 h 650240"/>
              <a:gd name="connsiteX1" fmla="*/ 2225025 w 3332465"/>
              <a:gd name="connsiteY1" fmla="*/ 20320 h 650240"/>
              <a:gd name="connsiteX2" fmla="*/ 3332465 w 3332465"/>
              <a:gd name="connsiteY2" fmla="*/ 650240 h 650240"/>
              <a:gd name="connsiteX3" fmla="*/ 1107425 w 3332465"/>
              <a:gd name="connsiteY3" fmla="*/ 650240 h 650240"/>
              <a:gd name="connsiteX4" fmla="*/ 0 w 3332465"/>
              <a:gd name="connsiteY4" fmla="*/ 0 h 650240"/>
              <a:gd name="connsiteX0" fmla="*/ 0 w 3637729"/>
              <a:gd name="connsiteY0" fmla="*/ 0 h 660400"/>
              <a:gd name="connsiteX1" fmla="*/ 2530289 w 3637729"/>
              <a:gd name="connsiteY1" fmla="*/ 30480 h 660400"/>
              <a:gd name="connsiteX2" fmla="*/ 3637729 w 3637729"/>
              <a:gd name="connsiteY2" fmla="*/ 660400 h 660400"/>
              <a:gd name="connsiteX3" fmla="*/ 1412689 w 3637729"/>
              <a:gd name="connsiteY3" fmla="*/ 660400 h 660400"/>
              <a:gd name="connsiteX4" fmla="*/ 0 w 3637729"/>
              <a:gd name="connsiteY4" fmla="*/ 0 h 660400"/>
              <a:gd name="connsiteX0" fmla="*/ 0 w 3637729"/>
              <a:gd name="connsiteY0" fmla="*/ 0 h 660400"/>
              <a:gd name="connsiteX1" fmla="*/ 2245376 w 3637729"/>
              <a:gd name="connsiteY1" fmla="*/ 10160 h 660400"/>
              <a:gd name="connsiteX2" fmla="*/ 3637729 w 3637729"/>
              <a:gd name="connsiteY2" fmla="*/ 660400 h 660400"/>
              <a:gd name="connsiteX3" fmla="*/ 1412689 w 3637729"/>
              <a:gd name="connsiteY3" fmla="*/ 660400 h 660400"/>
              <a:gd name="connsiteX4" fmla="*/ 0 w 3637729"/>
              <a:gd name="connsiteY4" fmla="*/ 0 h 66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7729" h="660400">
                <a:moveTo>
                  <a:pt x="0" y="0"/>
                </a:moveTo>
                <a:lnTo>
                  <a:pt x="2245376" y="10160"/>
                </a:lnTo>
                <a:lnTo>
                  <a:pt x="3637729" y="660400"/>
                </a:lnTo>
                <a:lnTo>
                  <a:pt x="1412689" y="660400"/>
                </a:lnTo>
                <a:lnTo>
                  <a:pt x="0" y="0"/>
                </a:lnTo>
                <a:close/>
              </a:path>
            </a:pathLst>
          </a:custGeom>
          <a:solidFill>
            <a:schemeClr val="accent6">
              <a:lumMod val="20000"/>
              <a:lumOff val="80000"/>
              <a:alpha val="30000"/>
            </a:schemeClr>
          </a:solidFill>
          <a:ln>
            <a:solidFill>
              <a:schemeClr val="accent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Rectangle 23">
            <a:extLst>
              <a:ext uri="{FF2B5EF4-FFF2-40B4-BE49-F238E27FC236}">
                <a16:creationId xmlns:a16="http://schemas.microsoft.com/office/drawing/2014/main" id="{2F287150-3FBD-F506-9967-A54BDD918A30}"/>
              </a:ext>
            </a:extLst>
          </p:cNvPr>
          <p:cNvSpPr/>
          <p:nvPr/>
        </p:nvSpPr>
        <p:spPr>
          <a:xfrm flipH="1">
            <a:off x="7987878" y="4574015"/>
            <a:ext cx="3815079" cy="640080"/>
          </a:xfrm>
          <a:custGeom>
            <a:avLst/>
            <a:gdLst>
              <a:gd name="connsiteX0" fmla="*/ 0 w 2225040"/>
              <a:gd name="connsiteY0" fmla="*/ 0 h 406400"/>
              <a:gd name="connsiteX1" fmla="*/ 2225040 w 2225040"/>
              <a:gd name="connsiteY1" fmla="*/ 0 h 406400"/>
              <a:gd name="connsiteX2" fmla="*/ 2225040 w 2225040"/>
              <a:gd name="connsiteY2" fmla="*/ 406400 h 406400"/>
              <a:gd name="connsiteX3" fmla="*/ 0 w 2225040"/>
              <a:gd name="connsiteY3" fmla="*/ 406400 h 406400"/>
              <a:gd name="connsiteX4" fmla="*/ 0 w 2225040"/>
              <a:gd name="connsiteY4" fmla="*/ 0 h 406400"/>
              <a:gd name="connsiteX0" fmla="*/ 0 w 3342640"/>
              <a:gd name="connsiteY0" fmla="*/ 0 h 650240"/>
              <a:gd name="connsiteX1" fmla="*/ 3342640 w 3342640"/>
              <a:gd name="connsiteY1" fmla="*/ 243840 h 650240"/>
              <a:gd name="connsiteX2" fmla="*/ 3342640 w 3342640"/>
              <a:gd name="connsiteY2" fmla="*/ 650240 h 650240"/>
              <a:gd name="connsiteX3" fmla="*/ 1117600 w 3342640"/>
              <a:gd name="connsiteY3" fmla="*/ 650240 h 650240"/>
              <a:gd name="connsiteX4" fmla="*/ 0 w 3342640"/>
              <a:gd name="connsiteY4" fmla="*/ 0 h 650240"/>
              <a:gd name="connsiteX0" fmla="*/ 0 w 3342640"/>
              <a:gd name="connsiteY0" fmla="*/ 0 h 650240"/>
              <a:gd name="connsiteX1" fmla="*/ 2235200 w 3342640"/>
              <a:gd name="connsiteY1" fmla="*/ 20320 h 650240"/>
              <a:gd name="connsiteX2" fmla="*/ 3342640 w 3342640"/>
              <a:gd name="connsiteY2" fmla="*/ 650240 h 650240"/>
              <a:gd name="connsiteX3" fmla="*/ 1117600 w 3342640"/>
              <a:gd name="connsiteY3" fmla="*/ 650240 h 650240"/>
              <a:gd name="connsiteX4" fmla="*/ 0 w 3342640"/>
              <a:gd name="connsiteY4" fmla="*/ 0 h 650240"/>
              <a:gd name="connsiteX0" fmla="*/ 0 w 3342640"/>
              <a:gd name="connsiteY0" fmla="*/ 0 h 629920"/>
              <a:gd name="connsiteX1" fmla="*/ 2235200 w 3342640"/>
              <a:gd name="connsiteY1" fmla="*/ 0 h 629920"/>
              <a:gd name="connsiteX2" fmla="*/ 3342640 w 3342640"/>
              <a:gd name="connsiteY2" fmla="*/ 629920 h 629920"/>
              <a:gd name="connsiteX3" fmla="*/ 1117600 w 3342640"/>
              <a:gd name="connsiteY3" fmla="*/ 629920 h 629920"/>
              <a:gd name="connsiteX4" fmla="*/ 0 w 3342640"/>
              <a:gd name="connsiteY4" fmla="*/ 0 h 629920"/>
              <a:gd name="connsiteX0" fmla="*/ 0 w 3342640"/>
              <a:gd name="connsiteY0" fmla="*/ 10160 h 640080"/>
              <a:gd name="connsiteX1" fmla="*/ 1736602 w 3342640"/>
              <a:gd name="connsiteY1" fmla="*/ 0 h 640080"/>
              <a:gd name="connsiteX2" fmla="*/ 3342640 w 3342640"/>
              <a:gd name="connsiteY2" fmla="*/ 640080 h 640080"/>
              <a:gd name="connsiteX3" fmla="*/ 1117600 w 3342640"/>
              <a:gd name="connsiteY3" fmla="*/ 640080 h 640080"/>
              <a:gd name="connsiteX4" fmla="*/ 0 w 3342640"/>
              <a:gd name="connsiteY4" fmla="*/ 10160 h 640080"/>
              <a:gd name="connsiteX0" fmla="*/ 0 w 3820887"/>
              <a:gd name="connsiteY0" fmla="*/ 0 h 640080"/>
              <a:gd name="connsiteX1" fmla="*/ 2214849 w 3820887"/>
              <a:gd name="connsiteY1" fmla="*/ 0 h 640080"/>
              <a:gd name="connsiteX2" fmla="*/ 3820887 w 3820887"/>
              <a:gd name="connsiteY2" fmla="*/ 640080 h 640080"/>
              <a:gd name="connsiteX3" fmla="*/ 1595847 w 3820887"/>
              <a:gd name="connsiteY3" fmla="*/ 640080 h 640080"/>
              <a:gd name="connsiteX4" fmla="*/ 0 w 3820887"/>
              <a:gd name="connsiteY4" fmla="*/ 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0887" h="640080">
                <a:moveTo>
                  <a:pt x="0" y="0"/>
                </a:moveTo>
                <a:lnTo>
                  <a:pt x="2214849" y="0"/>
                </a:lnTo>
                <a:lnTo>
                  <a:pt x="3820887" y="640080"/>
                </a:lnTo>
                <a:lnTo>
                  <a:pt x="1595847" y="640080"/>
                </a:lnTo>
                <a:lnTo>
                  <a:pt x="0" y="0"/>
                </a:lnTo>
                <a:close/>
              </a:path>
            </a:pathLst>
          </a:custGeom>
          <a:solidFill>
            <a:schemeClr val="accent5">
              <a:lumMod val="20000"/>
              <a:lumOff val="80000"/>
              <a:alpha val="30000"/>
            </a:schemeClr>
          </a:solidFill>
          <a:ln>
            <a:solidFill>
              <a:schemeClr val="accent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Rectangle 11">
            <a:extLst>
              <a:ext uri="{FF2B5EF4-FFF2-40B4-BE49-F238E27FC236}">
                <a16:creationId xmlns:a16="http://schemas.microsoft.com/office/drawing/2014/main" id="{F672C9E3-CF07-6E87-F47A-05F567DE5564}"/>
              </a:ext>
            </a:extLst>
          </p:cNvPr>
          <p:cNvSpPr/>
          <p:nvPr/>
        </p:nvSpPr>
        <p:spPr>
          <a:xfrm>
            <a:off x="6576979" y="4163556"/>
            <a:ext cx="2225040" cy="4064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solidFill>
                  <a:schemeClr val="tx1"/>
                </a:solidFill>
              </a:rPr>
              <a:t>VM 1 Memory</a:t>
            </a:r>
          </a:p>
        </p:txBody>
      </p:sp>
      <p:sp>
        <p:nvSpPr>
          <p:cNvPr id="15" name="Rectangle 14">
            <a:extLst>
              <a:ext uri="{FF2B5EF4-FFF2-40B4-BE49-F238E27FC236}">
                <a16:creationId xmlns:a16="http://schemas.microsoft.com/office/drawing/2014/main" id="{9C960794-E513-2F99-FABF-C84F54BFBBE9}"/>
              </a:ext>
            </a:extLst>
          </p:cNvPr>
          <p:cNvSpPr/>
          <p:nvPr/>
        </p:nvSpPr>
        <p:spPr>
          <a:xfrm>
            <a:off x="9577919" y="4165600"/>
            <a:ext cx="2225040" cy="40640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solidFill>
                  <a:schemeClr val="tx1"/>
                </a:solidFill>
              </a:rPr>
              <a:t>VM 2 Memory</a:t>
            </a:r>
          </a:p>
        </p:txBody>
      </p:sp>
      <p:sp>
        <p:nvSpPr>
          <p:cNvPr id="21" name="Rectangle 20">
            <a:extLst>
              <a:ext uri="{FF2B5EF4-FFF2-40B4-BE49-F238E27FC236}">
                <a16:creationId xmlns:a16="http://schemas.microsoft.com/office/drawing/2014/main" id="{42C12BA5-96AA-EF11-DF5E-E78570CE554D}"/>
              </a:ext>
            </a:extLst>
          </p:cNvPr>
          <p:cNvSpPr/>
          <p:nvPr/>
        </p:nvSpPr>
        <p:spPr>
          <a:xfrm>
            <a:off x="7987879" y="5224255"/>
            <a:ext cx="2225040" cy="406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solidFill>
                  <a:schemeClr val="tx1"/>
                </a:solidFill>
              </a:rPr>
              <a:t>Local Memory</a:t>
            </a:r>
          </a:p>
        </p:txBody>
      </p:sp>
      <p:sp>
        <p:nvSpPr>
          <p:cNvPr id="35" name="TextBox 34">
            <a:extLst>
              <a:ext uri="{FF2B5EF4-FFF2-40B4-BE49-F238E27FC236}">
                <a16:creationId xmlns:a16="http://schemas.microsoft.com/office/drawing/2014/main" id="{765225C8-EFDA-5168-9C72-BD2E6DA30DE3}"/>
              </a:ext>
            </a:extLst>
          </p:cNvPr>
          <p:cNvSpPr txBox="1"/>
          <p:nvPr/>
        </p:nvSpPr>
        <p:spPr>
          <a:xfrm>
            <a:off x="6377940" y="2581582"/>
            <a:ext cx="5352876" cy="830997"/>
          </a:xfrm>
          <a:prstGeom prst="rect">
            <a:avLst/>
          </a:prstGeom>
          <a:noFill/>
        </p:spPr>
        <p:txBody>
          <a:bodyPr wrap="none" rtlCol="0">
            <a:spAutoFit/>
          </a:bodyPr>
          <a:lstStyle/>
          <a:p>
            <a:r>
              <a:rPr lang="en-CN" sz="2400" b="1"/>
              <a:t>Local memory contention </a:t>
            </a:r>
            <a:r>
              <a:rPr lang="en-CN" sz="2400"/>
              <a:t>across VMs</a:t>
            </a:r>
          </a:p>
          <a:p>
            <a:r>
              <a:rPr lang="en-CN" sz="2400"/>
              <a:t>(more than 50% slowdown)</a:t>
            </a:r>
          </a:p>
        </p:txBody>
      </p:sp>
      <p:graphicFrame>
        <p:nvGraphicFramePr>
          <p:cNvPr id="6" name="Chart 5">
            <a:extLst>
              <a:ext uri="{FF2B5EF4-FFF2-40B4-BE49-F238E27FC236}">
                <a16:creationId xmlns:a16="http://schemas.microsoft.com/office/drawing/2014/main" id="{53230E9C-AE5A-800C-DA30-1A85817BEA6E}"/>
              </a:ext>
            </a:extLst>
          </p:cNvPr>
          <p:cNvGraphicFramePr>
            <a:graphicFrameLocks/>
          </p:cNvGraphicFramePr>
          <p:nvPr/>
        </p:nvGraphicFramePr>
        <p:xfrm>
          <a:off x="266064" y="3513668"/>
          <a:ext cx="5348823" cy="3013813"/>
        </p:xfrm>
        <a:graphic>
          <a:graphicData uri="http://schemas.openxmlformats.org/drawingml/2006/chart">
            <c:chart xmlns:c="http://schemas.openxmlformats.org/drawingml/2006/chart" xmlns:r="http://schemas.openxmlformats.org/officeDocument/2006/relationships" r:id="rId3"/>
          </a:graphicData>
        </a:graphic>
      </p:graphicFrame>
      <p:sp>
        <p:nvSpPr>
          <p:cNvPr id="39" name="Left Brace 38">
            <a:extLst>
              <a:ext uri="{FF2B5EF4-FFF2-40B4-BE49-F238E27FC236}">
                <a16:creationId xmlns:a16="http://schemas.microsoft.com/office/drawing/2014/main" id="{B40F7124-A2A6-185A-C1FD-91DF866F02DD}"/>
              </a:ext>
            </a:extLst>
          </p:cNvPr>
          <p:cNvSpPr/>
          <p:nvPr/>
        </p:nvSpPr>
        <p:spPr>
          <a:xfrm rot="5400000">
            <a:off x="3355033" y="1647037"/>
            <a:ext cx="365181" cy="3459137"/>
          </a:xfrm>
          <a:prstGeom prst="leftBrace">
            <a:avLst/>
          </a:prstGeom>
          <a:ln w="38100">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N">
              <a:solidFill>
                <a:schemeClr val="tx2">
                  <a:lumMod val="75000"/>
                  <a:lumOff val="25000"/>
                </a:schemeClr>
              </a:solidFill>
            </a:endParaRPr>
          </a:p>
        </p:txBody>
      </p:sp>
      <p:sp>
        <p:nvSpPr>
          <p:cNvPr id="40" name="TextBox 39">
            <a:extLst>
              <a:ext uri="{FF2B5EF4-FFF2-40B4-BE49-F238E27FC236}">
                <a16:creationId xmlns:a16="http://schemas.microsoft.com/office/drawing/2014/main" id="{7166E19B-0979-A858-5604-A64EDD574ED0}"/>
              </a:ext>
            </a:extLst>
          </p:cNvPr>
          <p:cNvSpPr txBox="1"/>
          <p:nvPr/>
        </p:nvSpPr>
        <p:spPr>
          <a:xfrm>
            <a:off x="1074917" y="2393958"/>
            <a:ext cx="4645414" cy="769441"/>
          </a:xfrm>
          <a:prstGeom prst="rect">
            <a:avLst/>
          </a:prstGeom>
          <a:noFill/>
        </p:spPr>
        <p:txBody>
          <a:bodyPr wrap="square" rtlCol="0">
            <a:spAutoFit/>
          </a:bodyPr>
          <a:lstStyle/>
          <a:p>
            <a:r>
              <a:rPr lang="en-CN" sz="2200" dirty="0">
                <a:solidFill>
                  <a:schemeClr val="accent1"/>
                </a:solidFill>
              </a:rPr>
              <a:t>26% workloads have &gt; 5% slowdown (“</a:t>
            </a:r>
            <a:r>
              <a:rPr lang="en-CN" sz="2200" b="1" dirty="0">
                <a:solidFill>
                  <a:schemeClr val="accent1"/>
                </a:solidFill>
              </a:rPr>
              <a:t>outlier</a:t>
            </a:r>
            <a:r>
              <a:rPr lang="en-CN" sz="2200" dirty="0">
                <a:solidFill>
                  <a:schemeClr val="accent1"/>
                </a:solidFill>
              </a:rPr>
              <a:t>” workloads)</a:t>
            </a:r>
          </a:p>
        </p:txBody>
      </p:sp>
      <p:pic>
        <p:nvPicPr>
          <p:cNvPr id="7" name="Picture 6" descr="A green boxing glove on a black background&#10;&#10;Description automatically generated">
            <a:extLst>
              <a:ext uri="{FF2B5EF4-FFF2-40B4-BE49-F238E27FC236}">
                <a16:creationId xmlns:a16="http://schemas.microsoft.com/office/drawing/2014/main" id="{A609A7CD-BF18-4DCB-2428-87BB3D126A9A}"/>
              </a:ext>
            </a:extLst>
          </p:cNvPr>
          <p:cNvPicPr>
            <a:picLocks noChangeAspect="1"/>
          </p:cNvPicPr>
          <p:nvPr/>
        </p:nvPicPr>
        <p:blipFill>
          <a:blip r:embed="rId4"/>
          <a:stretch>
            <a:fillRect/>
          </a:stretch>
        </p:blipFill>
        <p:spPr>
          <a:xfrm flipH="1">
            <a:off x="8452323" y="4675955"/>
            <a:ext cx="944337" cy="1000160"/>
          </a:xfrm>
          <a:prstGeom prst="rect">
            <a:avLst/>
          </a:prstGeom>
        </p:spPr>
      </p:pic>
      <p:pic>
        <p:nvPicPr>
          <p:cNvPr id="9" name="Picture 8" descr="A pink boxing glove on a black background&#10;&#10;Description automatically generated">
            <a:extLst>
              <a:ext uri="{FF2B5EF4-FFF2-40B4-BE49-F238E27FC236}">
                <a16:creationId xmlns:a16="http://schemas.microsoft.com/office/drawing/2014/main" id="{01AB6841-2BD5-43DF-9947-FED38B302ED4}"/>
              </a:ext>
            </a:extLst>
          </p:cNvPr>
          <p:cNvPicPr>
            <a:picLocks noChangeAspect="1"/>
          </p:cNvPicPr>
          <p:nvPr/>
        </p:nvPicPr>
        <p:blipFill>
          <a:blip r:embed="rId5"/>
          <a:stretch>
            <a:fillRect/>
          </a:stretch>
        </p:blipFill>
        <p:spPr>
          <a:xfrm>
            <a:off x="8863952" y="4685972"/>
            <a:ext cx="1019418" cy="972804"/>
          </a:xfrm>
          <a:prstGeom prst="rect">
            <a:avLst/>
          </a:prstGeom>
        </p:spPr>
      </p:pic>
      <p:graphicFrame>
        <p:nvGraphicFramePr>
          <p:cNvPr id="3" name="Chart 2">
            <a:extLst>
              <a:ext uri="{FF2B5EF4-FFF2-40B4-BE49-F238E27FC236}">
                <a16:creationId xmlns:a16="http://schemas.microsoft.com/office/drawing/2014/main" id="{C1D71540-3DDC-74DD-ACF2-DDDF8C70FD7D}"/>
              </a:ext>
            </a:extLst>
          </p:cNvPr>
          <p:cNvGraphicFramePr>
            <a:graphicFrameLocks/>
          </p:cNvGraphicFramePr>
          <p:nvPr>
            <p:extLst>
              <p:ext uri="{D42A27DB-BD31-4B8C-83A1-F6EECF244321}">
                <p14:modId xmlns:p14="http://schemas.microsoft.com/office/powerpoint/2010/main" val="3414959995"/>
              </p:ext>
            </p:extLst>
          </p:nvPr>
        </p:nvGraphicFramePr>
        <p:xfrm>
          <a:off x="263620" y="3513667"/>
          <a:ext cx="5348823" cy="3013813"/>
        </p:xfrm>
        <a:graphic>
          <a:graphicData uri="http://schemas.openxmlformats.org/drawingml/2006/chart">
            <c:chart xmlns:c="http://schemas.openxmlformats.org/drawingml/2006/chart" xmlns:r="http://schemas.openxmlformats.org/officeDocument/2006/relationships" r:id="rId6"/>
          </a:graphicData>
        </a:graphic>
      </p:graphicFrame>
      <p:pic>
        <p:nvPicPr>
          <p:cNvPr id="11" name="Picture 10">
            <a:extLst>
              <a:ext uri="{FF2B5EF4-FFF2-40B4-BE49-F238E27FC236}">
                <a16:creationId xmlns:a16="http://schemas.microsoft.com/office/drawing/2014/main" id="{0AAA02DE-06D8-E42B-F89C-5DA5EBD021B1}"/>
              </a:ext>
            </a:extLst>
          </p:cNvPr>
          <p:cNvPicPr>
            <a:picLocks noChangeAspect="1"/>
          </p:cNvPicPr>
          <p:nvPr/>
        </p:nvPicPr>
        <p:blipFill>
          <a:blip r:embed="rId7"/>
          <a:stretch>
            <a:fillRect/>
          </a:stretch>
        </p:blipFill>
        <p:spPr>
          <a:xfrm>
            <a:off x="2588270" y="4931551"/>
            <a:ext cx="2576026" cy="325704"/>
          </a:xfrm>
          <a:prstGeom prst="rect">
            <a:avLst/>
          </a:prstGeom>
        </p:spPr>
      </p:pic>
      <p:pic>
        <p:nvPicPr>
          <p:cNvPr id="16" name="Picture 15">
            <a:extLst>
              <a:ext uri="{FF2B5EF4-FFF2-40B4-BE49-F238E27FC236}">
                <a16:creationId xmlns:a16="http://schemas.microsoft.com/office/drawing/2014/main" id="{805DEA79-02F7-D562-CC0B-8A5AD3902826}"/>
              </a:ext>
            </a:extLst>
          </p:cNvPr>
          <p:cNvPicPr>
            <a:picLocks noChangeAspect="1"/>
          </p:cNvPicPr>
          <p:nvPr/>
        </p:nvPicPr>
        <p:blipFill>
          <a:blip r:embed="rId8"/>
          <a:stretch>
            <a:fillRect/>
          </a:stretch>
        </p:blipFill>
        <p:spPr>
          <a:xfrm>
            <a:off x="2588268" y="4615433"/>
            <a:ext cx="2221183" cy="327548"/>
          </a:xfrm>
          <a:prstGeom prst="rect">
            <a:avLst/>
          </a:prstGeom>
        </p:spPr>
      </p:pic>
    </p:spTree>
    <p:extLst>
      <p:ext uri="{BB962C8B-B14F-4D97-AF65-F5344CB8AC3E}">
        <p14:creationId xmlns:p14="http://schemas.microsoft.com/office/powerpoint/2010/main" val="208740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6"/>
                                        </p:tgtEl>
                                      </p:cBhvr>
                                    </p:animEffect>
                                    <p:set>
                                      <p:cBhvr>
                                        <p:cTn id="28" dur="1" fill="hold">
                                          <p:stCondLst>
                                            <p:cond delay="499"/>
                                          </p:stCondLst>
                                        </p:cTn>
                                        <p:tgtEl>
                                          <p:spTgt spid="6"/>
                                        </p:tgtEl>
                                        <p:attrNameLst>
                                          <p:attrName>style.visibility</p:attrName>
                                        </p:attrNameLst>
                                      </p:cBhvr>
                                      <p:to>
                                        <p:strVal val="hidden"/>
                                      </p:to>
                                    </p:set>
                                  </p:childTnLst>
                                </p:cTn>
                              </p:par>
                            </p:childTnLst>
                          </p:cTn>
                        </p:par>
                        <p:par>
                          <p:cTn id="29" fill="hold">
                            <p:stCondLst>
                              <p:cond delay="500"/>
                            </p:stCondLst>
                            <p:childTnLst>
                              <p:par>
                                <p:cTn id="30" presetID="10" presetClass="entr" presetSubtype="0" fill="hold" grpId="2"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500"/>
                                        <p:tgtEl>
                                          <p:spTgt spid="4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fade">
                                      <p:cBhvr>
                                        <p:cTn id="45" dur="500"/>
                                        <p:tgtEl>
                                          <p:spTgt spid="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500"/>
                                        <p:tgtEl>
                                          <p:spTgt spid="3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500"/>
                                        <p:tgtEl>
                                          <p:spTgt spid="34"/>
                                        </p:tgtEl>
                                      </p:cBhvr>
                                    </p:animEffect>
                                  </p:childTnLst>
                                </p:cTn>
                              </p:par>
                              <p:par>
                                <p:cTn id="79" presetID="10" presetClass="entr" presetSubtype="0" fill="hold" nodeType="with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fade">
                                      <p:cBhvr>
                                        <p:cTn id="81" dur="500"/>
                                        <p:tgtEl>
                                          <p:spTgt spid="9"/>
                                        </p:tgtEl>
                                      </p:cBhvr>
                                    </p:animEffect>
                                  </p:childTnLst>
                                </p:cTn>
                              </p:par>
                              <p:par>
                                <p:cTn id="82" presetID="10" presetClass="entr" presetSubtype="0" fill="hold" nodeType="with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fade">
                                      <p:cBhvr>
                                        <p:cTn id="84" dur="500"/>
                                        <p:tgtEl>
                                          <p:spTgt spid="7"/>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13" grpId="0"/>
      <p:bldP spid="14" grpId="0"/>
      <p:bldP spid="22" grpId="0"/>
      <p:bldP spid="24" grpId="0" animBg="1"/>
      <p:bldP spid="25" grpId="0" animBg="1"/>
      <p:bldP spid="12" grpId="0" animBg="1"/>
      <p:bldP spid="15" grpId="0" animBg="1"/>
      <p:bldP spid="21" grpId="0" animBg="1"/>
      <p:bldP spid="35" grpId="0"/>
      <p:bldGraphic spid="6" grpId="0">
        <p:bldAsOne/>
      </p:bldGraphic>
      <p:bldGraphic spid="6" grpId="1">
        <p:bldAsOne/>
      </p:bldGraphic>
      <p:bldGraphic spid="6" grpId="2">
        <p:bldAsOne/>
      </p:bldGraphic>
      <p:bldP spid="39" grpId="0" animBg="1"/>
      <p:bldP spid="40" grpId="0"/>
      <p:bldGraphic spid="3"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3388E-7648-6934-B224-8E48CD6E0D5C}"/>
              </a:ext>
            </a:extLst>
          </p:cNvPr>
          <p:cNvSpPr>
            <a:spLocks noGrp="1"/>
          </p:cNvSpPr>
          <p:nvPr>
            <p:ph type="title"/>
          </p:nvPr>
        </p:nvSpPr>
        <p:spPr/>
        <p:txBody>
          <a:bodyPr>
            <a:normAutofit/>
          </a:bodyPr>
          <a:lstStyle/>
          <a:p>
            <a:r>
              <a:rPr lang="en-US" dirty="0"/>
              <a:t>Adding Dedicated Local Memory for Outliers</a:t>
            </a:r>
          </a:p>
        </p:txBody>
      </p:sp>
      <p:sp>
        <p:nvSpPr>
          <p:cNvPr id="4" name="Rectangle 3">
            <a:extLst>
              <a:ext uri="{FF2B5EF4-FFF2-40B4-BE49-F238E27FC236}">
                <a16:creationId xmlns:a16="http://schemas.microsoft.com/office/drawing/2014/main" id="{CB585D82-FF96-19A5-4879-E48119D1BD69}"/>
              </a:ext>
            </a:extLst>
          </p:cNvPr>
          <p:cNvSpPr/>
          <p:nvPr/>
        </p:nvSpPr>
        <p:spPr>
          <a:xfrm>
            <a:off x="1646792" y="3778239"/>
            <a:ext cx="3079630" cy="59006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N</a:t>
            </a:r>
            <a:r>
              <a:rPr lang="en-US" dirty="0">
                <a:solidFill>
                  <a:schemeClr val="tx1"/>
                </a:solidFill>
              </a:rPr>
              <a:t> GB</a:t>
            </a:r>
            <a:endParaRPr lang="en-CN" dirty="0">
              <a:solidFill>
                <a:schemeClr val="tx1"/>
              </a:solidFill>
            </a:endParaRPr>
          </a:p>
        </p:txBody>
      </p:sp>
      <p:sp>
        <p:nvSpPr>
          <p:cNvPr id="5" name="TextBox 4">
            <a:extLst>
              <a:ext uri="{FF2B5EF4-FFF2-40B4-BE49-F238E27FC236}">
                <a16:creationId xmlns:a16="http://schemas.microsoft.com/office/drawing/2014/main" id="{88AEDC4C-5037-1BF4-4325-97E95600F511}"/>
              </a:ext>
            </a:extLst>
          </p:cNvPr>
          <p:cNvSpPr txBox="1"/>
          <p:nvPr/>
        </p:nvSpPr>
        <p:spPr>
          <a:xfrm>
            <a:off x="4726422" y="2848280"/>
            <a:ext cx="1729448"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CXL Memory</a:t>
            </a:r>
          </a:p>
        </p:txBody>
      </p:sp>
      <p:sp>
        <p:nvSpPr>
          <p:cNvPr id="6" name="Rectangle 5">
            <a:extLst>
              <a:ext uri="{FF2B5EF4-FFF2-40B4-BE49-F238E27FC236}">
                <a16:creationId xmlns:a16="http://schemas.microsoft.com/office/drawing/2014/main" id="{289F8598-BA3D-C399-E980-3AC68C0267D4}"/>
              </a:ext>
            </a:extLst>
          </p:cNvPr>
          <p:cNvSpPr/>
          <p:nvPr/>
        </p:nvSpPr>
        <p:spPr>
          <a:xfrm>
            <a:off x="1646792" y="2758974"/>
            <a:ext cx="3079630" cy="59006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N</a:t>
            </a:r>
            <a:r>
              <a:rPr lang="en-US" dirty="0">
                <a:solidFill>
                  <a:schemeClr val="tx1"/>
                </a:solidFill>
              </a:rPr>
              <a:t> GB</a:t>
            </a:r>
            <a:endParaRPr lang="en-CN" dirty="0">
              <a:solidFill>
                <a:schemeClr val="tx1"/>
              </a:solidFill>
            </a:endParaRPr>
          </a:p>
        </p:txBody>
      </p:sp>
      <p:sp>
        <p:nvSpPr>
          <p:cNvPr id="7" name="TextBox 6">
            <a:extLst>
              <a:ext uri="{FF2B5EF4-FFF2-40B4-BE49-F238E27FC236}">
                <a16:creationId xmlns:a16="http://schemas.microsoft.com/office/drawing/2014/main" id="{A88F2130-84C4-005F-7D77-8FB34F2871F1}"/>
              </a:ext>
            </a:extLst>
          </p:cNvPr>
          <p:cNvSpPr txBox="1"/>
          <p:nvPr/>
        </p:nvSpPr>
        <p:spPr>
          <a:xfrm>
            <a:off x="4726422" y="3867898"/>
            <a:ext cx="1904817" cy="430887"/>
          </a:xfrm>
          <a:prstGeom prst="rect">
            <a:avLst/>
          </a:prstGeom>
          <a:noFill/>
        </p:spPr>
        <p:txBody>
          <a:bodyPr wrap="none" rtlCol="0">
            <a:spAutoFit/>
          </a:bodyPr>
          <a:lstStyle/>
          <a:p>
            <a:r>
              <a:rPr lang="en-CN" sz="2200">
                <a:latin typeface="Aptos" panose="020B0004020202020204" pitchFamily="34" charset="0"/>
                <a:cs typeface="Times New Roman" panose="02020603050405020304" pitchFamily="18" charset="0"/>
              </a:rPr>
              <a:t>Local Memory</a:t>
            </a:r>
          </a:p>
        </p:txBody>
      </p:sp>
      <p:sp>
        <p:nvSpPr>
          <p:cNvPr id="8" name="Rectangle 7">
            <a:extLst>
              <a:ext uri="{FF2B5EF4-FFF2-40B4-BE49-F238E27FC236}">
                <a16:creationId xmlns:a16="http://schemas.microsoft.com/office/drawing/2014/main" id="{46B60046-46D7-D402-D0A1-E714F9125794}"/>
              </a:ext>
            </a:extLst>
          </p:cNvPr>
          <p:cNvSpPr/>
          <p:nvPr/>
        </p:nvSpPr>
        <p:spPr>
          <a:xfrm>
            <a:off x="1646792" y="4760373"/>
            <a:ext cx="6096277" cy="605324"/>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9" name="TextBox 8">
            <a:extLst>
              <a:ext uri="{FF2B5EF4-FFF2-40B4-BE49-F238E27FC236}">
                <a16:creationId xmlns:a16="http://schemas.microsoft.com/office/drawing/2014/main" id="{51F5672D-E3C0-7507-A36F-D1F025C47FCD}"/>
              </a:ext>
            </a:extLst>
          </p:cNvPr>
          <p:cNvSpPr txBox="1"/>
          <p:nvPr/>
        </p:nvSpPr>
        <p:spPr>
          <a:xfrm>
            <a:off x="2315112" y="5699896"/>
            <a:ext cx="4759637" cy="769441"/>
          </a:xfrm>
          <a:prstGeom prst="rect">
            <a:avLst/>
          </a:prstGeom>
          <a:noFill/>
        </p:spPr>
        <p:txBody>
          <a:bodyPr wrap="none" rtlCol="0">
            <a:spAutoFit/>
          </a:bodyPr>
          <a:lstStyle/>
          <a:p>
            <a:pPr algn="ctr"/>
            <a:r>
              <a:rPr lang="en-CN" sz="2200" dirty="0">
                <a:latin typeface="Aptos" panose="020B0004020202020204" pitchFamily="34" charset="0"/>
                <a:cs typeface="Times New Roman" panose="02020603050405020304" pitchFamily="18" charset="0"/>
              </a:rPr>
              <a:t>Host Physical </a:t>
            </a:r>
            <a:r>
              <a:rPr lang="en-US" sz="2200" dirty="0">
                <a:latin typeface="Aptos" panose="020B0004020202020204" pitchFamily="34" charset="0"/>
                <a:cs typeface="Times New Roman" panose="02020603050405020304" pitchFamily="18" charset="0"/>
              </a:rPr>
              <a:t>Memory Address</a:t>
            </a:r>
            <a:r>
              <a:rPr lang="en-CN" sz="2200" dirty="0">
                <a:latin typeface="Aptos" panose="020B0004020202020204" pitchFamily="34" charset="0"/>
                <a:cs typeface="Times New Roman" panose="02020603050405020304" pitchFamily="18" charset="0"/>
              </a:rPr>
              <a:t> </a:t>
            </a:r>
            <a:r>
              <a:rPr lang="en-US" sz="2200" dirty="0">
                <a:latin typeface="Aptos" panose="020B0004020202020204" pitchFamily="34" charset="0"/>
                <a:cs typeface="Times New Roman" panose="02020603050405020304" pitchFamily="18" charset="0"/>
              </a:rPr>
              <a:t>Space</a:t>
            </a:r>
          </a:p>
          <a:p>
            <a:pPr algn="ctr"/>
            <a:r>
              <a:rPr lang="en-US" sz="2200" dirty="0">
                <a:latin typeface="Aptos" panose="020B0004020202020204" pitchFamily="34" charset="0"/>
                <a:cs typeface="Times New Roman" panose="02020603050405020304" pitchFamily="18" charset="0"/>
              </a:rPr>
              <a:t>(Flat Memory Mode, 2</a:t>
            </a:r>
            <a:r>
              <a:rPr lang="en-US" sz="2200" i="1" dirty="0">
                <a:latin typeface="Aptos" panose="020B0004020202020204" pitchFamily="34" charset="0"/>
                <a:cs typeface="Times New Roman" panose="02020603050405020304" pitchFamily="18" charset="0"/>
              </a:rPr>
              <a:t>N</a:t>
            </a:r>
            <a:r>
              <a:rPr lang="en-US" sz="2200" dirty="0">
                <a:latin typeface="Aptos" panose="020B0004020202020204" pitchFamily="34" charset="0"/>
                <a:cs typeface="Times New Roman" panose="02020603050405020304" pitchFamily="18" charset="0"/>
              </a:rPr>
              <a:t> GB)</a:t>
            </a:r>
            <a:endParaRPr lang="en-CN" sz="2200" dirty="0">
              <a:latin typeface="Aptos" panose="020B0004020202020204" pitchFamily="34" charset="0"/>
              <a:cs typeface="Times New Roman" panose="02020603050405020304" pitchFamily="18" charset="0"/>
            </a:endParaRPr>
          </a:p>
        </p:txBody>
      </p:sp>
      <p:sp>
        <p:nvSpPr>
          <p:cNvPr id="10" name="Left Brace 9">
            <a:extLst>
              <a:ext uri="{FF2B5EF4-FFF2-40B4-BE49-F238E27FC236}">
                <a16:creationId xmlns:a16="http://schemas.microsoft.com/office/drawing/2014/main" id="{A0284534-38EA-5842-89DB-CD7FD064C258}"/>
              </a:ext>
            </a:extLst>
          </p:cNvPr>
          <p:cNvSpPr/>
          <p:nvPr/>
        </p:nvSpPr>
        <p:spPr>
          <a:xfrm rot="16200000">
            <a:off x="4583259" y="2527954"/>
            <a:ext cx="286326" cy="615107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1" name="Rectangle 10">
            <a:extLst>
              <a:ext uri="{FF2B5EF4-FFF2-40B4-BE49-F238E27FC236}">
                <a16:creationId xmlns:a16="http://schemas.microsoft.com/office/drawing/2014/main" id="{D343B84C-F080-4BAD-6FF4-CDDB50C73672}"/>
              </a:ext>
            </a:extLst>
          </p:cNvPr>
          <p:cNvSpPr/>
          <p:nvPr/>
        </p:nvSpPr>
        <p:spPr>
          <a:xfrm>
            <a:off x="1646791" y="2755846"/>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Times New Roman" panose="02020603050405020304" pitchFamily="18" charset="0"/>
                <a:cs typeface="Times New Roman" panose="02020603050405020304" pitchFamily="18" charset="0"/>
              </a:rPr>
              <a:t>B</a:t>
            </a:r>
          </a:p>
        </p:txBody>
      </p:sp>
      <p:sp>
        <p:nvSpPr>
          <p:cNvPr id="12" name="Rectangle 11">
            <a:extLst>
              <a:ext uri="{FF2B5EF4-FFF2-40B4-BE49-F238E27FC236}">
                <a16:creationId xmlns:a16="http://schemas.microsoft.com/office/drawing/2014/main" id="{496E7EB3-BC66-D24E-54F6-D9F46BC9971B}"/>
              </a:ext>
            </a:extLst>
          </p:cNvPr>
          <p:cNvSpPr/>
          <p:nvPr/>
        </p:nvSpPr>
        <p:spPr>
          <a:xfrm>
            <a:off x="1643360" y="3776486"/>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A</a:t>
            </a:r>
            <a:endParaRPr lang="en-CN" b="1">
              <a:solidFill>
                <a:schemeClr val="tx1"/>
              </a:solidFill>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D6EA52EF-5B25-BADF-6EA0-3488CFEC57E7}"/>
              </a:ext>
            </a:extLst>
          </p:cNvPr>
          <p:cNvSpPr/>
          <p:nvPr/>
        </p:nvSpPr>
        <p:spPr>
          <a:xfrm>
            <a:off x="4718672" y="4756193"/>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b="1">
                <a:solidFill>
                  <a:schemeClr val="tx1"/>
                </a:solidFill>
                <a:latin typeface="Times New Roman" panose="02020603050405020304" pitchFamily="18" charset="0"/>
                <a:cs typeface="Times New Roman" panose="02020603050405020304" pitchFamily="18" charset="0"/>
              </a:rPr>
              <a:t>B</a:t>
            </a:r>
          </a:p>
        </p:txBody>
      </p:sp>
      <p:sp>
        <p:nvSpPr>
          <p:cNvPr id="14" name="Rectangle 13">
            <a:extLst>
              <a:ext uri="{FF2B5EF4-FFF2-40B4-BE49-F238E27FC236}">
                <a16:creationId xmlns:a16="http://schemas.microsoft.com/office/drawing/2014/main" id="{B9449642-C944-E252-F484-A84398FFA24E}"/>
              </a:ext>
            </a:extLst>
          </p:cNvPr>
          <p:cNvSpPr/>
          <p:nvPr/>
        </p:nvSpPr>
        <p:spPr>
          <a:xfrm>
            <a:off x="1643360" y="4763770"/>
            <a:ext cx="421774"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A</a:t>
            </a:r>
            <a:endParaRPr lang="en-CN" b="1">
              <a:solidFill>
                <a:schemeClr val="tx1"/>
              </a:solidFill>
              <a:latin typeface="Times New Roman" panose="02020603050405020304" pitchFamily="18"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B4BFFB50-0275-65BE-502B-5E07060CEAF3}"/>
              </a:ext>
            </a:extLst>
          </p:cNvPr>
          <p:cNvCxnSpPr>
            <a:cxnSpLocks/>
          </p:cNvCxnSpPr>
          <p:nvPr/>
        </p:nvCxnSpPr>
        <p:spPr>
          <a:xfrm>
            <a:off x="1861109" y="4381310"/>
            <a:ext cx="0" cy="379063"/>
          </a:xfrm>
          <a:prstGeom prst="line">
            <a:avLst/>
          </a:prstGeom>
          <a:ln w="38100">
            <a:solidFill>
              <a:schemeClr val="accent4">
                <a:lumMod val="75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2717676-F5D1-CE2C-3DB0-43E464F7299F}"/>
              </a:ext>
            </a:extLst>
          </p:cNvPr>
          <p:cNvCxnSpPr>
            <a:cxnSpLocks/>
            <a:stCxn id="13" idx="0"/>
          </p:cNvCxnSpPr>
          <p:nvPr/>
        </p:nvCxnSpPr>
        <p:spPr>
          <a:xfrm flipH="1" flipV="1">
            <a:off x="1895156" y="4393416"/>
            <a:ext cx="3034403" cy="362777"/>
          </a:xfrm>
          <a:prstGeom prst="line">
            <a:avLst/>
          </a:prstGeom>
          <a:ln w="38100">
            <a:solidFill>
              <a:schemeClr val="accent4">
                <a:lumMod val="75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1078719-9543-B055-B632-F38D51A540FC}"/>
              </a:ext>
            </a:extLst>
          </p:cNvPr>
          <p:cNvCxnSpPr>
            <a:cxnSpLocks/>
            <a:stCxn id="12" idx="0"/>
          </p:cNvCxnSpPr>
          <p:nvPr/>
        </p:nvCxnSpPr>
        <p:spPr>
          <a:xfrm flipV="1">
            <a:off x="1854247" y="3365650"/>
            <a:ext cx="0" cy="410836"/>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3C5A504-36DA-F791-FBF8-309F344056E1}"/>
              </a:ext>
            </a:extLst>
          </p:cNvPr>
          <p:cNvSpPr txBox="1"/>
          <p:nvPr/>
        </p:nvSpPr>
        <p:spPr>
          <a:xfrm>
            <a:off x="115456" y="4853401"/>
            <a:ext cx="1360948" cy="369332"/>
          </a:xfrm>
          <a:prstGeom prst="rect">
            <a:avLst/>
          </a:prstGeom>
          <a:noFill/>
        </p:spPr>
        <p:txBody>
          <a:bodyPr wrap="square" rtlCol="0">
            <a:spAutoFit/>
          </a:bodyPr>
          <a:lstStyle/>
          <a:p>
            <a:pPr algn="ctr"/>
            <a:r>
              <a:rPr lang="en-CN">
                <a:latin typeface="Aptos" panose="020B0004020202020204" pitchFamily="34" charset="0"/>
                <a:cs typeface="Times New Roman" panose="02020603050405020304" pitchFamily="18" charset="0"/>
              </a:rPr>
              <a:t>64B</a:t>
            </a:r>
            <a:r>
              <a:rPr lang="en-US" dirty="0">
                <a:latin typeface="Aptos" panose="020B0004020202020204" pitchFamily="34" charset="0"/>
                <a:cs typeface="Times New Roman" panose="02020603050405020304" pitchFamily="18" charset="0"/>
              </a:rPr>
              <a:t> </a:t>
            </a:r>
            <a:r>
              <a:rPr lang="en-CN">
                <a:latin typeface="Aptos" panose="020B0004020202020204" pitchFamily="34" charset="0"/>
                <a:cs typeface="Times New Roman" panose="02020603050405020304" pitchFamily="18" charset="0"/>
              </a:rPr>
              <a:t>Line</a:t>
            </a:r>
          </a:p>
        </p:txBody>
      </p:sp>
      <p:sp>
        <p:nvSpPr>
          <p:cNvPr id="19" name="Left Brace 18">
            <a:extLst>
              <a:ext uri="{FF2B5EF4-FFF2-40B4-BE49-F238E27FC236}">
                <a16:creationId xmlns:a16="http://schemas.microsoft.com/office/drawing/2014/main" id="{B73B00F4-7D44-134F-1C65-1B9AB5C4C593}"/>
              </a:ext>
            </a:extLst>
          </p:cNvPr>
          <p:cNvSpPr/>
          <p:nvPr/>
        </p:nvSpPr>
        <p:spPr>
          <a:xfrm>
            <a:off x="1262756" y="4763769"/>
            <a:ext cx="271730" cy="605323"/>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21" name="Rectangle 20">
            <a:extLst>
              <a:ext uri="{FF2B5EF4-FFF2-40B4-BE49-F238E27FC236}">
                <a16:creationId xmlns:a16="http://schemas.microsoft.com/office/drawing/2014/main" id="{94765DE1-C9C5-51B6-47CC-525A9E76A4EB}"/>
              </a:ext>
            </a:extLst>
          </p:cNvPr>
          <p:cNvSpPr/>
          <p:nvPr/>
        </p:nvSpPr>
        <p:spPr>
          <a:xfrm>
            <a:off x="7743069" y="4763769"/>
            <a:ext cx="3305042" cy="605324"/>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22" name="Rectangle 21">
            <a:extLst>
              <a:ext uri="{FF2B5EF4-FFF2-40B4-BE49-F238E27FC236}">
                <a16:creationId xmlns:a16="http://schemas.microsoft.com/office/drawing/2014/main" id="{28472BF1-E0B6-99E3-36F2-DFB825E38261}"/>
              </a:ext>
            </a:extLst>
          </p:cNvPr>
          <p:cNvSpPr/>
          <p:nvPr/>
        </p:nvSpPr>
        <p:spPr>
          <a:xfrm>
            <a:off x="7729380" y="3803351"/>
            <a:ext cx="3318731" cy="59006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M</a:t>
            </a:r>
            <a:r>
              <a:rPr lang="en-US" dirty="0">
                <a:solidFill>
                  <a:schemeClr val="tx1"/>
                </a:solidFill>
              </a:rPr>
              <a:t> GB</a:t>
            </a:r>
            <a:endParaRPr lang="en-CN" dirty="0">
              <a:solidFill>
                <a:schemeClr val="tx1"/>
              </a:solidFill>
            </a:endParaRPr>
          </a:p>
        </p:txBody>
      </p:sp>
      <p:sp>
        <p:nvSpPr>
          <p:cNvPr id="23" name="TextBox 22">
            <a:extLst>
              <a:ext uri="{FF2B5EF4-FFF2-40B4-BE49-F238E27FC236}">
                <a16:creationId xmlns:a16="http://schemas.microsoft.com/office/drawing/2014/main" id="{D9561EE8-7D36-5AEC-E9DA-B75F8BB87DFB}"/>
              </a:ext>
            </a:extLst>
          </p:cNvPr>
          <p:cNvSpPr txBox="1"/>
          <p:nvPr/>
        </p:nvSpPr>
        <p:spPr>
          <a:xfrm>
            <a:off x="7751838" y="2946149"/>
            <a:ext cx="3287503" cy="430887"/>
          </a:xfrm>
          <a:prstGeom prst="rect">
            <a:avLst/>
          </a:prstGeom>
          <a:noFill/>
        </p:spPr>
        <p:txBody>
          <a:bodyPr wrap="none" rtlCol="0">
            <a:spAutoFit/>
          </a:bodyPr>
          <a:lstStyle/>
          <a:p>
            <a:r>
              <a:rPr lang="en-US" sz="2200" b="1" dirty="0">
                <a:latin typeface="Aptos" panose="020B0004020202020204" pitchFamily="34" charset="0"/>
                <a:cs typeface="Times New Roman" panose="02020603050405020304" pitchFamily="18" charset="0"/>
              </a:rPr>
              <a:t>Dedicated</a:t>
            </a:r>
            <a:r>
              <a:rPr lang="en-US" sz="2200" dirty="0">
                <a:latin typeface="Aptos" panose="020B0004020202020204" pitchFamily="34" charset="0"/>
                <a:cs typeface="Times New Roman" panose="02020603050405020304" pitchFamily="18" charset="0"/>
              </a:rPr>
              <a:t> </a:t>
            </a:r>
            <a:r>
              <a:rPr lang="en-CN" sz="2200">
                <a:latin typeface="Aptos" panose="020B0004020202020204" pitchFamily="34" charset="0"/>
                <a:cs typeface="Times New Roman" panose="02020603050405020304" pitchFamily="18" charset="0"/>
              </a:rPr>
              <a:t>Local Memory</a:t>
            </a:r>
          </a:p>
        </p:txBody>
      </p:sp>
      <p:sp>
        <p:nvSpPr>
          <p:cNvPr id="24" name="Left Brace 23">
            <a:extLst>
              <a:ext uri="{FF2B5EF4-FFF2-40B4-BE49-F238E27FC236}">
                <a16:creationId xmlns:a16="http://schemas.microsoft.com/office/drawing/2014/main" id="{1140EB94-EB21-08E7-BDE4-A4795C3D16A6}"/>
              </a:ext>
            </a:extLst>
          </p:cNvPr>
          <p:cNvSpPr/>
          <p:nvPr/>
        </p:nvSpPr>
        <p:spPr>
          <a:xfrm rot="5400000">
            <a:off x="9257136" y="1859185"/>
            <a:ext cx="263212" cy="331872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25" name="Left Brace 24">
            <a:extLst>
              <a:ext uri="{FF2B5EF4-FFF2-40B4-BE49-F238E27FC236}">
                <a16:creationId xmlns:a16="http://schemas.microsoft.com/office/drawing/2014/main" id="{EA39B25C-CEFC-6520-C614-508275733CF2}"/>
              </a:ext>
            </a:extLst>
          </p:cNvPr>
          <p:cNvSpPr/>
          <p:nvPr/>
        </p:nvSpPr>
        <p:spPr>
          <a:xfrm rot="16200000">
            <a:off x="9301941" y="4014357"/>
            <a:ext cx="286326" cy="3191488"/>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26" name="TextBox 25">
            <a:extLst>
              <a:ext uri="{FF2B5EF4-FFF2-40B4-BE49-F238E27FC236}">
                <a16:creationId xmlns:a16="http://schemas.microsoft.com/office/drawing/2014/main" id="{F835A5D3-C640-7C7D-9195-44337969D794}"/>
              </a:ext>
            </a:extLst>
          </p:cNvPr>
          <p:cNvSpPr txBox="1"/>
          <p:nvPr/>
        </p:nvSpPr>
        <p:spPr>
          <a:xfrm>
            <a:off x="7581871" y="5702383"/>
            <a:ext cx="3726469" cy="769441"/>
          </a:xfrm>
          <a:prstGeom prst="rect">
            <a:avLst/>
          </a:prstGeom>
          <a:noFill/>
        </p:spPr>
        <p:txBody>
          <a:bodyPr wrap="none" rtlCol="0">
            <a:spAutoFit/>
          </a:bodyPr>
          <a:lstStyle/>
          <a:p>
            <a:pPr algn="ctr"/>
            <a:r>
              <a:rPr lang="en-CN" sz="2200" dirty="0">
                <a:latin typeface="Aptos" panose="020B0004020202020204" pitchFamily="34" charset="0"/>
                <a:cs typeface="Times New Roman" panose="02020603050405020304" pitchFamily="18" charset="0"/>
              </a:rPr>
              <a:t>Host Physical </a:t>
            </a:r>
            <a:r>
              <a:rPr lang="en-US" sz="2200" dirty="0">
                <a:latin typeface="Aptos" panose="020B0004020202020204" pitchFamily="34" charset="0"/>
                <a:cs typeface="Times New Roman" panose="02020603050405020304" pitchFamily="18" charset="0"/>
              </a:rPr>
              <a:t>Address</a:t>
            </a:r>
            <a:r>
              <a:rPr lang="en-CN" sz="2200" dirty="0">
                <a:latin typeface="Aptos" panose="020B0004020202020204" pitchFamily="34" charset="0"/>
                <a:cs typeface="Times New Roman" panose="02020603050405020304" pitchFamily="18" charset="0"/>
              </a:rPr>
              <a:t> </a:t>
            </a:r>
            <a:r>
              <a:rPr lang="en-US" sz="2200" dirty="0">
                <a:latin typeface="Aptos" panose="020B0004020202020204" pitchFamily="34" charset="0"/>
                <a:cs typeface="Times New Roman" panose="02020603050405020304" pitchFamily="18" charset="0"/>
              </a:rPr>
              <a:t>Space</a:t>
            </a:r>
          </a:p>
          <a:p>
            <a:pPr algn="ctr"/>
            <a:r>
              <a:rPr lang="en-US" sz="2200" dirty="0">
                <a:latin typeface="Aptos" panose="020B0004020202020204" pitchFamily="34" charset="0"/>
                <a:cs typeface="Times New Roman" panose="02020603050405020304" pitchFamily="18" charset="0"/>
              </a:rPr>
              <a:t>(Dedicated, </a:t>
            </a:r>
            <a:r>
              <a:rPr lang="en-US" sz="2200" i="1" dirty="0">
                <a:latin typeface="Aptos" panose="020B0004020202020204" pitchFamily="34" charset="0"/>
                <a:cs typeface="Times New Roman" panose="02020603050405020304" pitchFamily="18" charset="0"/>
              </a:rPr>
              <a:t>M</a:t>
            </a:r>
            <a:r>
              <a:rPr lang="en-US" sz="2200" dirty="0">
                <a:latin typeface="Aptos" panose="020B0004020202020204" pitchFamily="34" charset="0"/>
                <a:cs typeface="Times New Roman" panose="02020603050405020304" pitchFamily="18" charset="0"/>
              </a:rPr>
              <a:t> GB)</a:t>
            </a:r>
            <a:endParaRPr lang="en-CN" sz="2200" dirty="0">
              <a:latin typeface="Aptos" panose="020B0004020202020204" pitchFamily="34"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926F4C4A-F022-8C8A-D0E7-B6E297C02B2C}"/>
              </a:ext>
            </a:extLst>
          </p:cNvPr>
          <p:cNvCxnSpPr>
            <a:cxnSpLocks/>
          </p:cNvCxnSpPr>
          <p:nvPr/>
        </p:nvCxnSpPr>
        <p:spPr>
          <a:xfrm flipV="1">
            <a:off x="7959975" y="4393416"/>
            <a:ext cx="0" cy="410836"/>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9AEDFE5-EEF2-6A0E-A70B-0E21169939AA}"/>
              </a:ext>
            </a:extLst>
          </p:cNvPr>
          <p:cNvCxnSpPr>
            <a:cxnSpLocks/>
          </p:cNvCxnSpPr>
          <p:nvPr/>
        </p:nvCxnSpPr>
        <p:spPr>
          <a:xfrm flipV="1">
            <a:off x="8431766" y="4393416"/>
            <a:ext cx="0" cy="410836"/>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6522DD1-F0A6-D5BA-8F1B-A8E1C2977E0A}"/>
              </a:ext>
            </a:extLst>
          </p:cNvPr>
          <p:cNvSpPr txBox="1"/>
          <p:nvPr/>
        </p:nvSpPr>
        <p:spPr>
          <a:xfrm>
            <a:off x="8431766" y="4394437"/>
            <a:ext cx="3492110" cy="369332"/>
          </a:xfrm>
          <a:prstGeom prst="rect">
            <a:avLst/>
          </a:prstGeom>
          <a:noFill/>
        </p:spPr>
        <p:txBody>
          <a:bodyPr wrap="none" rtlCol="0">
            <a:spAutoFit/>
          </a:bodyPr>
          <a:lstStyle/>
          <a:p>
            <a:r>
              <a:rPr lang="en-US" dirty="0">
                <a:solidFill>
                  <a:schemeClr val="bg1">
                    <a:lumMod val="50000"/>
                  </a:schemeClr>
                </a:solidFill>
              </a:rPr>
              <a:t>Data always stay in local memory</a:t>
            </a:r>
          </a:p>
        </p:txBody>
      </p:sp>
      <p:sp>
        <p:nvSpPr>
          <p:cNvPr id="32" name="Slide Number Placeholder 31">
            <a:extLst>
              <a:ext uri="{FF2B5EF4-FFF2-40B4-BE49-F238E27FC236}">
                <a16:creationId xmlns:a16="http://schemas.microsoft.com/office/drawing/2014/main" id="{4803A840-CB28-45C0-75D5-3D3CFC8D863D}"/>
              </a:ext>
            </a:extLst>
          </p:cNvPr>
          <p:cNvSpPr>
            <a:spLocks noGrp="1"/>
          </p:cNvSpPr>
          <p:nvPr>
            <p:ph type="sldNum" sz="quarter" idx="12"/>
          </p:nvPr>
        </p:nvSpPr>
        <p:spPr/>
        <p:txBody>
          <a:bodyPr/>
          <a:lstStyle/>
          <a:p>
            <a:fld id="{5D76F006-5496-B946-A476-FEDACCAB686D}" type="slidenum">
              <a:rPr lang="en-CN" smtClean="0"/>
              <a:t>16</a:t>
            </a:fld>
            <a:endParaRPr lang="en-CN" dirty="0"/>
          </a:p>
        </p:txBody>
      </p:sp>
      <p:sp>
        <p:nvSpPr>
          <p:cNvPr id="3" name="TextBox 2">
            <a:extLst>
              <a:ext uri="{FF2B5EF4-FFF2-40B4-BE49-F238E27FC236}">
                <a16:creationId xmlns:a16="http://schemas.microsoft.com/office/drawing/2014/main" id="{F7098625-7D13-9BB7-A722-8D3081EDD8B6}"/>
              </a:ext>
            </a:extLst>
          </p:cNvPr>
          <p:cNvSpPr txBox="1"/>
          <p:nvPr/>
        </p:nvSpPr>
        <p:spPr>
          <a:xfrm>
            <a:off x="838200" y="1653830"/>
            <a:ext cx="10036722" cy="523220"/>
          </a:xfrm>
          <a:prstGeom prst="rect">
            <a:avLst/>
          </a:prstGeom>
          <a:noFill/>
        </p:spPr>
        <p:txBody>
          <a:bodyPr wrap="none" rtlCol="0">
            <a:spAutoFit/>
          </a:bodyPr>
          <a:lstStyle/>
          <a:p>
            <a:r>
              <a:rPr lang="en-CN" sz="2800" dirty="0"/>
              <a:t>Question: How to allocate dedicated local memory across VMs?</a:t>
            </a:r>
          </a:p>
        </p:txBody>
      </p:sp>
    </p:spTree>
    <p:extLst>
      <p:ext uri="{BB962C8B-B14F-4D97-AF65-F5344CB8AC3E}">
        <p14:creationId xmlns:p14="http://schemas.microsoft.com/office/powerpoint/2010/main" val="393186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p:bldP spid="24" grpId="0" animBg="1"/>
      <p:bldP spid="25" grpId="0" animBg="1"/>
      <p:bldP spid="26" grpId="0"/>
      <p:bldP spid="30"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51DC-D7AC-ECC8-DE9F-16B1EDB881F8}"/>
              </a:ext>
            </a:extLst>
          </p:cNvPr>
          <p:cNvSpPr>
            <a:spLocks noGrp="1"/>
          </p:cNvSpPr>
          <p:nvPr>
            <p:ph type="title"/>
          </p:nvPr>
        </p:nvSpPr>
        <p:spPr>
          <a:xfrm>
            <a:off x="838199" y="365125"/>
            <a:ext cx="10931013" cy="1325563"/>
          </a:xfrm>
        </p:spPr>
        <p:txBody>
          <a:bodyPr>
            <a:normAutofit/>
          </a:bodyPr>
          <a:lstStyle/>
          <a:p>
            <a:r>
              <a:rPr lang="en-CN" sz="4000" b="1"/>
              <a:t>Memstrata</a:t>
            </a:r>
            <a:r>
              <a:rPr lang="en-CN" sz="4000"/>
              <a:t>: Memory Allocator for Hardware Tiering</a:t>
            </a:r>
          </a:p>
        </p:txBody>
      </p:sp>
      <p:sp>
        <p:nvSpPr>
          <p:cNvPr id="3" name="Content Placeholder 2">
            <a:extLst>
              <a:ext uri="{FF2B5EF4-FFF2-40B4-BE49-F238E27FC236}">
                <a16:creationId xmlns:a16="http://schemas.microsoft.com/office/drawing/2014/main" id="{E2D5D4BC-3D82-77E8-D269-E3DE420C2485}"/>
              </a:ext>
            </a:extLst>
          </p:cNvPr>
          <p:cNvSpPr>
            <a:spLocks noGrp="1"/>
          </p:cNvSpPr>
          <p:nvPr>
            <p:ph idx="1"/>
          </p:nvPr>
        </p:nvSpPr>
        <p:spPr>
          <a:xfrm>
            <a:off x="838200" y="1825625"/>
            <a:ext cx="10706100" cy="4351338"/>
          </a:xfrm>
        </p:spPr>
        <p:txBody>
          <a:bodyPr/>
          <a:lstStyle/>
          <a:p>
            <a:r>
              <a:rPr lang="en-CN" dirty="0"/>
              <a:t>A lightweight memory allocator in the hypervisor</a:t>
            </a:r>
          </a:p>
          <a:p>
            <a:r>
              <a:rPr lang="en-CN" dirty="0">
                <a:solidFill>
                  <a:schemeClr val="accent3"/>
                </a:solidFill>
              </a:rPr>
              <a:t>Dynamically allocates dedicated memory to </a:t>
            </a:r>
            <a:r>
              <a:rPr lang="en-CN" b="1" dirty="0">
                <a:solidFill>
                  <a:schemeClr val="accent3"/>
                </a:solidFill>
              </a:rPr>
              <a:t>eliminate outliers</a:t>
            </a:r>
          </a:p>
          <a:p>
            <a:r>
              <a:rPr lang="en-CN" dirty="0">
                <a:solidFill>
                  <a:schemeClr val="accent3"/>
                </a:solidFill>
              </a:rPr>
              <a:t>Provides </a:t>
            </a:r>
            <a:r>
              <a:rPr lang="en-CN" b="1" dirty="0">
                <a:solidFill>
                  <a:schemeClr val="accent3"/>
                </a:solidFill>
              </a:rPr>
              <a:t>performance isolation </a:t>
            </a:r>
            <a:r>
              <a:rPr lang="en-CN" dirty="0">
                <a:solidFill>
                  <a:schemeClr val="accent3"/>
                </a:solidFill>
              </a:rPr>
              <a:t>between VMs using page coloring</a:t>
            </a:r>
          </a:p>
          <a:p>
            <a:pPr marL="0" indent="0">
              <a:buNone/>
            </a:pPr>
            <a:endParaRPr lang="en-CN" dirty="0"/>
          </a:p>
          <a:p>
            <a:pPr marL="0" indent="0">
              <a:buNone/>
            </a:pPr>
            <a:r>
              <a:rPr lang="en-CN" dirty="0"/>
              <a:t>Memstrata + hardware tiering reduces slowdown from 34% to ~5% across all workloads</a:t>
            </a:r>
          </a:p>
        </p:txBody>
      </p:sp>
      <p:sp>
        <p:nvSpPr>
          <p:cNvPr id="4" name="Slide Number Placeholder 3">
            <a:extLst>
              <a:ext uri="{FF2B5EF4-FFF2-40B4-BE49-F238E27FC236}">
                <a16:creationId xmlns:a16="http://schemas.microsoft.com/office/drawing/2014/main" id="{FCCBE597-4778-84CF-F4AF-ADFA21CE06BE}"/>
              </a:ext>
            </a:extLst>
          </p:cNvPr>
          <p:cNvSpPr>
            <a:spLocks noGrp="1"/>
          </p:cNvSpPr>
          <p:nvPr>
            <p:ph type="sldNum" sz="quarter" idx="12"/>
          </p:nvPr>
        </p:nvSpPr>
        <p:spPr/>
        <p:txBody>
          <a:bodyPr/>
          <a:lstStyle/>
          <a:p>
            <a:fld id="{5D76F006-5496-B946-A476-FEDACCAB686D}" type="slidenum">
              <a:rPr lang="en-CN" smtClean="0"/>
              <a:t>17</a:t>
            </a:fld>
            <a:endParaRPr lang="en-CN"/>
          </a:p>
        </p:txBody>
      </p:sp>
    </p:spTree>
    <p:extLst>
      <p:ext uri="{BB962C8B-B14F-4D97-AF65-F5344CB8AC3E}">
        <p14:creationId xmlns:p14="http://schemas.microsoft.com/office/powerpoint/2010/main" val="210288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FA51-E590-2E9D-0B26-5AACCA8EFCCB}"/>
              </a:ext>
            </a:extLst>
          </p:cNvPr>
          <p:cNvSpPr>
            <a:spLocks noGrp="1"/>
          </p:cNvSpPr>
          <p:nvPr>
            <p:ph type="title"/>
          </p:nvPr>
        </p:nvSpPr>
        <p:spPr/>
        <p:txBody>
          <a:bodyPr>
            <a:normAutofit/>
          </a:bodyPr>
          <a:lstStyle/>
          <a:p>
            <a:r>
              <a:rPr lang="en-CN" sz="3900" dirty="0"/>
              <a:t>Memstrata Dynamically Allocates Dedicated Pages</a:t>
            </a:r>
          </a:p>
        </p:txBody>
      </p:sp>
      <p:sp>
        <p:nvSpPr>
          <p:cNvPr id="4" name="Slide Number Placeholder 3">
            <a:extLst>
              <a:ext uri="{FF2B5EF4-FFF2-40B4-BE49-F238E27FC236}">
                <a16:creationId xmlns:a16="http://schemas.microsoft.com/office/drawing/2014/main" id="{83F9CB1A-3097-455C-7DE2-D267EAF21D0C}"/>
              </a:ext>
            </a:extLst>
          </p:cNvPr>
          <p:cNvSpPr>
            <a:spLocks noGrp="1"/>
          </p:cNvSpPr>
          <p:nvPr>
            <p:ph type="sldNum" sz="quarter" idx="12"/>
          </p:nvPr>
        </p:nvSpPr>
        <p:spPr/>
        <p:txBody>
          <a:bodyPr/>
          <a:lstStyle/>
          <a:p>
            <a:fld id="{5D76F006-5496-B946-A476-FEDACCAB686D}" type="slidenum">
              <a:rPr lang="en-CN" smtClean="0"/>
              <a:t>18</a:t>
            </a:fld>
            <a:endParaRPr lang="en-CN"/>
          </a:p>
        </p:txBody>
      </p:sp>
      <p:sp>
        <p:nvSpPr>
          <p:cNvPr id="5" name="Rectangle 4">
            <a:extLst>
              <a:ext uri="{FF2B5EF4-FFF2-40B4-BE49-F238E27FC236}">
                <a16:creationId xmlns:a16="http://schemas.microsoft.com/office/drawing/2014/main" id="{4FA6B26D-9216-6DAE-8E3A-41C1690F1DE5}"/>
              </a:ext>
            </a:extLst>
          </p:cNvPr>
          <p:cNvSpPr/>
          <p:nvPr/>
        </p:nvSpPr>
        <p:spPr>
          <a:xfrm rot="16200000">
            <a:off x="4729536" y="3870611"/>
            <a:ext cx="474453" cy="492341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2400"/>
          </a:p>
        </p:txBody>
      </p:sp>
      <p:sp>
        <p:nvSpPr>
          <p:cNvPr id="6" name="TextBox 5">
            <a:extLst>
              <a:ext uri="{FF2B5EF4-FFF2-40B4-BE49-F238E27FC236}">
                <a16:creationId xmlns:a16="http://schemas.microsoft.com/office/drawing/2014/main" id="{C1BD7381-ABC7-B705-F513-5F3796012C30}"/>
              </a:ext>
            </a:extLst>
          </p:cNvPr>
          <p:cNvSpPr txBox="1"/>
          <p:nvPr/>
        </p:nvSpPr>
        <p:spPr>
          <a:xfrm>
            <a:off x="3189642" y="6097948"/>
            <a:ext cx="3723520" cy="461665"/>
          </a:xfrm>
          <a:prstGeom prst="rect">
            <a:avLst/>
          </a:prstGeom>
          <a:noFill/>
        </p:spPr>
        <p:txBody>
          <a:bodyPr wrap="none" rtlCol="0">
            <a:spAutoFit/>
          </a:bodyPr>
          <a:lstStyle/>
          <a:p>
            <a:r>
              <a:rPr lang="en-CN" sz="2400" b="1" dirty="0"/>
              <a:t>Hardware-Tiered Memory</a:t>
            </a:r>
          </a:p>
        </p:txBody>
      </p:sp>
      <p:sp>
        <p:nvSpPr>
          <p:cNvPr id="7" name="Rectangle 6">
            <a:extLst>
              <a:ext uri="{FF2B5EF4-FFF2-40B4-BE49-F238E27FC236}">
                <a16:creationId xmlns:a16="http://schemas.microsoft.com/office/drawing/2014/main" id="{8BDE639C-8895-A920-D49B-365E0A3E9F44}"/>
              </a:ext>
            </a:extLst>
          </p:cNvPr>
          <p:cNvSpPr/>
          <p:nvPr/>
        </p:nvSpPr>
        <p:spPr>
          <a:xfrm rot="16200000">
            <a:off x="8347666" y="5390553"/>
            <a:ext cx="474453" cy="188352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TextBox 7">
            <a:extLst>
              <a:ext uri="{FF2B5EF4-FFF2-40B4-BE49-F238E27FC236}">
                <a16:creationId xmlns:a16="http://schemas.microsoft.com/office/drawing/2014/main" id="{CE4D7BAB-A437-7B38-EA54-C812B21A225B}"/>
              </a:ext>
            </a:extLst>
          </p:cNvPr>
          <p:cNvSpPr txBox="1"/>
          <p:nvPr/>
        </p:nvSpPr>
        <p:spPr>
          <a:xfrm>
            <a:off x="7945706" y="6039928"/>
            <a:ext cx="1371787" cy="584775"/>
          </a:xfrm>
          <a:prstGeom prst="rect">
            <a:avLst/>
          </a:prstGeom>
          <a:noFill/>
        </p:spPr>
        <p:txBody>
          <a:bodyPr wrap="none" rtlCol="0">
            <a:spAutoFit/>
          </a:bodyPr>
          <a:lstStyle/>
          <a:p>
            <a:pPr algn="ctr"/>
            <a:r>
              <a:rPr lang="en-CN" sz="1600" b="1"/>
              <a:t>Dedicated</a:t>
            </a:r>
          </a:p>
          <a:p>
            <a:pPr algn="ctr"/>
            <a:r>
              <a:rPr lang="en-CN" sz="1600"/>
              <a:t>Local Memory</a:t>
            </a:r>
          </a:p>
        </p:txBody>
      </p:sp>
      <p:cxnSp>
        <p:nvCxnSpPr>
          <p:cNvPr id="9" name="Straight Connector 8">
            <a:extLst>
              <a:ext uri="{FF2B5EF4-FFF2-40B4-BE49-F238E27FC236}">
                <a16:creationId xmlns:a16="http://schemas.microsoft.com/office/drawing/2014/main" id="{08B80A1F-01C5-7CD0-DB90-15544BB1671E}"/>
              </a:ext>
            </a:extLst>
          </p:cNvPr>
          <p:cNvCxnSpPr>
            <a:cxnSpLocks/>
          </p:cNvCxnSpPr>
          <p:nvPr/>
        </p:nvCxnSpPr>
        <p:spPr>
          <a:xfrm>
            <a:off x="2133470" y="5711900"/>
            <a:ext cx="7393186"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6BDDEDB-D4AD-6A82-A354-F5ECD3E9980A}"/>
              </a:ext>
            </a:extLst>
          </p:cNvPr>
          <p:cNvSpPr txBox="1"/>
          <p:nvPr/>
        </p:nvSpPr>
        <p:spPr>
          <a:xfrm>
            <a:off x="2051698" y="5720527"/>
            <a:ext cx="1104085" cy="369332"/>
          </a:xfrm>
          <a:prstGeom prst="rect">
            <a:avLst/>
          </a:prstGeom>
          <a:noFill/>
        </p:spPr>
        <p:txBody>
          <a:bodyPr wrap="none" rtlCol="0">
            <a:spAutoFit/>
          </a:bodyPr>
          <a:lstStyle/>
          <a:p>
            <a:r>
              <a:rPr lang="en-CN"/>
              <a:t>Hardware</a:t>
            </a:r>
          </a:p>
        </p:txBody>
      </p:sp>
      <p:sp>
        <p:nvSpPr>
          <p:cNvPr id="11" name="TextBox 10">
            <a:extLst>
              <a:ext uri="{FF2B5EF4-FFF2-40B4-BE49-F238E27FC236}">
                <a16:creationId xmlns:a16="http://schemas.microsoft.com/office/drawing/2014/main" id="{F2A340AC-9B5B-3955-025A-6429870E5DBD}"/>
              </a:ext>
            </a:extLst>
          </p:cNvPr>
          <p:cNvSpPr txBox="1"/>
          <p:nvPr/>
        </p:nvSpPr>
        <p:spPr>
          <a:xfrm>
            <a:off x="2051698" y="5297476"/>
            <a:ext cx="1025474" cy="369332"/>
          </a:xfrm>
          <a:prstGeom prst="rect">
            <a:avLst/>
          </a:prstGeom>
          <a:noFill/>
        </p:spPr>
        <p:txBody>
          <a:bodyPr wrap="none" rtlCol="0">
            <a:spAutoFit/>
          </a:bodyPr>
          <a:lstStyle/>
          <a:p>
            <a:r>
              <a:rPr lang="en-CN"/>
              <a:t>Software</a:t>
            </a:r>
          </a:p>
        </p:txBody>
      </p:sp>
      <p:sp>
        <p:nvSpPr>
          <p:cNvPr id="21" name="Rectangle 20">
            <a:extLst>
              <a:ext uri="{FF2B5EF4-FFF2-40B4-BE49-F238E27FC236}">
                <a16:creationId xmlns:a16="http://schemas.microsoft.com/office/drawing/2014/main" id="{D374CC66-CF0D-F077-B75B-E148C49380BD}"/>
              </a:ext>
            </a:extLst>
          </p:cNvPr>
          <p:cNvSpPr/>
          <p:nvPr/>
        </p:nvSpPr>
        <p:spPr>
          <a:xfrm>
            <a:off x="7751788" y="3670537"/>
            <a:ext cx="1254887" cy="1099587"/>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HW-Tiered Pages</a:t>
            </a:r>
          </a:p>
        </p:txBody>
      </p:sp>
      <p:sp>
        <p:nvSpPr>
          <p:cNvPr id="22" name="Rectangle 21">
            <a:extLst>
              <a:ext uri="{FF2B5EF4-FFF2-40B4-BE49-F238E27FC236}">
                <a16:creationId xmlns:a16="http://schemas.microsoft.com/office/drawing/2014/main" id="{89275447-ED11-9419-E540-287A080F5468}"/>
              </a:ext>
            </a:extLst>
          </p:cNvPr>
          <p:cNvSpPr/>
          <p:nvPr/>
        </p:nvSpPr>
        <p:spPr>
          <a:xfrm>
            <a:off x="7748913" y="4770124"/>
            <a:ext cx="1254887" cy="514710"/>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Dedicated Pages</a:t>
            </a:r>
          </a:p>
        </p:txBody>
      </p:sp>
      <p:sp>
        <p:nvSpPr>
          <p:cNvPr id="23" name="TextBox 22">
            <a:extLst>
              <a:ext uri="{FF2B5EF4-FFF2-40B4-BE49-F238E27FC236}">
                <a16:creationId xmlns:a16="http://schemas.microsoft.com/office/drawing/2014/main" id="{04B02F3D-2B10-B55B-609B-4829C30CB53E}"/>
              </a:ext>
            </a:extLst>
          </p:cNvPr>
          <p:cNvSpPr txBox="1"/>
          <p:nvPr/>
        </p:nvSpPr>
        <p:spPr>
          <a:xfrm>
            <a:off x="3541429" y="3317546"/>
            <a:ext cx="683200" cy="369332"/>
          </a:xfrm>
          <a:prstGeom prst="rect">
            <a:avLst/>
          </a:prstGeom>
          <a:noFill/>
        </p:spPr>
        <p:txBody>
          <a:bodyPr wrap="square" rtlCol="0">
            <a:spAutoFit/>
          </a:bodyPr>
          <a:lstStyle/>
          <a:p>
            <a:r>
              <a:rPr lang="en-CN" dirty="0"/>
              <a:t>VM 1</a:t>
            </a:r>
          </a:p>
        </p:txBody>
      </p:sp>
      <p:sp>
        <p:nvSpPr>
          <p:cNvPr id="24" name="TextBox 23">
            <a:extLst>
              <a:ext uri="{FF2B5EF4-FFF2-40B4-BE49-F238E27FC236}">
                <a16:creationId xmlns:a16="http://schemas.microsoft.com/office/drawing/2014/main" id="{EBC8DC2D-9D7E-1CEF-598C-52680E69B6E7}"/>
              </a:ext>
            </a:extLst>
          </p:cNvPr>
          <p:cNvSpPr txBox="1"/>
          <p:nvPr/>
        </p:nvSpPr>
        <p:spPr>
          <a:xfrm>
            <a:off x="5646608" y="3337020"/>
            <a:ext cx="683200" cy="369332"/>
          </a:xfrm>
          <a:prstGeom prst="rect">
            <a:avLst/>
          </a:prstGeom>
          <a:noFill/>
        </p:spPr>
        <p:txBody>
          <a:bodyPr wrap="none" rtlCol="0">
            <a:spAutoFit/>
          </a:bodyPr>
          <a:lstStyle/>
          <a:p>
            <a:r>
              <a:rPr lang="en-CN"/>
              <a:t>VM 2</a:t>
            </a:r>
          </a:p>
        </p:txBody>
      </p:sp>
      <p:sp>
        <p:nvSpPr>
          <p:cNvPr id="25" name="TextBox 24">
            <a:extLst>
              <a:ext uri="{FF2B5EF4-FFF2-40B4-BE49-F238E27FC236}">
                <a16:creationId xmlns:a16="http://schemas.microsoft.com/office/drawing/2014/main" id="{E7535DA8-3D2B-A987-658C-A0116392A96C}"/>
              </a:ext>
            </a:extLst>
          </p:cNvPr>
          <p:cNvSpPr txBox="1"/>
          <p:nvPr/>
        </p:nvSpPr>
        <p:spPr>
          <a:xfrm>
            <a:off x="8037631" y="3334460"/>
            <a:ext cx="683200" cy="369332"/>
          </a:xfrm>
          <a:prstGeom prst="rect">
            <a:avLst/>
          </a:prstGeom>
          <a:noFill/>
        </p:spPr>
        <p:txBody>
          <a:bodyPr wrap="none" rtlCol="0">
            <a:spAutoFit/>
          </a:bodyPr>
          <a:lstStyle/>
          <a:p>
            <a:r>
              <a:rPr lang="en-CN" dirty="0"/>
              <a:t>VM 3</a:t>
            </a:r>
          </a:p>
        </p:txBody>
      </p:sp>
      <p:sp>
        <p:nvSpPr>
          <p:cNvPr id="26" name="Rectangle 25">
            <a:extLst>
              <a:ext uri="{FF2B5EF4-FFF2-40B4-BE49-F238E27FC236}">
                <a16:creationId xmlns:a16="http://schemas.microsoft.com/office/drawing/2014/main" id="{3C2081C8-D059-7D8E-E4D0-73577429D52B}"/>
              </a:ext>
            </a:extLst>
          </p:cNvPr>
          <p:cNvSpPr/>
          <p:nvPr/>
        </p:nvSpPr>
        <p:spPr>
          <a:xfrm>
            <a:off x="5360765" y="3670537"/>
            <a:ext cx="1254887" cy="1091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HW-Tiered Pages</a:t>
            </a:r>
          </a:p>
        </p:txBody>
      </p:sp>
      <p:sp>
        <p:nvSpPr>
          <p:cNvPr id="27" name="Rectangle 26">
            <a:extLst>
              <a:ext uri="{FF2B5EF4-FFF2-40B4-BE49-F238E27FC236}">
                <a16:creationId xmlns:a16="http://schemas.microsoft.com/office/drawing/2014/main" id="{0E0ABE69-9CD1-6940-C292-7BC1C199EC04}"/>
              </a:ext>
            </a:extLst>
          </p:cNvPr>
          <p:cNvSpPr/>
          <p:nvPr/>
        </p:nvSpPr>
        <p:spPr>
          <a:xfrm>
            <a:off x="5357890" y="4762450"/>
            <a:ext cx="1254887" cy="514710"/>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Dedicated Pages</a:t>
            </a:r>
          </a:p>
        </p:txBody>
      </p:sp>
      <p:sp>
        <p:nvSpPr>
          <p:cNvPr id="28" name="Rectangle 27">
            <a:extLst>
              <a:ext uri="{FF2B5EF4-FFF2-40B4-BE49-F238E27FC236}">
                <a16:creationId xmlns:a16="http://schemas.microsoft.com/office/drawing/2014/main" id="{9274CA31-181D-04DE-451B-22CA61717201}"/>
              </a:ext>
            </a:extLst>
          </p:cNvPr>
          <p:cNvSpPr/>
          <p:nvPr/>
        </p:nvSpPr>
        <p:spPr>
          <a:xfrm>
            <a:off x="3213423" y="3674521"/>
            <a:ext cx="1254887" cy="1099587"/>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HW-Tiered Pages</a:t>
            </a:r>
          </a:p>
        </p:txBody>
      </p:sp>
      <p:sp>
        <p:nvSpPr>
          <p:cNvPr id="29" name="Rectangle 28">
            <a:extLst>
              <a:ext uri="{FF2B5EF4-FFF2-40B4-BE49-F238E27FC236}">
                <a16:creationId xmlns:a16="http://schemas.microsoft.com/office/drawing/2014/main" id="{6CD1AD8E-88C9-C435-02F2-C5F6129F6C8F}"/>
              </a:ext>
            </a:extLst>
          </p:cNvPr>
          <p:cNvSpPr/>
          <p:nvPr/>
        </p:nvSpPr>
        <p:spPr>
          <a:xfrm>
            <a:off x="3210548" y="4774108"/>
            <a:ext cx="1254887" cy="514710"/>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Dedicated Pages</a:t>
            </a:r>
          </a:p>
        </p:txBody>
      </p:sp>
      <p:sp>
        <p:nvSpPr>
          <p:cNvPr id="30" name="Rectangle 29">
            <a:extLst>
              <a:ext uri="{FF2B5EF4-FFF2-40B4-BE49-F238E27FC236}">
                <a16:creationId xmlns:a16="http://schemas.microsoft.com/office/drawing/2014/main" id="{4FE14E03-DF67-F811-1624-A513CB7FA21E}"/>
              </a:ext>
            </a:extLst>
          </p:cNvPr>
          <p:cNvSpPr/>
          <p:nvPr/>
        </p:nvSpPr>
        <p:spPr>
          <a:xfrm>
            <a:off x="3576430" y="1529405"/>
            <a:ext cx="4817806" cy="1192046"/>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1" name="TextBox 30">
            <a:extLst>
              <a:ext uri="{FF2B5EF4-FFF2-40B4-BE49-F238E27FC236}">
                <a16:creationId xmlns:a16="http://schemas.microsoft.com/office/drawing/2014/main" id="{243BCE89-EF76-50AA-07B3-0216F35CE3D8}"/>
              </a:ext>
            </a:extLst>
          </p:cNvPr>
          <p:cNvSpPr txBox="1"/>
          <p:nvPr/>
        </p:nvSpPr>
        <p:spPr>
          <a:xfrm>
            <a:off x="5124987" y="1562540"/>
            <a:ext cx="1595245" cy="461665"/>
          </a:xfrm>
          <a:prstGeom prst="rect">
            <a:avLst/>
          </a:prstGeom>
          <a:noFill/>
        </p:spPr>
        <p:txBody>
          <a:bodyPr wrap="none" rtlCol="0">
            <a:spAutoFit/>
          </a:bodyPr>
          <a:lstStyle/>
          <a:p>
            <a:pPr algn="ctr"/>
            <a:r>
              <a:rPr lang="en-CN" sz="2400" b="1" dirty="0"/>
              <a:t>Memstrata</a:t>
            </a:r>
            <a:endParaRPr lang="en-CN" sz="2400" dirty="0"/>
          </a:p>
        </p:txBody>
      </p:sp>
      <p:sp>
        <p:nvSpPr>
          <p:cNvPr id="13" name="TextBox 12">
            <a:extLst>
              <a:ext uri="{FF2B5EF4-FFF2-40B4-BE49-F238E27FC236}">
                <a16:creationId xmlns:a16="http://schemas.microsoft.com/office/drawing/2014/main" id="{4D78748C-DF78-B9A4-6229-BC9A4D0A6A87}"/>
              </a:ext>
            </a:extLst>
          </p:cNvPr>
          <p:cNvSpPr txBox="1"/>
          <p:nvPr/>
        </p:nvSpPr>
        <p:spPr>
          <a:xfrm>
            <a:off x="3077172" y="2989519"/>
            <a:ext cx="1639873" cy="369332"/>
          </a:xfrm>
          <a:prstGeom prst="rect">
            <a:avLst/>
          </a:prstGeom>
          <a:noFill/>
        </p:spPr>
        <p:txBody>
          <a:bodyPr wrap="none" rtlCol="0">
            <a:spAutoFit/>
          </a:bodyPr>
          <a:lstStyle/>
          <a:p>
            <a:r>
              <a:rPr lang="en-CN" dirty="0">
                <a:solidFill>
                  <a:schemeClr val="accent3"/>
                </a:solidFill>
              </a:rPr>
              <a:t>Slowdown: </a:t>
            </a:r>
            <a:r>
              <a:rPr lang="en-CN" b="1" dirty="0">
                <a:solidFill>
                  <a:schemeClr val="accent3"/>
                </a:solidFill>
              </a:rPr>
              <a:t>2%</a:t>
            </a:r>
          </a:p>
        </p:txBody>
      </p:sp>
      <p:sp>
        <p:nvSpPr>
          <p:cNvPr id="14" name="TextBox 13">
            <a:extLst>
              <a:ext uri="{FF2B5EF4-FFF2-40B4-BE49-F238E27FC236}">
                <a16:creationId xmlns:a16="http://schemas.microsoft.com/office/drawing/2014/main" id="{CF0B5E0C-2976-1445-A1E8-71A8FE5F792F}"/>
              </a:ext>
            </a:extLst>
          </p:cNvPr>
          <p:cNvSpPr txBox="1"/>
          <p:nvPr/>
        </p:nvSpPr>
        <p:spPr>
          <a:xfrm>
            <a:off x="5213013" y="2989519"/>
            <a:ext cx="1636666" cy="369332"/>
          </a:xfrm>
          <a:prstGeom prst="rect">
            <a:avLst/>
          </a:prstGeom>
          <a:noFill/>
        </p:spPr>
        <p:txBody>
          <a:bodyPr wrap="none" rtlCol="0">
            <a:spAutoFit/>
          </a:bodyPr>
          <a:lstStyle/>
          <a:p>
            <a:r>
              <a:rPr lang="en-CN" dirty="0">
                <a:solidFill>
                  <a:schemeClr val="accent3"/>
                </a:solidFill>
              </a:rPr>
              <a:t>Slowdown: </a:t>
            </a:r>
            <a:r>
              <a:rPr lang="en-CN" b="1" dirty="0">
                <a:solidFill>
                  <a:schemeClr val="accent3"/>
                </a:solidFill>
              </a:rPr>
              <a:t>0%</a:t>
            </a:r>
          </a:p>
        </p:txBody>
      </p:sp>
      <p:sp>
        <p:nvSpPr>
          <p:cNvPr id="15" name="TextBox 14">
            <a:extLst>
              <a:ext uri="{FF2B5EF4-FFF2-40B4-BE49-F238E27FC236}">
                <a16:creationId xmlns:a16="http://schemas.microsoft.com/office/drawing/2014/main" id="{348300F2-1AED-E636-E368-7A08CD295207}"/>
              </a:ext>
            </a:extLst>
          </p:cNvPr>
          <p:cNvSpPr txBox="1"/>
          <p:nvPr/>
        </p:nvSpPr>
        <p:spPr>
          <a:xfrm>
            <a:off x="7517999" y="2985909"/>
            <a:ext cx="1760418" cy="369332"/>
          </a:xfrm>
          <a:prstGeom prst="rect">
            <a:avLst/>
          </a:prstGeom>
          <a:noFill/>
        </p:spPr>
        <p:txBody>
          <a:bodyPr wrap="none" rtlCol="0">
            <a:spAutoFit/>
          </a:bodyPr>
          <a:lstStyle/>
          <a:p>
            <a:r>
              <a:rPr lang="en-CN" dirty="0">
                <a:solidFill>
                  <a:srgbClr val="C00000"/>
                </a:solidFill>
              </a:rPr>
              <a:t>Slowdown: </a:t>
            </a:r>
            <a:r>
              <a:rPr lang="en-CN" b="1" dirty="0">
                <a:solidFill>
                  <a:srgbClr val="C00000"/>
                </a:solidFill>
              </a:rPr>
              <a:t>15%</a:t>
            </a:r>
          </a:p>
        </p:txBody>
      </p:sp>
      <p:sp>
        <p:nvSpPr>
          <p:cNvPr id="16" name="Rounded Rectangle 15">
            <a:extLst>
              <a:ext uri="{FF2B5EF4-FFF2-40B4-BE49-F238E27FC236}">
                <a16:creationId xmlns:a16="http://schemas.microsoft.com/office/drawing/2014/main" id="{8E5F6FB5-0291-4991-BA54-9FFDF5387F23}"/>
              </a:ext>
            </a:extLst>
          </p:cNvPr>
          <p:cNvSpPr/>
          <p:nvPr/>
        </p:nvSpPr>
        <p:spPr>
          <a:xfrm>
            <a:off x="7245663" y="2956320"/>
            <a:ext cx="2191578" cy="2496233"/>
          </a:xfrm>
          <a:prstGeom prst="roundRect">
            <a:avLst/>
          </a:prstGeom>
          <a:noFill/>
          <a:ln w="28575">
            <a:solidFill>
              <a:srgbClr val="C0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8" name="Rectangle 17">
            <a:extLst>
              <a:ext uri="{FF2B5EF4-FFF2-40B4-BE49-F238E27FC236}">
                <a16:creationId xmlns:a16="http://schemas.microsoft.com/office/drawing/2014/main" id="{DEF25FA0-A798-E4FD-EF68-C84C3F295FB3}"/>
              </a:ext>
            </a:extLst>
          </p:cNvPr>
          <p:cNvSpPr/>
          <p:nvPr/>
        </p:nvSpPr>
        <p:spPr>
          <a:xfrm>
            <a:off x="3736808" y="2007709"/>
            <a:ext cx="2111730" cy="5691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2000" dirty="0">
                <a:solidFill>
                  <a:schemeClr val="tx1"/>
                </a:solidFill>
              </a:rPr>
              <a:t>Identify Outliers</a:t>
            </a:r>
          </a:p>
        </p:txBody>
      </p:sp>
      <p:sp>
        <p:nvSpPr>
          <p:cNvPr id="33" name="Rectangle 32">
            <a:extLst>
              <a:ext uri="{FF2B5EF4-FFF2-40B4-BE49-F238E27FC236}">
                <a16:creationId xmlns:a16="http://schemas.microsoft.com/office/drawing/2014/main" id="{36439C7E-1C5B-0634-9095-BB4706C201CE}"/>
              </a:ext>
            </a:extLst>
          </p:cNvPr>
          <p:cNvSpPr/>
          <p:nvPr/>
        </p:nvSpPr>
        <p:spPr>
          <a:xfrm>
            <a:off x="6132777" y="2019127"/>
            <a:ext cx="2111729" cy="5691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2000" dirty="0">
                <a:solidFill>
                  <a:schemeClr val="tx1"/>
                </a:solidFill>
              </a:rPr>
              <a:t>Dynamic Page Allocator</a:t>
            </a:r>
          </a:p>
        </p:txBody>
      </p:sp>
    </p:spTree>
    <p:extLst>
      <p:ext uri="{BB962C8B-B14F-4D97-AF65-F5344CB8AC3E}">
        <p14:creationId xmlns:p14="http://schemas.microsoft.com/office/powerpoint/2010/main" val="228866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50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500"/>
                                        <p:tgtEl>
                                          <p:spTgt spid="3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500"/>
                                        <p:tgtEl>
                                          <p:spTgt spid="1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21" grpId="0" animBg="1"/>
      <p:bldP spid="22" grpId="0" animBg="1"/>
      <p:bldP spid="23" grpId="0"/>
      <p:bldP spid="24" grpId="0"/>
      <p:bldP spid="25" grpId="0"/>
      <p:bldP spid="26" grpId="0" animBg="1"/>
      <p:bldP spid="27" grpId="0" animBg="1"/>
      <p:bldP spid="28" grpId="0" animBg="1"/>
      <p:bldP spid="29" grpId="0" animBg="1"/>
      <p:bldP spid="30" grpId="0" animBg="1"/>
      <p:bldP spid="31" grpId="0"/>
      <p:bldP spid="13" grpId="0"/>
      <p:bldP spid="14" grpId="0"/>
      <p:bldP spid="15" grpId="0"/>
      <p:bldP spid="16" grpId="0" animBg="1"/>
      <p:bldP spid="18" grpId="0" animBg="1"/>
      <p:bldP spid="3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E6FCF-6444-D377-5BC0-487DD4684247}"/>
              </a:ext>
            </a:extLst>
          </p:cNvPr>
          <p:cNvSpPr>
            <a:spLocks noGrp="1"/>
          </p:cNvSpPr>
          <p:nvPr>
            <p:ph type="title"/>
          </p:nvPr>
        </p:nvSpPr>
        <p:spPr/>
        <p:txBody>
          <a:bodyPr>
            <a:normAutofit/>
          </a:bodyPr>
          <a:lstStyle/>
          <a:p>
            <a:r>
              <a:rPr lang="en-CN" sz="4000" dirty="0"/>
              <a:t>Identifying Outliers in Hypervisor Is Challenging</a:t>
            </a:r>
          </a:p>
        </p:txBody>
      </p:sp>
      <p:sp>
        <p:nvSpPr>
          <p:cNvPr id="3" name="Content Placeholder 2">
            <a:extLst>
              <a:ext uri="{FF2B5EF4-FFF2-40B4-BE49-F238E27FC236}">
                <a16:creationId xmlns:a16="http://schemas.microsoft.com/office/drawing/2014/main" id="{F6E468A9-E9E5-96F9-871F-68B3DDE3AB22}"/>
              </a:ext>
            </a:extLst>
          </p:cNvPr>
          <p:cNvSpPr>
            <a:spLocks noGrp="1"/>
          </p:cNvSpPr>
          <p:nvPr>
            <p:ph idx="1"/>
          </p:nvPr>
        </p:nvSpPr>
        <p:spPr>
          <a:xfrm>
            <a:off x="838200" y="1825625"/>
            <a:ext cx="10734368" cy="4351338"/>
          </a:xfrm>
        </p:spPr>
        <p:txBody>
          <a:bodyPr/>
          <a:lstStyle/>
          <a:p>
            <a:pPr marL="0" indent="0">
              <a:buNone/>
            </a:pPr>
            <a:r>
              <a:rPr lang="en-CN" dirty="0"/>
              <a:t>Challenges:</a:t>
            </a:r>
          </a:p>
          <a:p>
            <a:r>
              <a:rPr lang="en-CN" dirty="0"/>
              <a:t>Hypervisor is unaware of VM workloads</a:t>
            </a:r>
          </a:p>
          <a:p>
            <a:r>
              <a:rPr lang="en-CN" dirty="0"/>
              <a:t>Hardware tiering only provides system-wide local memory miss rate</a:t>
            </a:r>
          </a:p>
          <a:p>
            <a:endParaRPr lang="en-CN" dirty="0"/>
          </a:p>
          <a:p>
            <a:pPr marL="0" indent="0">
              <a:buNone/>
            </a:pPr>
            <a:r>
              <a:rPr lang="en-CN" dirty="0"/>
              <a:t>We build a </a:t>
            </a:r>
            <a:r>
              <a:rPr lang="en-CN" b="1" dirty="0"/>
              <a:t>lightweight prediction model </a:t>
            </a:r>
            <a:r>
              <a:rPr lang="en-CN" dirty="0"/>
              <a:t>to identify outliers using low-level performance metrics</a:t>
            </a:r>
          </a:p>
          <a:p>
            <a:r>
              <a:rPr lang="en-CN" b="1" dirty="0"/>
              <a:t>Per-core</a:t>
            </a:r>
            <a:r>
              <a:rPr lang="en-CN" dirty="0"/>
              <a:t> metric: L3 miss latency correlates with miss ratio</a:t>
            </a:r>
          </a:p>
        </p:txBody>
      </p:sp>
      <p:sp>
        <p:nvSpPr>
          <p:cNvPr id="4" name="Slide Number Placeholder 3">
            <a:extLst>
              <a:ext uri="{FF2B5EF4-FFF2-40B4-BE49-F238E27FC236}">
                <a16:creationId xmlns:a16="http://schemas.microsoft.com/office/drawing/2014/main" id="{CBA9B5BA-E82D-D937-82B1-0D5C780F0CEC}"/>
              </a:ext>
            </a:extLst>
          </p:cNvPr>
          <p:cNvSpPr>
            <a:spLocks noGrp="1"/>
          </p:cNvSpPr>
          <p:nvPr>
            <p:ph type="sldNum" sz="quarter" idx="12"/>
          </p:nvPr>
        </p:nvSpPr>
        <p:spPr/>
        <p:txBody>
          <a:bodyPr/>
          <a:lstStyle/>
          <a:p>
            <a:fld id="{5D76F006-5496-B946-A476-FEDACCAB686D}" type="slidenum">
              <a:rPr lang="en-CN" smtClean="0"/>
              <a:t>19</a:t>
            </a:fld>
            <a:endParaRPr lang="en-CN"/>
          </a:p>
        </p:txBody>
      </p:sp>
    </p:spTree>
    <p:extLst>
      <p:ext uri="{BB962C8B-B14F-4D97-AF65-F5344CB8AC3E}">
        <p14:creationId xmlns:p14="http://schemas.microsoft.com/office/powerpoint/2010/main" val="216130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FA51-E590-2E9D-0B26-5AACCA8EFCCB}"/>
              </a:ext>
            </a:extLst>
          </p:cNvPr>
          <p:cNvSpPr>
            <a:spLocks noGrp="1"/>
          </p:cNvSpPr>
          <p:nvPr>
            <p:ph type="title"/>
          </p:nvPr>
        </p:nvSpPr>
        <p:spPr/>
        <p:txBody>
          <a:bodyPr>
            <a:normAutofit/>
          </a:bodyPr>
          <a:lstStyle/>
          <a:p>
            <a:r>
              <a:rPr lang="en-CN" sz="3900" dirty="0"/>
              <a:t>Memstrata Dynamically Allocates Dedicated Pages</a:t>
            </a:r>
          </a:p>
        </p:txBody>
      </p:sp>
      <p:sp>
        <p:nvSpPr>
          <p:cNvPr id="4" name="Slide Number Placeholder 3">
            <a:extLst>
              <a:ext uri="{FF2B5EF4-FFF2-40B4-BE49-F238E27FC236}">
                <a16:creationId xmlns:a16="http://schemas.microsoft.com/office/drawing/2014/main" id="{83F9CB1A-3097-455C-7DE2-D267EAF21D0C}"/>
              </a:ext>
            </a:extLst>
          </p:cNvPr>
          <p:cNvSpPr>
            <a:spLocks noGrp="1"/>
          </p:cNvSpPr>
          <p:nvPr>
            <p:ph type="sldNum" sz="quarter" idx="12"/>
          </p:nvPr>
        </p:nvSpPr>
        <p:spPr/>
        <p:txBody>
          <a:bodyPr/>
          <a:lstStyle/>
          <a:p>
            <a:fld id="{5D76F006-5496-B946-A476-FEDACCAB686D}" type="slidenum">
              <a:rPr lang="en-CN" smtClean="0"/>
              <a:t>20</a:t>
            </a:fld>
            <a:endParaRPr lang="en-CN"/>
          </a:p>
        </p:txBody>
      </p:sp>
      <p:sp>
        <p:nvSpPr>
          <p:cNvPr id="5" name="Rectangle 4">
            <a:extLst>
              <a:ext uri="{FF2B5EF4-FFF2-40B4-BE49-F238E27FC236}">
                <a16:creationId xmlns:a16="http://schemas.microsoft.com/office/drawing/2014/main" id="{4FA6B26D-9216-6DAE-8E3A-41C1690F1DE5}"/>
              </a:ext>
            </a:extLst>
          </p:cNvPr>
          <p:cNvSpPr/>
          <p:nvPr/>
        </p:nvSpPr>
        <p:spPr>
          <a:xfrm rot="16200000">
            <a:off x="4729536" y="3870611"/>
            <a:ext cx="474453" cy="492341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2400"/>
          </a:p>
        </p:txBody>
      </p:sp>
      <p:sp>
        <p:nvSpPr>
          <p:cNvPr id="6" name="TextBox 5">
            <a:extLst>
              <a:ext uri="{FF2B5EF4-FFF2-40B4-BE49-F238E27FC236}">
                <a16:creationId xmlns:a16="http://schemas.microsoft.com/office/drawing/2014/main" id="{C1BD7381-ABC7-B705-F513-5F3796012C30}"/>
              </a:ext>
            </a:extLst>
          </p:cNvPr>
          <p:cNvSpPr txBox="1"/>
          <p:nvPr/>
        </p:nvSpPr>
        <p:spPr>
          <a:xfrm>
            <a:off x="3189642" y="6097948"/>
            <a:ext cx="3723520" cy="461665"/>
          </a:xfrm>
          <a:prstGeom prst="rect">
            <a:avLst/>
          </a:prstGeom>
          <a:noFill/>
        </p:spPr>
        <p:txBody>
          <a:bodyPr wrap="none" rtlCol="0">
            <a:spAutoFit/>
          </a:bodyPr>
          <a:lstStyle/>
          <a:p>
            <a:r>
              <a:rPr lang="en-CN" sz="2400" b="1"/>
              <a:t>Hardware-Tiered Memory</a:t>
            </a:r>
          </a:p>
        </p:txBody>
      </p:sp>
      <p:sp>
        <p:nvSpPr>
          <p:cNvPr id="7" name="Rectangle 6">
            <a:extLst>
              <a:ext uri="{FF2B5EF4-FFF2-40B4-BE49-F238E27FC236}">
                <a16:creationId xmlns:a16="http://schemas.microsoft.com/office/drawing/2014/main" id="{8BDE639C-8895-A920-D49B-365E0A3E9F44}"/>
              </a:ext>
            </a:extLst>
          </p:cNvPr>
          <p:cNvSpPr/>
          <p:nvPr/>
        </p:nvSpPr>
        <p:spPr>
          <a:xfrm rot="16200000">
            <a:off x="8347666" y="5390553"/>
            <a:ext cx="474453" cy="188352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TextBox 7">
            <a:extLst>
              <a:ext uri="{FF2B5EF4-FFF2-40B4-BE49-F238E27FC236}">
                <a16:creationId xmlns:a16="http://schemas.microsoft.com/office/drawing/2014/main" id="{CE4D7BAB-A437-7B38-EA54-C812B21A225B}"/>
              </a:ext>
            </a:extLst>
          </p:cNvPr>
          <p:cNvSpPr txBox="1"/>
          <p:nvPr/>
        </p:nvSpPr>
        <p:spPr>
          <a:xfrm>
            <a:off x="7945706" y="6039928"/>
            <a:ext cx="1371787" cy="584775"/>
          </a:xfrm>
          <a:prstGeom prst="rect">
            <a:avLst/>
          </a:prstGeom>
          <a:noFill/>
        </p:spPr>
        <p:txBody>
          <a:bodyPr wrap="none" rtlCol="0">
            <a:spAutoFit/>
          </a:bodyPr>
          <a:lstStyle/>
          <a:p>
            <a:pPr algn="ctr"/>
            <a:r>
              <a:rPr lang="en-CN" sz="1600" b="1"/>
              <a:t>Dedicated</a:t>
            </a:r>
          </a:p>
          <a:p>
            <a:pPr algn="ctr"/>
            <a:r>
              <a:rPr lang="en-CN" sz="1600"/>
              <a:t>Local Memory</a:t>
            </a:r>
          </a:p>
        </p:txBody>
      </p:sp>
      <p:cxnSp>
        <p:nvCxnSpPr>
          <p:cNvPr id="9" name="Straight Connector 8">
            <a:extLst>
              <a:ext uri="{FF2B5EF4-FFF2-40B4-BE49-F238E27FC236}">
                <a16:creationId xmlns:a16="http://schemas.microsoft.com/office/drawing/2014/main" id="{08B80A1F-01C5-7CD0-DB90-15544BB1671E}"/>
              </a:ext>
            </a:extLst>
          </p:cNvPr>
          <p:cNvCxnSpPr>
            <a:cxnSpLocks/>
          </p:cNvCxnSpPr>
          <p:nvPr/>
        </p:nvCxnSpPr>
        <p:spPr>
          <a:xfrm>
            <a:off x="2133470" y="5711900"/>
            <a:ext cx="7393186"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6BDDEDB-D4AD-6A82-A354-F5ECD3E9980A}"/>
              </a:ext>
            </a:extLst>
          </p:cNvPr>
          <p:cNvSpPr txBox="1"/>
          <p:nvPr/>
        </p:nvSpPr>
        <p:spPr>
          <a:xfrm>
            <a:off x="2051698" y="5720527"/>
            <a:ext cx="1104085" cy="369332"/>
          </a:xfrm>
          <a:prstGeom prst="rect">
            <a:avLst/>
          </a:prstGeom>
          <a:noFill/>
        </p:spPr>
        <p:txBody>
          <a:bodyPr wrap="none" rtlCol="0">
            <a:spAutoFit/>
          </a:bodyPr>
          <a:lstStyle/>
          <a:p>
            <a:r>
              <a:rPr lang="en-CN"/>
              <a:t>Hardware</a:t>
            </a:r>
          </a:p>
        </p:txBody>
      </p:sp>
      <p:sp>
        <p:nvSpPr>
          <p:cNvPr id="11" name="TextBox 10">
            <a:extLst>
              <a:ext uri="{FF2B5EF4-FFF2-40B4-BE49-F238E27FC236}">
                <a16:creationId xmlns:a16="http://schemas.microsoft.com/office/drawing/2014/main" id="{F2A340AC-9B5B-3955-025A-6429870E5DBD}"/>
              </a:ext>
            </a:extLst>
          </p:cNvPr>
          <p:cNvSpPr txBox="1"/>
          <p:nvPr/>
        </p:nvSpPr>
        <p:spPr>
          <a:xfrm>
            <a:off x="2051698" y="5297476"/>
            <a:ext cx="1025474" cy="369332"/>
          </a:xfrm>
          <a:prstGeom prst="rect">
            <a:avLst/>
          </a:prstGeom>
          <a:noFill/>
        </p:spPr>
        <p:txBody>
          <a:bodyPr wrap="none" rtlCol="0">
            <a:spAutoFit/>
          </a:bodyPr>
          <a:lstStyle/>
          <a:p>
            <a:r>
              <a:rPr lang="en-CN"/>
              <a:t>Software</a:t>
            </a:r>
          </a:p>
        </p:txBody>
      </p:sp>
      <p:sp>
        <p:nvSpPr>
          <p:cNvPr id="21" name="Rectangle 20">
            <a:extLst>
              <a:ext uri="{FF2B5EF4-FFF2-40B4-BE49-F238E27FC236}">
                <a16:creationId xmlns:a16="http://schemas.microsoft.com/office/drawing/2014/main" id="{D374CC66-CF0D-F077-B75B-E148C49380BD}"/>
              </a:ext>
            </a:extLst>
          </p:cNvPr>
          <p:cNvSpPr/>
          <p:nvPr/>
        </p:nvSpPr>
        <p:spPr>
          <a:xfrm>
            <a:off x="7751788" y="3670537"/>
            <a:ext cx="1254887" cy="1099587"/>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HW-Tiered Pages</a:t>
            </a:r>
          </a:p>
        </p:txBody>
      </p:sp>
      <p:sp>
        <p:nvSpPr>
          <p:cNvPr id="22" name="Rectangle 21">
            <a:extLst>
              <a:ext uri="{FF2B5EF4-FFF2-40B4-BE49-F238E27FC236}">
                <a16:creationId xmlns:a16="http://schemas.microsoft.com/office/drawing/2014/main" id="{89275447-ED11-9419-E540-287A080F5468}"/>
              </a:ext>
            </a:extLst>
          </p:cNvPr>
          <p:cNvSpPr/>
          <p:nvPr/>
        </p:nvSpPr>
        <p:spPr>
          <a:xfrm>
            <a:off x="7748913" y="4770124"/>
            <a:ext cx="1254887" cy="514710"/>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Dedicated Pages</a:t>
            </a:r>
          </a:p>
        </p:txBody>
      </p:sp>
      <p:sp>
        <p:nvSpPr>
          <p:cNvPr id="23" name="TextBox 22">
            <a:extLst>
              <a:ext uri="{FF2B5EF4-FFF2-40B4-BE49-F238E27FC236}">
                <a16:creationId xmlns:a16="http://schemas.microsoft.com/office/drawing/2014/main" id="{04B02F3D-2B10-B55B-609B-4829C30CB53E}"/>
              </a:ext>
            </a:extLst>
          </p:cNvPr>
          <p:cNvSpPr txBox="1"/>
          <p:nvPr/>
        </p:nvSpPr>
        <p:spPr>
          <a:xfrm>
            <a:off x="3541429" y="3317546"/>
            <a:ext cx="683200" cy="369332"/>
          </a:xfrm>
          <a:prstGeom prst="rect">
            <a:avLst/>
          </a:prstGeom>
          <a:noFill/>
        </p:spPr>
        <p:txBody>
          <a:bodyPr wrap="square" rtlCol="0">
            <a:spAutoFit/>
          </a:bodyPr>
          <a:lstStyle/>
          <a:p>
            <a:r>
              <a:rPr lang="en-CN" dirty="0"/>
              <a:t>VM 1</a:t>
            </a:r>
          </a:p>
        </p:txBody>
      </p:sp>
      <p:sp>
        <p:nvSpPr>
          <p:cNvPr id="24" name="TextBox 23">
            <a:extLst>
              <a:ext uri="{FF2B5EF4-FFF2-40B4-BE49-F238E27FC236}">
                <a16:creationId xmlns:a16="http://schemas.microsoft.com/office/drawing/2014/main" id="{EBC8DC2D-9D7E-1CEF-598C-52680E69B6E7}"/>
              </a:ext>
            </a:extLst>
          </p:cNvPr>
          <p:cNvSpPr txBox="1"/>
          <p:nvPr/>
        </p:nvSpPr>
        <p:spPr>
          <a:xfrm>
            <a:off x="5646608" y="3337020"/>
            <a:ext cx="683200" cy="369332"/>
          </a:xfrm>
          <a:prstGeom prst="rect">
            <a:avLst/>
          </a:prstGeom>
          <a:noFill/>
        </p:spPr>
        <p:txBody>
          <a:bodyPr wrap="none" rtlCol="0">
            <a:spAutoFit/>
          </a:bodyPr>
          <a:lstStyle/>
          <a:p>
            <a:r>
              <a:rPr lang="en-CN"/>
              <a:t>VM 2</a:t>
            </a:r>
          </a:p>
        </p:txBody>
      </p:sp>
      <p:sp>
        <p:nvSpPr>
          <p:cNvPr id="25" name="TextBox 24">
            <a:extLst>
              <a:ext uri="{FF2B5EF4-FFF2-40B4-BE49-F238E27FC236}">
                <a16:creationId xmlns:a16="http://schemas.microsoft.com/office/drawing/2014/main" id="{E7535DA8-3D2B-A987-658C-A0116392A96C}"/>
              </a:ext>
            </a:extLst>
          </p:cNvPr>
          <p:cNvSpPr txBox="1"/>
          <p:nvPr/>
        </p:nvSpPr>
        <p:spPr>
          <a:xfrm>
            <a:off x="8037631" y="3334460"/>
            <a:ext cx="683200" cy="369332"/>
          </a:xfrm>
          <a:prstGeom prst="rect">
            <a:avLst/>
          </a:prstGeom>
          <a:noFill/>
        </p:spPr>
        <p:txBody>
          <a:bodyPr wrap="none" rtlCol="0">
            <a:spAutoFit/>
          </a:bodyPr>
          <a:lstStyle/>
          <a:p>
            <a:r>
              <a:rPr lang="en-CN" dirty="0"/>
              <a:t>VM 3</a:t>
            </a:r>
          </a:p>
        </p:txBody>
      </p:sp>
      <p:sp>
        <p:nvSpPr>
          <p:cNvPr id="26" name="Rectangle 25">
            <a:extLst>
              <a:ext uri="{FF2B5EF4-FFF2-40B4-BE49-F238E27FC236}">
                <a16:creationId xmlns:a16="http://schemas.microsoft.com/office/drawing/2014/main" id="{3C2081C8-D059-7D8E-E4D0-73577429D52B}"/>
              </a:ext>
            </a:extLst>
          </p:cNvPr>
          <p:cNvSpPr/>
          <p:nvPr/>
        </p:nvSpPr>
        <p:spPr>
          <a:xfrm>
            <a:off x="5360765" y="3670537"/>
            <a:ext cx="1254887" cy="109191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HW-Tiered Pages</a:t>
            </a:r>
          </a:p>
        </p:txBody>
      </p:sp>
      <p:sp>
        <p:nvSpPr>
          <p:cNvPr id="27" name="Rectangle 26">
            <a:extLst>
              <a:ext uri="{FF2B5EF4-FFF2-40B4-BE49-F238E27FC236}">
                <a16:creationId xmlns:a16="http://schemas.microsoft.com/office/drawing/2014/main" id="{0E0ABE69-9CD1-6940-C292-7BC1C199EC04}"/>
              </a:ext>
            </a:extLst>
          </p:cNvPr>
          <p:cNvSpPr/>
          <p:nvPr/>
        </p:nvSpPr>
        <p:spPr>
          <a:xfrm>
            <a:off x="5357890" y="4762450"/>
            <a:ext cx="1254887" cy="514710"/>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Dedicated Pages</a:t>
            </a:r>
          </a:p>
        </p:txBody>
      </p:sp>
      <p:sp>
        <p:nvSpPr>
          <p:cNvPr id="28" name="Rectangle 27">
            <a:extLst>
              <a:ext uri="{FF2B5EF4-FFF2-40B4-BE49-F238E27FC236}">
                <a16:creationId xmlns:a16="http://schemas.microsoft.com/office/drawing/2014/main" id="{9274CA31-181D-04DE-451B-22CA61717201}"/>
              </a:ext>
            </a:extLst>
          </p:cNvPr>
          <p:cNvSpPr/>
          <p:nvPr/>
        </p:nvSpPr>
        <p:spPr>
          <a:xfrm>
            <a:off x="3213423" y="3674521"/>
            <a:ext cx="1254887" cy="1099587"/>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HW-Tiered Pages</a:t>
            </a:r>
          </a:p>
        </p:txBody>
      </p:sp>
      <p:sp>
        <p:nvSpPr>
          <p:cNvPr id="29" name="Rectangle 28">
            <a:extLst>
              <a:ext uri="{FF2B5EF4-FFF2-40B4-BE49-F238E27FC236}">
                <a16:creationId xmlns:a16="http://schemas.microsoft.com/office/drawing/2014/main" id="{6CD1AD8E-88C9-C435-02F2-C5F6129F6C8F}"/>
              </a:ext>
            </a:extLst>
          </p:cNvPr>
          <p:cNvSpPr/>
          <p:nvPr/>
        </p:nvSpPr>
        <p:spPr>
          <a:xfrm>
            <a:off x="3210548" y="4774108"/>
            <a:ext cx="1254887" cy="514710"/>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Dedicated Pages</a:t>
            </a:r>
          </a:p>
        </p:txBody>
      </p:sp>
      <p:sp>
        <p:nvSpPr>
          <p:cNvPr id="30" name="Rectangle 29">
            <a:extLst>
              <a:ext uri="{FF2B5EF4-FFF2-40B4-BE49-F238E27FC236}">
                <a16:creationId xmlns:a16="http://schemas.microsoft.com/office/drawing/2014/main" id="{4FE14E03-DF67-F811-1624-A513CB7FA21E}"/>
              </a:ext>
            </a:extLst>
          </p:cNvPr>
          <p:cNvSpPr/>
          <p:nvPr/>
        </p:nvSpPr>
        <p:spPr>
          <a:xfrm>
            <a:off x="3576430" y="1529405"/>
            <a:ext cx="4817806" cy="1192046"/>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1" name="TextBox 30">
            <a:extLst>
              <a:ext uri="{FF2B5EF4-FFF2-40B4-BE49-F238E27FC236}">
                <a16:creationId xmlns:a16="http://schemas.microsoft.com/office/drawing/2014/main" id="{243BCE89-EF76-50AA-07B3-0216F35CE3D8}"/>
              </a:ext>
            </a:extLst>
          </p:cNvPr>
          <p:cNvSpPr txBox="1"/>
          <p:nvPr/>
        </p:nvSpPr>
        <p:spPr>
          <a:xfrm>
            <a:off x="5124987" y="1562540"/>
            <a:ext cx="1595245" cy="461665"/>
          </a:xfrm>
          <a:prstGeom prst="rect">
            <a:avLst/>
          </a:prstGeom>
          <a:noFill/>
        </p:spPr>
        <p:txBody>
          <a:bodyPr wrap="none" rtlCol="0">
            <a:spAutoFit/>
          </a:bodyPr>
          <a:lstStyle/>
          <a:p>
            <a:pPr algn="ctr"/>
            <a:r>
              <a:rPr lang="en-CN" sz="2400" b="1" dirty="0"/>
              <a:t>Memstrata</a:t>
            </a:r>
            <a:endParaRPr lang="en-CN" sz="2400" dirty="0"/>
          </a:p>
        </p:txBody>
      </p:sp>
      <p:sp>
        <p:nvSpPr>
          <p:cNvPr id="13" name="TextBox 12">
            <a:extLst>
              <a:ext uri="{FF2B5EF4-FFF2-40B4-BE49-F238E27FC236}">
                <a16:creationId xmlns:a16="http://schemas.microsoft.com/office/drawing/2014/main" id="{4D78748C-DF78-B9A4-6229-BC9A4D0A6A87}"/>
              </a:ext>
            </a:extLst>
          </p:cNvPr>
          <p:cNvSpPr txBox="1"/>
          <p:nvPr/>
        </p:nvSpPr>
        <p:spPr>
          <a:xfrm>
            <a:off x="3077172" y="2989519"/>
            <a:ext cx="1639873" cy="369332"/>
          </a:xfrm>
          <a:prstGeom prst="rect">
            <a:avLst/>
          </a:prstGeom>
          <a:noFill/>
        </p:spPr>
        <p:txBody>
          <a:bodyPr wrap="none" rtlCol="0">
            <a:spAutoFit/>
          </a:bodyPr>
          <a:lstStyle/>
          <a:p>
            <a:r>
              <a:rPr lang="en-CN" dirty="0">
                <a:solidFill>
                  <a:schemeClr val="accent3"/>
                </a:solidFill>
              </a:rPr>
              <a:t>Slowdown: </a:t>
            </a:r>
            <a:r>
              <a:rPr lang="en-CN" b="1" dirty="0">
                <a:solidFill>
                  <a:schemeClr val="accent3"/>
                </a:solidFill>
              </a:rPr>
              <a:t>2%</a:t>
            </a:r>
          </a:p>
        </p:txBody>
      </p:sp>
      <p:sp>
        <p:nvSpPr>
          <p:cNvPr id="14" name="TextBox 13">
            <a:extLst>
              <a:ext uri="{FF2B5EF4-FFF2-40B4-BE49-F238E27FC236}">
                <a16:creationId xmlns:a16="http://schemas.microsoft.com/office/drawing/2014/main" id="{CF0B5E0C-2976-1445-A1E8-71A8FE5F792F}"/>
              </a:ext>
            </a:extLst>
          </p:cNvPr>
          <p:cNvSpPr txBox="1"/>
          <p:nvPr/>
        </p:nvSpPr>
        <p:spPr>
          <a:xfrm>
            <a:off x="5213013" y="2989519"/>
            <a:ext cx="1636666" cy="369332"/>
          </a:xfrm>
          <a:prstGeom prst="rect">
            <a:avLst/>
          </a:prstGeom>
          <a:noFill/>
        </p:spPr>
        <p:txBody>
          <a:bodyPr wrap="none" rtlCol="0">
            <a:spAutoFit/>
          </a:bodyPr>
          <a:lstStyle/>
          <a:p>
            <a:r>
              <a:rPr lang="en-CN" dirty="0">
                <a:solidFill>
                  <a:schemeClr val="accent3"/>
                </a:solidFill>
              </a:rPr>
              <a:t>Slowdown: </a:t>
            </a:r>
            <a:r>
              <a:rPr lang="en-CN" b="1" dirty="0">
                <a:solidFill>
                  <a:schemeClr val="accent3"/>
                </a:solidFill>
              </a:rPr>
              <a:t>0%</a:t>
            </a:r>
          </a:p>
        </p:txBody>
      </p:sp>
      <p:sp>
        <p:nvSpPr>
          <p:cNvPr id="15" name="TextBox 14">
            <a:extLst>
              <a:ext uri="{FF2B5EF4-FFF2-40B4-BE49-F238E27FC236}">
                <a16:creationId xmlns:a16="http://schemas.microsoft.com/office/drawing/2014/main" id="{348300F2-1AED-E636-E368-7A08CD295207}"/>
              </a:ext>
            </a:extLst>
          </p:cNvPr>
          <p:cNvSpPr txBox="1"/>
          <p:nvPr/>
        </p:nvSpPr>
        <p:spPr>
          <a:xfrm>
            <a:off x="7517999" y="2985909"/>
            <a:ext cx="1760418" cy="369332"/>
          </a:xfrm>
          <a:prstGeom prst="rect">
            <a:avLst/>
          </a:prstGeom>
          <a:noFill/>
        </p:spPr>
        <p:txBody>
          <a:bodyPr wrap="none" rtlCol="0">
            <a:spAutoFit/>
          </a:bodyPr>
          <a:lstStyle/>
          <a:p>
            <a:r>
              <a:rPr lang="en-CN" dirty="0">
                <a:solidFill>
                  <a:srgbClr val="C00000"/>
                </a:solidFill>
              </a:rPr>
              <a:t>Slowdown: </a:t>
            </a:r>
            <a:r>
              <a:rPr lang="en-CN" b="1" dirty="0">
                <a:solidFill>
                  <a:srgbClr val="C00000"/>
                </a:solidFill>
              </a:rPr>
              <a:t>15%</a:t>
            </a:r>
          </a:p>
        </p:txBody>
      </p:sp>
      <p:sp>
        <p:nvSpPr>
          <p:cNvPr id="18" name="Rectangle 17">
            <a:extLst>
              <a:ext uri="{FF2B5EF4-FFF2-40B4-BE49-F238E27FC236}">
                <a16:creationId xmlns:a16="http://schemas.microsoft.com/office/drawing/2014/main" id="{DEF25FA0-A798-E4FD-EF68-C84C3F295FB3}"/>
              </a:ext>
            </a:extLst>
          </p:cNvPr>
          <p:cNvSpPr/>
          <p:nvPr/>
        </p:nvSpPr>
        <p:spPr>
          <a:xfrm>
            <a:off x="3736808" y="2007709"/>
            <a:ext cx="2111730" cy="5691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2000" dirty="0">
                <a:solidFill>
                  <a:schemeClr val="tx1"/>
                </a:solidFill>
              </a:rPr>
              <a:t>Identify Outliers</a:t>
            </a:r>
          </a:p>
        </p:txBody>
      </p:sp>
      <p:sp>
        <p:nvSpPr>
          <p:cNvPr id="33" name="Rectangle 32">
            <a:extLst>
              <a:ext uri="{FF2B5EF4-FFF2-40B4-BE49-F238E27FC236}">
                <a16:creationId xmlns:a16="http://schemas.microsoft.com/office/drawing/2014/main" id="{36439C7E-1C5B-0634-9095-BB4706C201CE}"/>
              </a:ext>
            </a:extLst>
          </p:cNvPr>
          <p:cNvSpPr/>
          <p:nvPr/>
        </p:nvSpPr>
        <p:spPr>
          <a:xfrm>
            <a:off x="6132777" y="2019127"/>
            <a:ext cx="2111729" cy="5691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2000" dirty="0">
                <a:solidFill>
                  <a:schemeClr val="tx1"/>
                </a:solidFill>
              </a:rPr>
              <a:t>Dynamic Page Allocator</a:t>
            </a:r>
          </a:p>
        </p:txBody>
      </p:sp>
      <p:sp>
        <p:nvSpPr>
          <p:cNvPr id="3" name="Right Arrow 2">
            <a:extLst>
              <a:ext uri="{FF2B5EF4-FFF2-40B4-BE49-F238E27FC236}">
                <a16:creationId xmlns:a16="http://schemas.microsoft.com/office/drawing/2014/main" id="{C7123EA9-59FD-1C11-9A51-1F6FB3BE8332}"/>
              </a:ext>
            </a:extLst>
          </p:cNvPr>
          <p:cNvSpPr/>
          <p:nvPr/>
        </p:nvSpPr>
        <p:spPr>
          <a:xfrm rot="10800000">
            <a:off x="6720232" y="3776870"/>
            <a:ext cx="922897" cy="248478"/>
          </a:xfrm>
          <a:prstGeom prst="rightArrow">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Right Arrow 11">
            <a:extLst>
              <a:ext uri="{FF2B5EF4-FFF2-40B4-BE49-F238E27FC236}">
                <a16:creationId xmlns:a16="http://schemas.microsoft.com/office/drawing/2014/main" id="{A4F1FCC7-8291-B7E4-CF17-C7EA9E2B3BA4}"/>
              </a:ext>
            </a:extLst>
          </p:cNvPr>
          <p:cNvSpPr/>
          <p:nvPr/>
        </p:nvSpPr>
        <p:spPr>
          <a:xfrm>
            <a:off x="6727192" y="4881899"/>
            <a:ext cx="922897" cy="248478"/>
          </a:xfrm>
          <a:prstGeom prst="rightArrow">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TextBox 16">
            <a:extLst>
              <a:ext uri="{FF2B5EF4-FFF2-40B4-BE49-F238E27FC236}">
                <a16:creationId xmlns:a16="http://schemas.microsoft.com/office/drawing/2014/main" id="{7BB23ED4-C82F-36A0-7186-64453540A35F}"/>
              </a:ext>
            </a:extLst>
          </p:cNvPr>
          <p:cNvSpPr txBox="1"/>
          <p:nvPr/>
        </p:nvSpPr>
        <p:spPr>
          <a:xfrm>
            <a:off x="6615652" y="4103255"/>
            <a:ext cx="1254886" cy="646331"/>
          </a:xfrm>
          <a:prstGeom prst="rect">
            <a:avLst/>
          </a:prstGeom>
          <a:noFill/>
        </p:spPr>
        <p:txBody>
          <a:bodyPr wrap="square" rtlCol="0">
            <a:spAutoFit/>
          </a:bodyPr>
          <a:lstStyle/>
          <a:p>
            <a:r>
              <a:rPr lang="en-US" altLang="zh-CN" dirty="0"/>
              <a:t>Page</a:t>
            </a:r>
            <a:r>
              <a:rPr lang="zh-CN" altLang="en-US" dirty="0"/>
              <a:t> </a:t>
            </a:r>
            <a:r>
              <a:rPr lang="en-US" altLang="zh-CN" dirty="0"/>
              <a:t>exchange</a:t>
            </a:r>
            <a:endParaRPr lang="en-CN" dirty="0"/>
          </a:p>
        </p:txBody>
      </p:sp>
    </p:spTree>
    <p:extLst>
      <p:ext uri="{BB962C8B-B14F-4D97-AF65-F5344CB8AC3E}">
        <p14:creationId xmlns:p14="http://schemas.microsoft.com/office/powerpoint/2010/main" val="51222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 grpId="0" animBg="1"/>
      <p:bldP spid="12" grpId="0" animBg="1"/>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FA51-E590-2E9D-0B26-5AACCA8EFCCB}"/>
              </a:ext>
            </a:extLst>
          </p:cNvPr>
          <p:cNvSpPr>
            <a:spLocks noGrp="1"/>
          </p:cNvSpPr>
          <p:nvPr>
            <p:ph type="title"/>
          </p:nvPr>
        </p:nvSpPr>
        <p:spPr/>
        <p:txBody>
          <a:bodyPr>
            <a:normAutofit/>
          </a:bodyPr>
          <a:lstStyle/>
          <a:p>
            <a:r>
              <a:rPr lang="en-CN" sz="3900" dirty="0"/>
              <a:t>Memstrata Dynamically Allocates Dedicated Pages</a:t>
            </a:r>
          </a:p>
        </p:txBody>
      </p:sp>
      <p:sp>
        <p:nvSpPr>
          <p:cNvPr id="4" name="Slide Number Placeholder 3">
            <a:extLst>
              <a:ext uri="{FF2B5EF4-FFF2-40B4-BE49-F238E27FC236}">
                <a16:creationId xmlns:a16="http://schemas.microsoft.com/office/drawing/2014/main" id="{83F9CB1A-3097-455C-7DE2-D267EAF21D0C}"/>
              </a:ext>
            </a:extLst>
          </p:cNvPr>
          <p:cNvSpPr>
            <a:spLocks noGrp="1"/>
          </p:cNvSpPr>
          <p:nvPr>
            <p:ph type="sldNum" sz="quarter" idx="12"/>
          </p:nvPr>
        </p:nvSpPr>
        <p:spPr/>
        <p:txBody>
          <a:bodyPr/>
          <a:lstStyle/>
          <a:p>
            <a:fld id="{5D76F006-5496-B946-A476-FEDACCAB686D}" type="slidenum">
              <a:rPr lang="en-CN" smtClean="0"/>
              <a:t>21</a:t>
            </a:fld>
            <a:endParaRPr lang="en-CN"/>
          </a:p>
        </p:txBody>
      </p:sp>
      <p:sp>
        <p:nvSpPr>
          <p:cNvPr id="5" name="Rectangle 4">
            <a:extLst>
              <a:ext uri="{FF2B5EF4-FFF2-40B4-BE49-F238E27FC236}">
                <a16:creationId xmlns:a16="http://schemas.microsoft.com/office/drawing/2014/main" id="{4FA6B26D-9216-6DAE-8E3A-41C1690F1DE5}"/>
              </a:ext>
            </a:extLst>
          </p:cNvPr>
          <p:cNvSpPr/>
          <p:nvPr/>
        </p:nvSpPr>
        <p:spPr>
          <a:xfrm rot="16200000">
            <a:off x="4729536" y="3870611"/>
            <a:ext cx="474453" cy="492341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2400"/>
          </a:p>
        </p:txBody>
      </p:sp>
      <p:sp>
        <p:nvSpPr>
          <p:cNvPr id="6" name="TextBox 5">
            <a:extLst>
              <a:ext uri="{FF2B5EF4-FFF2-40B4-BE49-F238E27FC236}">
                <a16:creationId xmlns:a16="http://schemas.microsoft.com/office/drawing/2014/main" id="{C1BD7381-ABC7-B705-F513-5F3796012C30}"/>
              </a:ext>
            </a:extLst>
          </p:cNvPr>
          <p:cNvSpPr txBox="1"/>
          <p:nvPr/>
        </p:nvSpPr>
        <p:spPr>
          <a:xfrm>
            <a:off x="3189642" y="6097948"/>
            <a:ext cx="3723520" cy="461665"/>
          </a:xfrm>
          <a:prstGeom prst="rect">
            <a:avLst/>
          </a:prstGeom>
          <a:noFill/>
        </p:spPr>
        <p:txBody>
          <a:bodyPr wrap="none" rtlCol="0">
            <a:spAutoFit/>
          </a:bodyPr>
          <a:lstStyle/>
          <a:p>
            <a:r>
              <a:rPr lang="en-CN" sz="2400" b="1"/>
              <a:t>Hardware-Tiered Memory</a:t>
            </a:r>
          </a:p>
        </p:txBody>
      </p:sp>
      <p:sp>
        <p:nvSpPr>
          <p:cNvPr id="7" name="Rectangle 6">
            <a:extLst>
              <a:ext uri="{FF2B5EF4-FFF2-40B4-BE49-F238E27FC236}">
                <a16:creationId xmlns:a16="http://schemas.microsoft.com/office/drawing/2014/main" id="{8BDE639C-8895-A920-D49B-365E0A3E9F44}"/>
              </a:ext>
            </a:extLst>
          </p:cNvPr>
          <p:cNvSpPr/>
          <p:nvPr/>
        </p:nvSpPr>
        <p:spPr>
          <a:xfrm rot="16200000">
            <a:off x="8347666" y="5390553"/>
            <a:ext cx="474453" cy="188352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TextBox 7">
            <a:extLst>
              <a:ext uri="{FF2B5EF4-FFF2-40B4-BE49-F238E27FC236}">
                <a16:creationId xmlns:a16="http://schemas.microsoft.com/office/drawing/2014/main" id="{CE4D7BAB-A437-7B38-EA54-C812B21A225B}"/>
              </a:ext>
            </a:extLst>
          </p:cNvPr>
          <p:cNvSpPr txBox="1"/>
          <p:nvPr/>
        </p:nvSpPr>
        <p:spPr>
          <a:xfrm>
            <a:off x="7945706" y="6039928"/>
            <a:ext cx="1371787" cy="584775"/>
          </a:xfrm>
          <a:prstGeom prst="rect">
            <a:avLst/>
          </a:prstGeom>
          <a:noFill/>
        </p:spPr>
        <p:txBody>
          <a:bodyPr wrap="none" rtlCol="0">
            <a:spAutoFit/>
          </a:bodyPr>
          <a:lstStyle/>
          <a:p>
            <a:pPr algn="ctr"/>
            <a:r>
              <a:rPr lang="en-CN" sz="1600" b="1"/>
              <a:t>Dedicated</a:t>
            </a:r>
          </a:p>
          <a:p>
            <a:pPr algn="ctr"/>
            <a:r>
              <a:rPr lang="en-CN" sz="1600"/>
              <a:t>Local Memory</a:t>
            </a:r>
          </a:p>
        </p:txBody>
      </p:sp>
      <p:cxnSp>
        <p:nvCxnSpPr>
          <p:cNvPr id="9" name="Straight Connector 8">
            <a:extLst>
              <a:ext uri="{FF2B5EF4-FFF2-40B4-BE49-F238E27FC236}">
                <a16:creationId xmlns:a16="http://schemas.microsoft.com/office/drawing/2014/main" id="{08B80A1F-01C5-7CD0-DB90-15544BB1671E}"/>
              </a:ext>
            </a:extLst>
          </p:cNvPr>
          <p:cNvCxnSpPr>
            <a:cxnSpLocks/>
          </p:cNvCxnSpPr>
          <p:nvPr/>
        </p:nvCxnSpPr>
        <p:spPr>
          <a:xfrm>
            <a:off x="2133470" y="5711900"/>
            <a:ext cx="7393186"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6BDDEDB-D4AD-6A82-A354-F5ECD3E9980A}"/>
              </a:ext>
            </a:extLst>
          </p:cNvPr>
          <p:cNvSpPr txBox="1"/>
          <p:nvPr/>
        </p:nvSpPr>
        <p:spPr>
          <a:xfrm>
            <a:off x="2051698" y="5720527"/>
            <a:ext cx="1104085" cy="369332"/>
          </a:xfrm>
          <a:prstGeom prst="rect">
            <a:avLst/>
          </a:prstGeom>
          <a:noFill/>
        </p:spPr>
        <p:txBody>
          <a:bodyPr wrap="none" rtlCol="0">
            <a:spAutoFit/>
          </a:bodyPr>
          <a:lstStyle/>
          <a:p>
            <a:r>
              <a:rPr lang="en-CN"/>
              <a:t>Hardware</a:t>
            </a:r>
          </a:p>
        </p:txBody>
      </p:sp>
      <p:sp>
        <p:nvSpPr>
          <p:cNvPr id="11" name="TextBox 10">
            <a:extLst>
              <a:ext uri="{FF2B5EF4-FFF2-40B4-BE49-F238E27FC236}">
                <a16:creationId xmlns:a16="http://schemas.microsoft.com/office/drawing/2014/main" id="{F2A340AC-9B5B-3955-025A-6429870E5DBD}"/>
              </a:ext>
            </a:extLst>
          </p:cNvPr>
          <p:cNvSpPr txBox="1"/>
          <p:nvPr/>
        </p:nvSpPr>
        <p:spPr>
          <a:xfrm>
            <a:off x="2051698" y="5297476"/>
            <a:ext cx="1025474" cy="369332"/>
          </a:xfrm>
          <a:prstGeom prst="rect">
            <a:avLst/>
          </a:prstGeom>
          <a:noFill/>
        </p:spPr>
        <p:txBody>
          <a:bodyPr wrap="none" rtlCol="0">
            <a:spAutoFit/>
          </a:bodyPr>
          <a:lstStyle/>
          <a:p>
            <a:r>
              <a:rPr lang="en-CN"/>
              <a:t>Software</a:t>
            </a:r>
          </a:p>
        </p:txBody>
      </p:sp>
      <p:sp>
        <p:nvSpPr>
          <p:cNvPr id="21" name="Rectangle 20">
            <a:extLst>
              <a:ext uri="{FF2B5EF4-FFF2-40B4-BE49-F238E27FC236}">
                <a16:creationId xmlns:a16="http://schemas.microsoft.com/office/drawing/2014/main" id="{D374CC66-CF0D-F077-B75B-E148C49380BD}"/>
              </a:ext>
            </a:extLst>
          </p:cNvPr>
          <p:cNvSpPr/>
          <p:nvPr/>
        </p:nvSpPr>
        <p:spPr>
          <a:xfrm>
            <a:off x="7751788" y="3670537"/>
            <a:ext cx="1254887" cy="514705"/>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HW-Tiered Pages</a:t>
            </a:r>
          </a:p>
        </p:txBody>
      </p:sp>
      <p:sp>
        <p:nvSpPr>
          <p:cNvPr id="22" name="Rectangle 21">
            <a:extLst>
              <a:ext uri="{FF2B5EF4-FFF2-40B4-BE49-F238E27FC236}">
                <a16:creationId xmlns:a16="http://schemas.microsoft.com/office/drawing/2014/main" id="{89275447-ED11-9419-E540-287A080F5468}"/>
              </a:ext>
            </a:extLst>
          </p:cNvPr>
          <p:cNvSpPr/>
          <p:nvPr/>
        </p:nvSpPr>
        <p:spPr>
          <a:xfrm>
            <a:off x="7748913" y="4185242"/>
            <a:ext cx="1254887" cy="1099592"/>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Dedicated Pages</a:t>
            </a:r>
          </a:p>
        </p:txBody>
      </p:sp>
      <p:sp>
        <p:nvSpPr>
          <p:cNvPr id="23" name="TextBox 22">
            <a:extLst>
              <a:ext uri="{FF2B5EF4-FFF2-40B4-BE49-F238E27FC236}">
                <a16:creationId xmlns:a16="http://schemas.microsoft.com/office/drawing/2014/main" id="{04B02F3D-2B10-B55B-609B-4829C30CB53E}"/>
              </a:ext>
            </a:extLst>
          </p:cNvPr>
          <p:cNvSpPr txBox="1"/>
          <p:nvPr/>
        </p:nvSpPr>
        <p:spPr>
          <a:xfrm>
            <a:off x="3541429" y="3317546"/>
            <a:ext cx="683200" cy="369332"/>
          </a:xfrm>
          <a:prstGeom prst="rect">
            <a:avLst/>
          </a:prstGeom>
          <a:noFill/>
        </p:spPr>
        <p:txBody>
          <a:bodyPr wrap="square" rtlCol="0">
            <a:spAutoFit/>
          </a:bodyPr>
          <a:lstStyle/>
          <a:p>
            <a:r>
              <a:rPr lang="en-CN" dirty="0"/>
              <a:t>VM 1</a:t>
            </a:r>
          </a:p>
        </p:txBody>
      </p:sp>
      <p:sp>
        <p:nvSpPr>
          <p:cNvPr id="24" name="TextBox 23">
            <a:extLst>
              <a:ext uri="{FF2B5EF4-FFF2-40B4-BE49-F238E27FC236}">
                <a16:creationId xmlns:a16="http://schemas.microsoft.com/office/drawing/2014/main" id="{EBC8DC2D-9D7E-1CEF-598C-52680E69B6E7}"/>
              </a:ext>
            </a:extLst>
          </p:cNvPr>
          <p:cNvSpPr txBox="1"/>
          <p:nvPr/>
        </p:nvSpPr>
        <p:spPr>
          <a:xfrm>
            <a:off x="5646608" y="3337020"/>
            <a:ext cx="683200" cy="369332"/>
          </a:xfrm>
          <a:prstGeom prst="rect">
            <a:avLst/>
          </a:prstGeom>
          <a:noFill/>
        </p:spPr>
        <p:txBody>
          <a:bodyPr wrap="none" rtlCol="0">
            <a:spAutoFit/>
          </a:bodyPr>
          <a:lstStyle/>
          <a:p>
            <a:r>
              <a:rPr lang="en-CN"/>
              <a:t>VM 2</a:t>
            </a:r>
          </a:p>
        </p:txBody>
      </p:sp>
      <p:sp>
        <p:nvSpPr>
          <p:cNvPr id="25" name="TextBox 24">
            <a:extLst>
              <a:ext uri="{FF2B5EF4-FFF2-40B4-BE49-F238E27FC236}">
                <a16:creationId xmlns:a16="http://schemas.microsoft.com/office/drawing/2014/main" id="{E7535DA8-3D2B-A987-658C-A0116392A96C}"/>
              </a:ext>
            </a:extLst>
          </p:cNvPr>
          <p:cNvSpPr txBox="1"/>
          <p:nvPr/>
        </p:nvSpPr>
        <p:spPr>
          <a:xfrm>
            <a:off x="8037631" y="3334460"/>
            <a:ext cx="683200" cy="369332"/>
          </a:xfrm>
          <a:prstGeom prst="rect">
            <a:avLst/>
          </a:prstGeom>
          <a:noFill/>
        </p:spPr>
        <p:txBody>
          <a:bodyPr wrap="none" rtlCol="0">
            <a:spAutoFit/>
          </a:bodyPr>
          <a:lstStyle/>
          <a:p>
            <a:r>
              <a:rPr lang="en-CN" dirty="0"/>
              <a:t>VM 3</a:t>
            </a:r>
          </a:p>
        </p:txBody>
      </p:sp>
      <p:sp>
        <p:nvSpPr>
          <p:cNvPr id="26" name="Rectangle 25">
            <a:extLst>
              <a:ext uri="{FF2B5EF4-FFF2-40B4-BE49-F238E27FC236}">
                <a16:creationId xmlns:a16="http://schemas.microsoft.com/office/drawing/2014/main" id="{3C2081C8-D059-7D8E-E4D0-73577429D52B}"/>
              </a:ext>
            </a:extLst>
          </p:cNvPr>
          <p:cNvSpPr/>
          <p:nvPr/>
        </p:nvSpPr>
        <p:spPr>
          <a:xfrm>
            <a:off x="5360765" y="3670537"/>
            <a:ext cx="1254887" cy="1614297"/>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HW-Tiered Pages</a:t>
            </a:r>
          </a:p>
        </p:txBody>
      </p:sp>
      <p:sp>
        <p:nvSpPr>
          <p:cNvPr id="28" name="Rectangle 27">
            <a:extLst>
              <a:ext uri="{FF2B5EF4-FFF2-40B4-BE49-F238E27FC236}">
                <a16:creationId xmlns:a16="http://schemas.microsoft.com/office/drawing/2014/main" id="{9274CA31-181D-04DE-451B-22CA61717201}"/>
              </a:ext>
            </a:extLst>
          </p:cNvPr>
          <p:cNvSpPr/>
          <p:nvPr/>
        </p:nvSpPr>
        <p:spPr>
          <a:xfrm>
            <a:off x="3213423" y="3674521"/>
            <a:ext cx="1254887" cy="1099587"/>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HW-Tiered Pages</a:t>
            </a:r>
          </a:p>
        </p:txBody>
      </p:sp>
      <p:sp>
        <p:nvSpPr>
          <p:cNvPr id="29" name="Rectangle 28">
            <a:extLst>
              <a:ext uri="{FF2B5EF4-FFF2-40B4-BE49-F238E27FC236}">
                <a16:creationId xmlns:a16="http://schemas.microsoft.com/office/drawing/2014/main" id="{6CD1AD8E-88C9-C435-02F2-C5F6129F6C8F}"/>
              </a:ext>
            </a:extLst>
          </p:cNvPr>
          <p:cNvSpPr/>
          <p:nvPr/>
        </p:nvSpPr>
        <p:spPr>
          <a:xfrm>
            <a:off x="3210548" y="4774108"/>
            <a:ext cx="1254887" cy="514710"/>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dirty="0">
                <a:solidFill>
                  <a:schemeClr val="tx1"/>
                </a:solidFill>
              </a:rPr>
              <a:t>Dedicated Pages</a:t>
            </a:r>
          </a:p>
        </p:txBody>
      </p:sp>
      <p:sp>
        <p:nvSpPr>
          <p:cNvPr id="30" name="Rectangle 29">
            <a:extLst>
              <a:ext uri="{FF2B5EF4-FFF2-40B4-BE49-F238E27FC236}">
                <a16:creationId xmlns:a16="http://schemas.microsoft.com/office/drawing/2014/main" id="{4FE14E03-DF67-F811-1624-A513CB7FA21E}"/>
              </a:ext>
            </a:extLst>
          </p:cNvPr>
          <p:cNvSpPr/>
          <p:nvPr/>
        </p:nvSpPr>
        <p:spPr>
          <a:xfrm>
            <a:off x="3576430" y="1529405"/>
            <a:ext cx="4817806" cy="1192046"/>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1" name="TextBox 30">
            <a:extLst>
              <a:ext uri="{FF2B5EF4-FFF2-40B4-BE49-F238E27FC236}">
                <a16:creationId xmlns:a16="http://schemas.microsoft.com/office/drawing/2014/main" id="{243BCE89-EF76-50AA-07B3-0216F35CE3D8}"/>
              </a:ext>
            </a:extLst>
          </p:cNvPr>
          <p:cNvSpPr txBox="1"/>
          <p:nvPr/>
        </p:nvSpPr>
        <p:spPr>
          <a:xfrm>
            <a:off x="5124987" y="1562540"/>
            <a:ext cx="1595245" cy="461665"/>
          </a:xfrm>
          <a:prstGeom prst="rect">
            <a:avLst/>
          </a:prstGeom>
          <a:noFill/>
        </p:spPr>
        <p:txBody>
          <a:bodyPr wrap="none" rtlCol="0">
            <a:spAutoFit/>
          </a:bodyPr>
          <a:lstStyle/>
          <a:p>
            <a:pPr algn="ctr"/>
            <a:r>
              <a:rPr lang="en-CN" sz="2400" b="1" dirty="0"/>
              <a:t>Memstrata</a:t>
            </a:r>
            <a:endParaRPr lang="en-CN" sz="2400" dirty="0"/>
          </a:p>
        </p:txBody>
      </p:sp>
      <p:sp>
        <p:nvSpPr>
          <p:cNvPr id="13" name="TextBox 12">
            <a:extLst>
              <a:ext uri="{FF2B5EF4-FFF2-40B4-BE49-F238E27FC236}">
                <a16:creationId xmlns:a16="http://schemas.microsoft.com/office/drawing/2014/main" id="{4D78748C-DF78-B9A4-6229-BC9A4D0A6A87}"/>
              </a:ext>
            </a:extLst>
          </p:cNvPr>
          <p:cNvSpPr txBox="1"/>
          <p:nvPr/>
        </p:nvSpPr>
        <p:spPr>
          <a:xfrm>
            <a:off x="3077172" y="2989519"/>
            <a:ext cx="1639873" cy="369332"/>
          </a:xfrm>
          <a:prstGeom prst="rect">
            <a:avLst/>
          </a:prstGeom>
          <a:noFill/>
        </p:spPr>
        <p:txBody>
          <a:bodyPr wrap="none" rtlCol="0">
            <a:spAutoFit/>
          </a:bodyPr>
          <a:lstStyle/>
          <a:p>
            <a:r>
              <a:rPr lang="en-CN" dirty="0">
                <a:solidFill>
                  <a:schemeClr val="accent3"/>
                </a:solidFill>
              </a:rPr>
              <a:t>Slowdown: </a:t>
            </a:r>
            <a:r>
              <a:rPr lang="en-CN" b="1" dirty="0">
                <a:solidFill>
                  <a:schemeClr val="accent3"/>
                </a:solidFill>
              </a:rPr>
              <a:t>2%</a:t>
            </a:r>
          </a:p>
        </p:txBody>
      </p:sp>
      <p:sp>
        <p:nvSpPr>
          <p:cNvPr id="14" name="TextBox 13">
            <a:extLst>
              <a:ext uri="{FF2B5EF4-FFF2-40B4-BE49-F238E27FC236}">
                <a16:creationId xmlns:a16="http://schemas.microsoft.com/office/drawing/2014/main" id="{CF0B5E0C-2976-1445-A1E8-71A8FE5F792F}"/>
              </a:ext>
            </a:extLst>
          </p:cNvPr>
          <p:cNvSpPr txBox="1"/>
          <p:nvPr/>
        </p:nvSpPr>
        <p:spPr>
          <a:xfrm>
            <a:off x="5213013" y="2989519"/>
            <a:ext cx="1636666" cy="369332"/>
          </a:xfrm>
          <a:prstGeom prst="rect">
            <a:avLst/>
          </a:prstGeom>
          <a:noFill/>
        </p:spPr>
        <p:txBody>
          <a:bodyPr wrap="none" rtlCol="0">
            <a:spAutoFit/>
          </a:bodyPr>
          <a:lstStyle/>
          <a:p>
            <a:r>
              <a:rPr lang="en-CN" dirty="0">
                <a:solidFill>
                  <a:schemeClr val="accent3"/>
                </a:solidFill>
              </a:rPr>
              <a:t>Slowdown: </a:t>
            </a:r>
            <a:r>
              <a:rPr lang="en-CN" b="1" dirty="0">
                <a:solidFill>
                  <a:schemeClr val="accent3"/>
                </a:solidFill>
              </a:rPr>
              <a:t>0%</a:t>
            </a:r>
          </a:p>
        </p:txBody>
      </p:sp>
      <p:sp>
        <p:nvSpPr>
          <p:cNvPr id="15" name="TextBox 14">
            <a:extLst>
              <a:ext uri="{FF2B5EF4-FFF2-40B4-BE49-F238E27FC236}">
                <a16:creationId xmlns:a16="http://schemas.microsoft.com/office/drawing/2014/main" id="{348300F2-1AED-E636-E368-7A08CD295207}"/>
              </a:ext>
            </a:extLst>
          </p:cNvPr>
          <p:cNvSpPr txBox="1"/>
          <p:nvPr/>
        </p:nvSpPr>
        <p:spPr>
          <a:xfrm>
            <a:off x="7517999" y="2985909"/>
            <a:ext cx="1760418" cy="369332"/>
          </a:xfrm>
          <a:prstGeom prst="rect">
            <a:avLst/>
          </a:prstGeom>
          <a:noFill/>
        </p:spPr>
        <p:txBody>
          <a:bodyPr wrap="none" rtlCol="0">
            <a:spAutoFit/>
          </a:bodyPr>
          <a:lstStyle/>
          <a:p>
            <a:r>
              <a:rPr lang="en-CN" dirty="0">
                <a:solidFill>
                  <a:srgbClr val="C00000"/>
                </a:solidFill>
              </a:rPr>
              <a:t>Slowdown: </a:t>
            </a:r>
            <a:r>
              <a:rPr lang="en-CN" b="1" dirty="0">
                <a:solidFill>
                  <a:srgbClr val="C00000"/>
                </a:solidFill>
              </a:rPr>
              <a:t>15%</a:t>
            </a:r>
          </a:p>
        </p:txBody>
      </p:sp>
      <p:sp>
        <p:nvSpPr>
          <p:cNvPr id="18" name="Rectangle 17">
            <a:extLst>
              <a:ext uri="{FF2B5EF4-FFF2-40B4-BE49-F238E27FC236}">
                <a16:creationId xmlns:a16="http://schemas.microsoft.com/office/drawing/2014/main" id="{DEF25FA0-A798-E4FD-EF68-C84C3F295FB3}"/>
              </a:ext>
            </a:extLst>
          </p:cNvPr>
          <p:cNvSpPr/>
          <p:nvPr/>
        </p:nvSpPr>
        <p:spPr>
          <a:xfrm>
            <a:off x="3736808" y="2007709"/>
            <a:ext cx="2111730" cy="5691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2000" dirty="0">
                <a:solidFill>
                  <a:schemeClr val="tx1"/>
                </a:solidFill>
              </a:rPr>
              <a:t>Identify Outliers</a:t>
            </a:r>
          </a:p>
        </p:txBody>
      </p:sp>
      <p:sp>
        <p:nvSpPr>
          <p:cNvPr id="33" name="Rectangle 32">
            <a:extLst>
              <a:ext uri="{FF2B5EF4-FFF2-40B4-BE49-F238E27FC236}">
                <a16:creationId xmlns:a16="http://schemas.microsoft.com/office/drawing/2014/main" id="{36439C7E-1C5B-0634-9095-BB4706C201CE}"/>
              </a:ext>
            </a:extLst>
          </p:cNvPr>
          <p:cNvSpPr/>
          <p:nvPr/>
        </p:nvSpPr>
        <p:spPr>
          <a:xfrm>
            <a:off x="6132777" y="2019127"/>
            <a:ext cx="2111729" cy="5691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2000" dirty="0">
                <a:solidFill>
                  <a:schemeClr val="tx1"/>
                </a:solidFill>
              </a:rPr>
              <a:t>Dynamic Page Allocator</a:t>
            </a:r>
          </a:p>
        </p:txBody>
      </p:sp>
      <p:sp>
        <p:nvSpPr>
          <p:cNvPr id="3" name="Right Arrow 2">
            <a:extLst>
              <a:ext uri="{FF2B5EF4-FFF2-40B4-BE49-F238E27FC236}">
                <a16:creationId xmlns:a16="http://schemas.microsoft.com/office/drawing/2014/main" id="{7C80BCBB-B39A-3234-B8A8-EABC2888A35F}"/>
              </a:ext>
            </a:extLst>
          </p:cNvPr>
          <p:cNvSpPr/>
          <p:nvPr/>
        </p:nvSpPr>
        <p:spPr>
          <a:xfrm rot="10800000">
            <a:off x="6720232" y="3776870"/>
            <a:ext cx="922897" cy="248478"/>
          </a:xfrm>
          <a:prstGeom prst="rightArrow">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Right Arrow 11">
            <a:extLst>
              <a:ext uri="{FF2B5EF4-FFF2-40B4-BE49-F238E27FC236}">
                <a16:creationId xmlns:a16="http://schemas.microsoft.com/office/drawing/2014/main" id="{28AB61D4-3450-9B26-289A-7B285A4822E9}"/>
              </a:ext>
            </a:extLst>
          </p:cNvPr>
          <p:cNvSpPr/>
          <p:nvPr/>
        </p:nvSpPr>
        <p:spPr>
          <a:xfrm>
            <a:off x="6727192" y="4881899"/>
            <a:ext cx="922897" cy="248478"/>
          </a:xfrm>
          <a:prstGeom prst="rightArrow">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6" name="TextBox 15">
            <a:extLst>
              <a:ext uri="{FF2B5EF4-FFF2-40B4-BE49-F238E27FC236}">
                <a16:creationId xmlns:a16="http://schemas.microsoft.com/office/drawing/2014/main" id="{EFD5D61C-BDB2-863B-CA7B-575A5B5CE491}"/>
              </a:ext>
            </a:extLst>
          </p:cNvPr>
          <p:cNvSpPr txBox="1"/>
          <p:nvPr/>
        </p:nvSpPr>
        <p:spPr>
          <a:xfrm>
            <a:off x="6615652" y="4103255"/>
            <a:ext cx="1254886" cy="646331"/>
          </a:xfrm>
          <a:prstGeom prst="rect">
            <a:avLst/>
          </a:prstGeom>
          <a:noFill/>
        </p:spPr>
        <p:txBody>
          <a:bodyPr wrap="square" rtlCol="0">
            <a:spAutoFit/>
          </a:bodyPr>
          <a:lstStyle/>
          <a:p>
            <a:r>
              <a:rPr lang="en-US" altLang="zh-CN" dirty="0"/>
              <a:t>Page</a:t>
            </a:r>
            <a:r>
              <a:rPr lang="zh-CN" altLang="en-US" dirty="0"/>
              <a:t> </a:t>
            </a:r>
            <a:r>
              <a:rPr lang="en-US" altLang="zh-CN" dirty="0"/>
              <a:t>exchange</a:t>
            </a:r>
            <a:endParaRPr lang="en-CN" dirty="0"/>
          </a:p>
        </p:txBody>
      </p:sp>
      <p:cxnSp>
        <p:nvCxnSpPr>
          <p:cNvPr id="19" name="Straight Connector 18">
            <a:extLst>
              <a:ext uri="{FF2B5EF4-FFF2-40B4-BE49-F238E27FC236}">
                <a16:creationId xmlns:a16="http://schemas.microsoft.com/office/drawing/2014/main" id="{2CA24481-5833-83C7-5367-73AC496DF924}"/>
              </a:ext>
            </a:extLst>
          </p:cNvPr>
          <p:cNvCxnSpPr>
            <a:stCxn id="15" idx="1"/>
            <a:endCxn id="15" idx="3"/>
          </p:cNvCxnSpPr>
          <p:nvPr/>
        </p:nvCxnSpPr>
        <p:spPr>
          <a:xfrm>
            <a:off x="7517999" y="3170575"/>
            <a:ext cx="1760418"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138DB21-CAB4-DFE8-7FDE-EB196BC28982}"/>
              </a:ext>
            </a:extLst>
          </p:cNvPr>
          <p:cNvSpPr txBox="1"/>
          <p:nvPr/>
        </p:nvSpPr>
        <p:spPr>
          <a:xfrm>
            <a:off x="7519378" y="2712998"/>
            <a:ext cx="1639873" cy="369332"/>
          </a:xfrm>
          <a:prstGeom prst="rect">
            <a:avLst/>
          </a:prstGeom>
          <a:noFill/>
        </p:spPr>
        <p:txBody>
          <a:bodyPr wrap="none" rtlCol="0">
            <a:spAutoFit/>
          </a:bodyPr>
          <a:lstStyle/>
          <a:p>
            <a:r>
              <a:rPr lang="en-CN" dirty="0">
                <a:solidFill>
                  <a:schemeClr val="accent3"/>
                </a:solidFill>
              </a:rPr>
              <a:t>Slowdown: </a:t>
            </a:r>
            <a:r>
              <a:rPr lang="en-US" altLang="zh-CN" b="1" dirty="0">
                <a:solidFill>
                  <a:schemeClr val="accent3"/>
                </a:solidFill>
              </a:rPr>
              <a:t>3</a:t>
            </a:r>
            <a:r>
              <a:rPr lang="en-CN" b="1" dirty="0">
                <a:solidFill>
                  <a:schemeClr val="accent3"/>
                </a:solidFill>
              </a:rPr>
              <a:t>%</a:t>
            </a:r>
          </a:p>
        </p:txBody>
      </p:sp>
    </p:spTree>
    <p:extLst>
      <p:ext uri="{BB962C8B-B14F-4D97-AF65-F5344CB8AC3E}">
        <p14:creationId xmlns:p14="http://schemas.microsoft.com/office/powerpoint/2010/main" val="2350629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A9E5-2EF0-1F92-7BA9-7D5B02703F8F}"/>
              </a:ext>
            </a:extLst>
          </p:cNvPr>
          <p:cNvSpPr>
            <a:spLocks noGrp="1"/>
          </p:cNvSpPr>
          <p:nvPr>
            <p:ph type="title"/>
          </p:nvPr>
        </p:nvSpPr>
        <p:spPr/>
        <p:txBody>
          <a:bodyPr/>
          <a:lstStyle/>
          <a:p>
            <a:r>
              <a:rPr lang="en-CN" dirty="0"/>
              <a:t>Evaluate 115 Popular Cloud Workloads</a:t>
            </a:r>
          </a:p>
        </p:txBody>
      </p:sp>
      <p:sp>
        <p:nvSpPr>
          <p:cNvPr id="3" name="Content Placeholder 2">
            <a:extLst>
              <a:ext uri="{FF2B5EF4-FFF2-40B4-BE49-F238E27FC236}">
                <a16:creationId xmlns:a16="http://schemas.microsoft.com/office/drawing/2014/main" id="{7ACDF2F7-466E-6138-9A5D-456B6F74DB38}"/>
              </a:ext>
            </a:extLst>
          </p:cNvPr>
          <p:cNvSpPr>
            <a:spLocks noGrp="1"/>
          </p:cNvSpPr>
          <p:nvPr>
            <p:ph idx="1"/>
          </p:nvPr>
        </p:nvSpPr>
        <p:spPr>
          <a:xfrm>
            <a:off x="838200" y="1825625"/>
            <a:ext cx="10515600" cy="629142"/>
          </a:xfrm>
        </p:spPr>
        <p:txBody>
          <a:bodyPr>
            <a:normAutofit/>
          </a:bodyPr>
          <a:lstStyle/>
          <a:p>
            <a:pPr marL="0" indent="0">
              <a:buNone/>
            </a:pPr>
            <a:r>
              <a:rPr lang="en-CN" sz="2600" dirty="0"/>
              <a:t>Pre-production Intel Xeon 6 CPU with </a:t>
            </a:r>
            <a:r>
              <a:rPr lang="en-CN" sz="2600" b="1" dirty="0"/>
              <a:t>real CXL cards </a:t>
            </a:r>
            <a:r>
              <a:rPr lang="en-CN" sz="2600" dirty="0"/>
              <a:t>from Astera Labs</a:t>
            </a:r>
          </a:p>
        </p:txBody>
      </p:sp>
      <p:sp>
        <p:nvSpPr>
          <p:cNvPr id="4" name="Slide Number Placeholder 3">
            <a:extLst>
              <a:ext uri="{FF2B5EF4-FFF2-40B4-BE49-F238E27FC236}">
                <a16:creationId xmlns:a16="http://schemas.microsoft.com/office/drawing/2014/main" id="{3EFBF422-5651-C03D-16CE-F051C2FAF88D}"/>
              </a:ext>
            </a:extLst>
          </p:cNvPr>
          <p:cNvSpPr>
            <a:spLocks noGrp="1"/>
          </p:cNvSpPr>
          <p:nvPr>
            <p:ph type="sldNum" sz="quarter" idx="12"/>
          </p:nvPr>
        </p:nvSpPr>
        <p:spPr/>
        <p:txBody>
          <a:bodyPr/>
          <a:lstStyle/>
          <a:p>
            <a:fld id="{5D76F006-5496-B946-A476-FEDACCAB686D}" type="slidenum">
              <a:rPr lang="en-CN" smtClean="0"/>
              <a:t>22</a:t>
            </a:fld>
            <a:endParaRPr lang="en-CN"/>
          </a:p>
        </p:txBody>
      </p:sp>
      <p:sp>
        <p:nvSpPr>
          <p:cNvPr id="5" name="TextBox 4">
            <a:extLst>
              <a:ext uri="{FF2B5EF4-FFF2-40B4-BE49-F238E27FC236}">
                <a16:creationId xmlns:a16="http://schemas.microsoft.com/office/drawing/2014/main" id="{41B9EFA3-510A-BEC3-F8E6-7E2327EE3C90}"/>
              </a:ext>
            </a:extLst>
          </p:cNvPr>
          <p:cNvSpPr txBox="1"/>
          <p:nvPr/>
        </p:nvSpPr>
        <p:spPr>
          <a:xfrm>
            <a:off x="1689324" y="3198487"/>
            <a:ext cx="887487" cy="523220"/>
          </a:xfrm>
          <a:prstGeom prst="rect">
            <a:avLst/>
          </a:prstGeom>
          <a:noFill/>
        </p:spPr>
        <p:txBody>
          <a:bodyPr wrap="none" rtlCol="0">
            <a:spAutoFit/>
          </a:bodyPr>
          <a:lstStyle/>
          <a:p>
            <a:r>
              <a:rPr lang="en-CN" sz="2800" dirty="0"/>
              <a:t>Web</a:t>
            </a:r>
          </a:p>
        </p:txBody>
      </p:sp>
      <p:sp>
        <p:nvSpPr>
          <p:cNvPr id="6" name="TextBox 5">
            <a:extLst>
              <a:ext uri="{FF2B5EF4-FFF2-40B4-BE49-F238E27FC236}">
                <a16:creationId xmlns:a16="http://schemas.microsoft.com/office/drawing/2014/main" id="{0817BDCC-C857-24DF-2B68-90910B81A7C8}"/>
              </a:ext>
            </a:extLst>
          </p:cNvPr>
          <p:cNvSpPr txBox="1"/>
          <p:nvPr/>
        </p:nvSpPr>
        <p:spPr>
          <a:xfrm>
            <a:off x="2703319" y="3198487"/>
            <a:ext cx="1680204" cy="523220"/>
          </a:xfrm>
          <a:prstGeom prst="rect">
            <a:avLst/>
          </a:prstGeom>
          <a:noFill/>
        </p:spPr>
        <p:txBody>
          <a:bodyPr wrap="none" rtlCol="0">
            <a:spAutoFit/>
          </a:bodyPr>
          <a:lstStyle/>
          <a:p>
            <a:r>
              <a:rPr lang="en-CN" sz="2800" dirty="0"/>
              <a:t>Database</a:t>
            </a:r>
          </a:p>
        </p:txBody>
      </p:sp>
      <p:sp>
        <p:nvSpPr>
          <p:cNvPr id="7" name="TextBox 6">
            <a:extLst>
              <a:ext uri="{FF2B5EF4-FFF2-40B4-BE49-F238E27FC236}">
                <a16:creationId xmlns:a16="http://schemas.microsoft.com/office/drawing/2014/main" id="{B94DF09F-5684-D87E-054F-B9BB2729DEBA}"/>
              </a:ext>
            </a:extLst>
          </p:cNvPr>
          <p:cNvSpPr txBox="1"/>
          <p:nvPr/>
        </p:nvSpPr>
        <p:spPr>
          <a:xfrm>
            <a:off x="4497064" y="3198487"/>
            <a:ext cx="3673698" cy="523220"/>
          </a:xfrm>
          <a:prstGeom prst="rect">
            <a:avLst/>
          </a:prstGeom>
          <a:noFill/>
        </p:spPr>
        <p:txBody>
          <a:bodyPr wrap="none" rtlCol="0">
            <a:spAutoFit/>
          </a:bodyPr>
          <a:lstStyle/>
          <a:p>
            <a:r>
              <a:rPr lang="en-CN" sz="2800" dirty="0"/>
              <a:t>Machine Learning (ML)</a:t>
            </a:r>
          </a:p>
        </p:txBody>
      </p:sp>
      <p:sp>
        <p:nvSpPr>
          <p:cNvPr id="8" name="TextBox 7">
            <a:extLst>
              <a:ext uri="{FF2B5EF4-FFF2-40B4-BE49-F238E27FC236}">
                <a16:creationId xmlns:a16="http://schemas.microsoft.com/office/drawing/2014/main" id="{2B234C9B-9A27-0E70-DC0B-AB0B67D5D839}"/>
              </a:ext>
            </a:extLst>
          </p:cNvPr>
          <p:cNvSpPr txBox="1"/>
          <p:nvPr/>
        </p:nvSpPr>
        <p:spPr>
          <a:xfrm>
            <a:off x="8191537" y="3198487"/>
            <a:ext cx="2595326" cy="523220"/>
          </a:xfrm>
          <a:prstGeom prst="rect">
            <a:avLst/>
          </a:prstGeom>
          <a:noFill/>
        </p:spPr>
        <p:txBody>
          <a:bodyPr wrap="none" rtlCol="0">
            <a:spAutoFit/>
          </a:bodyPr>
          <a:lstStyle/>
          <a:p>
            <a:r>
              <a:rPr lang="en-CN" sz="2800" dirty="0"/>
              <a:t>Key-Value Store</a:t>
            </a:r>
          </a:p>
        </p:txBody>
      </p:sp>
      <p:sp>
        <p:nvSpPr>
          <p:cNvPr id="9" name="TextBox 8">
            <a:extLst>
              <a:ext uri="{FF2B5EF4-FFF2-40B4-BE49-F238E27FC236}">
                <a16:creationId xmlns:a16="http://schemas.microsoft.com/office/drawing/2014/main" id="{22F4EA41-872D-89FB-EAA1-104EEBE59E4D}"/>
              </a:ext>
            </a:extLst>
          </p:cNvPr>
          <p:cNvSpPr txBox="1"/>
          <p:nvPr/>
        </p:nvSpPr>
        <p:spPr>
          <a:xfrm>
            <a:off x="2457546" y="4045899"/>
            <a:ext cx="1075936" cy="523220"/>
          </a:xfrm>
          <a:prstGeom prst="rect">
            <a:avLst/>
          </a:prstGeom>
          <a:noFill/>
        </p:spPr>
        <p:txBody>
          <a:bodyPr wrap="none" rtlCol="0">
            <a:spAutoFit/>
          </a:bodyPr>
          <a:lstStyle/>
          <a:p>
            <a:r>
              <a:rPr lang="en-CN" sz="2800" dirty="0"/>
              <a:t>Spark</a:t>
            </a:r>
          </a:p>
        </p:txBody>
      </p:sp>
      <p:sp>
        <p:nvSpPr>
          <p:cNvPr id="10" name="TextBox 9">
            <a:extLst>
              <a:ext uri="{FF2B5EF4-FFF2-40B4-BE49-F238E27FC236}">
                <a16:creationId xmlns:a16="http://schemas.microsoft.com/office/drawing/2014/main" id="{04D781F2-E50F-AAF5-2379-5DF6D67B0FFE}"/>
              </a:ext>
            </a:extLst>
          </p:cNvPr>
          <p:cNvSpPr txBox="1"/>
          <p:nvPr/>
        </p:nvSpPr>
        <p:spPr>
          <a:xfrm>
            <a:off x="3854531" y="4045899"/>
            <a:ext cx="2914644" cy="523220"/>
          </a:xfrm>
          <a:prstGeom prst="rect">
            <a:avLst/>
          </a:prstGeom>
          <a:noFill/>
        </p:spPr>
        <p:txBody>
          <a:bodyPr wrap="none" rtlCol="0">
            <a:spAutoFit/>
          </a:bodyPr>
          <a:lstStyle/>
          <a:p>
            <a:r>
              <a:rPr lang="en-CN" sz="2800" dirty="0"/>
              <a:t>Graph Processing</a:t>
            </a:r>
          </a:p>
        </p:txBody>
      </p:sp>
      <p:sp>
        <p:nvSpPr>
          <p:cNvPr id="11" name="TextBox 10">
            <a:extLst>
              <a:ext uri="{FF2B5EF4-FFF2-40B4-BE49-F238E27FC236}">
                <a16:creationId xmlns:a16="http://schemas.microsoft.com/office/drawing/2014/main" id="{DD9977F6-5D08-4AB8-533F-BE3826A60778}"/>
              </a:ext>
            </a:extLst>
          </p:cNvPr>
          <p:cNvSpPr txBox="1"/>
          <p:nvPr/>
        </p:nvSpPr>
        <p:spPr>
          <a:xfrm>
            <a:off x="7011841" y="4045899"/>
            <a:ext cx="3162917" cy="523220"/>
          </a:xfrm>
          <a:prstGeom prst="rect">
            <a:avLst/>
          </a:prstGeom>
          <a:noFill/>
        </p:spPr>
        <p:txBody>
          <a:bodyPr wrap="none" rtlCol="0">
            <a:spAutoFit/>
          </a:bodyPr>
          <a:lstStyle/>
          <a:p>
            <a:r>
              <a:rPr lang="en-CN" sz="2800" dirty="0"/>
              <a:t>Scientific Compute</a:t>
            </a:r>
          </a:p>
        </p:txBody>
      </p:sp>
      <p:sp>
        <p:nvSpPr>
          <p:cNvPr id="12" name="TextBox 11">
            <a:extLst>
              <a:ext uri="{FF2B5EF4-FFF2-40B4-BE49-F238E27FC236}">
                <a16:creationId xmlns:a16="http://schemas.microsoft.com/office/drawing/2014/main" id="{AE20D2A3-3F24-BCE9-4942-57E4D4E7D598}"/>
              </a:ext>
            </a:extLst>
          </p:cNvPr>
          <p:cNvSpPr txBox="1"/>
          <p:nvPr/>
        </p:nvSpPr>
        <p:spPr>
          <a:xfrm>
            <a:off x="4213836" y="5087938"/>
            <a:ext cx="4069127" cy="584775"/>
          </a:xfrm>
          <a:prstGeom prst="rect">
            <a:avLst/>
          </a:prstGeom>
          <a:noFill/>
        </p:spPr>
        <p:txBody>
          <a:bodyPr wrap="none" rtlCol="0">
            <a:spAutoFit/>
          </a:bodyPr>
          <a:lstStyle/>
          <a:p>
            <a:r>
              <a:rPr lang="en-CN" sz="3200" dirty="0"/>
              <a:t>115 workloads in total</a:t>
            </a:r>
          </a:p>
        </p:txBody>
      </p:sp>
      <p:sp>
        <p:nvSpPr>
          <p:cNvPr id="13" name="Oval 12">
            <a:extLst>
              <a:ext uri="{FF2B5EF4-FFF2-40B4-BE49-F238E27FC236}">
                <a16:creationId xmlns:a16="http://schemas.microsoft.com/office/drawing/2014/main" id="{1F4B870E-EE4E-4571-5A8C-191D951E67A7}"/>
              </a:ext>
            </a:extLst>
          </p:cNvPr>
          <p:cNvSpPr/>
          <p:nvPr/>
        </p:nvSpPr>
        <p:spPr>
          <a:xfrm>
            <a:off x="838200" y="2778959"/>
            <a:ext cx="10668000" cy="2181839"/>
          </a:xfrm>
          <a:prstGeom prst="ellipse">
            <a:avLst/>
          </a:prstGeom>
          <a:no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699924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3FD41-1CE2-CBCA-4745-4383EDE1EB85}"/>
              </a:ext>
            </a:extLst>
          </p:cNvPr>
          <p:cNvSpPr>
            <a:spLocks noGrp="1"/>
          </p:cNvSpPr>
          <p:nvPr>
            <p:ph type="title"/>
          </p:nvPr>
        </p:nvSpPr>
        <p:spPr/>
        <p:txBody>
          <a:bodyPr>
            <a:normAutofit/>
          </a:bodyPr>
          <a:lstStyle/>
          <a:p>
            <a:r>
              <a:rPr lang="en-CN" sz="3600" dirty="0"/>
              <a:t>Memstrata Eliminates Outliers With Low CPU Overhead</a:t>
            </a:r>
          </a:p>
        </p:txBody>
      </p:sp>
      <p:sp>
        <p:nvSpPr>
          <p:cNvPr id="3" name="Content Placeholder 2">
            <a:extLst>
              <a:ext uri="{FF2B5EF4-FFF2-40B4-BE49-F238E27FC236}">
                <a16:creationId xmlns:a16="http://schemas.microsoft.com/office/drawing/2014/main" id="{45E70CDA-CDE4-75A9-3467-45847AA0CC2F}"/>
              </a:ext>
            </a:extLst>
          </p:cNvPr>
          <p:cNvSpPr>
            <a:spLocks noGrp="1"/>
          </p:cNvSpPr>
          <p:nvPr>
            <p:ph idx="1"/>
          </p:nvPr>
        </p:nvSpPr>
        <p:spPr>
          <a:xfrm>
            <a:off x="838200" y="1460500"/>
            <a:ext cx="10515600" cy="4351338"/>
          </a:xfrm>
        </p:spPr>
        <p:txBody>
          <a:bodyPr>
            <a:normAutofit/>
          </a:bodyPr>
          <a:lstStyle/>
          <a:p>
            <a:r>
              <a:rPr lang="en-US" altLang="zh-CN" sz="2600" dirty="0"/>
              <a:t>Sample</a:t>
            </a:r>
            <a:r>
              <a:rPr lang="zh-CN" altLang="en-US" sz="2600" dirty="0"/>
              <a:t> </a:t>
            </a:r>
            <a:r>
              <a:rPr lang="en-US" altLang="zh-CN" sz="2600" dirty="0"/>
              <a:t>workloads</a:t>
            </a:r>
            <a:r>
              <a:rPr lang="zh-CN" altLang="en-US" sz="2600" dirty="0"/>
              <a:t> </a:t>
            </a:r>
            <a:r>
              <a:rPr lang="en-US" altLang="zh-CN" sz="2600" dirty="0"/>
              <a:t>from</a:t>
            </a:r>
            <a:r>
              <a:rPr lang="zh-CN" altLang="en-US" sz="2600" dirty="0"/>
              <a:t> </a:t>
            </a:r>
            <a:r>
              <a:rPr lang="en-US" altLang="zh-CN" sz="2600" dirty="0"/>
              <a:t>representative</a:t>
            </a:r>
            <a:r>
              <a:rPr lang="zh-CN" altLang="en-US" sz="2600" dirty="0"/>
              <a:t> </a:t>
            </a:r>
            <a:r>
              <a:rPr lang="en-US" altLang="zh-CN" sz="2600" dirty="0"/>
              <a:t>Azure workload compositions</a:t>
            </a:r>
          </a:p>
          <a:p>
            <a:r>
              <a:rPr lang="en-US" sz="2600" dirty="0"/>
              <a:t>Continuous</a:t>
            </a:r>
            <a:r>
              <a:rPr lang="en-CN" sz="2600" dirty="0"/>
              <a:t> VM arrivals and departures</a:t>
            </a:r>
          </a:p>
          <a:p>
            <a:r>
              <a:rPr lang="en-CN" sz="2600" dirty="0"/>
              <a:t>Memstrata </a:t>
            </a:r>
            <a:r>
              <a:rPr lang="en-CN" sz="2600" b="1" dirty="0"/>
              <a:t>mitigates outliers </a:t>
            </a:r>
            <a:r>
              <a:rPr lang="en-CN" sz="2600" dirty="0"/>
              <a:t>with </a:t>
            </a:r>
            <a:r>
              <a:rPr lang="en-CN" sz="2600" b="1" dirty="0"/>
              <a:t>low CPU overhead </a:t>
            </a:r>
            <a:r>
              <a:rPr lang="en-CN" sz="2600" dirty="0"/>
              <a:t>(&lt; 3% of a core)</a:t>
            </a:r>
          </a:p>
        </p:txBody>
      </p:sp>
      <p:sp>
        <p:nvSpPr>
          <p:cNvPr id="4" name="Slide Number Placeholder 3">
            <a:extLst>
              <a:ext uri="{FF2B5EF4-FFF2-40B4-BE49-F238E27FC236}">
                <a16:creationId xmlns:a16="http://schemas.microsoft.com/office/drawing/2014/main" id="{E2B2890D-D6D9-CE98-4254-DB48C26D947D}"/>
              </a:ext>
            </a:extLst>
          </p:cNvPr>
          <p:cNvSpPr>
            <a:spLocks noGrp="1"/>
          </p:cNvSpPr>
          <p:nvPr>
            <p:ph type="sldNum" sz="quarter" idx="12"/>
          </p:nvPr>
        </p:nvSpPr>
        <p:spPr/>
        <p:txBody>
          <a:bodyPr/>
          <a:lstStyle/>
          <a:p>
            <a:fld id="{5D76F006-5496-B946-A476-FEDACCAB686D}" type="slidenum">
              <a:rPr lang="en-CN" smtClean="0"/>
              <a:t>23</a:t>
            </a:fld>
            <a:endParaRPr lang="en-CN"/>
          </a:p>
        </p:txBody>
      </p:sp>
      <p:grpSp>
        <p:nvGrpSpPr>
          <p:cNvPr id="7" name="Group 6">
            <a:extLst>
              <a:ext uri="{FF2B5EF4-FFF2-40B4-BE49-F238E27FC236}">
                <a16:creationId xmlns:a16="http://schemas.microsoft.com/office/drawing/2014/main" id="{E463D096-7758-E33E-38D3-1926A92D30C9}"/>
              </a:ext>
            </a:extLst>
          </p:cNvPr>
          <p:cNvGrpSpPr/>
          <p:nvPr/>
        </p:nvGrpSpPr>
        <p:grpSpPr>
          <a:xfrm>
            <a:off x="1909993" y="3079761"/>
            <a:ext cx="8372013" cy="3408640"/>
            <a:chOff x="1948166" y="3307012"/>
            <a:chExt cx="8295667" cy="3503363"/>
          </a:xfrm>
        </p:grpSpPr>
        <p:pic>
          <p:nvPicPr>
            <p:cNvPr id="5" name="Picture 4">
              <a:extLst>
                <a:ext uri="{FF2B5EF4-FFF2-40B4-BE49-F238E27FC236}">
                  <a16:creationId xmlns:a16="http://schemas.microsoft.com/office/drawing/2014/main" id="{C7788F17-556A-ED7E-0965-6E61E6B82B5E}"/>
                </a:ext>
              </a:extLst>
            </p:cNvPr>
            <p:cNvPicPr>
              <a:picLocks noChangeAspect="1"/>
            </p:cNvPicPr>
            <p:nvPr/>
          </p:nvPicPr>
          <p:blipFill rotWithShape="1">
            <a:blip r:embed="rId3"/>
            <a:srcRect b="5141"/>
            <a:stretch/>
          </p:blipFill>
          <p:spPr>
            <a:xfrm>
              <a:off x="1948166" y="3307012"/>
              <a:ext cx="8295667" cy="3368426"/>
            </a:xfrm>
            <a:prstGeom prst="rect">
              <a:avLst/>
            </a:prstGeom>
          </p:spPr>
        </p:pic>
        <p:pic>
          <p:nvPicPr>
            <p:cNvPr id="6" name="Picture 5">
              <a:extLst>
                <a:ext uri="{FF2B5EF4-FFF2-40B4-BE49-F238E27FC236}">
                  <a16:creationId xmlns:a16="http://schemas.microsoft.com/office/drawing/2014/main" id="{391A786E-98B9-B871-3ED5-55256D3C11BF}"/>
                </a:ext>
              </a:extLst>
            </p:cNvPr>
            <p:cNvPicPr>
              <a:picLocks noChangeAspect="1"/>
            </p:cNvPicPr>
            <p:nvPr/>
          </p:nvPicPr>
          <p:blipFill>
            <a:blip r:embed="rId4"/>
            <a:stretch>
              <a:fillRect/>
            </a:stretch>
          </p:blipFill>
          <p:spPr>
            <a:xfrm>
              <a:off x="4673600" y="6492875"/>
              <a:ext cx="3302000" cy="317500"/>
            </a:xfrm>
            <a:prstGeom prst="rect">
              <a:avLst/>
            </a:prstGeom>
          </p:spPr>
        </p:pic>
      </p:grpSp>
    </p:spTree>
    <p:extLst>
      <p:ext uri="{BB962C8B-B14F-4D97-AF65-F5344CB8AC3E}">
        <p14:creationId xmlns:p14="http://schemas.microsoft.com/office/powerpoint/2010/main" val="2481148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8B879-9D50-78A3-5F8F-FEED78A24D2D}"/>
              </a:ext>
            </a:extLst>
          </p:cNvPr>
          <p:cNvSpPr>
            <a:spLocks noGrp="1"/>
          </p:cNvSpPr>
          <p:nvPr>
            <p:ph type="title"/>
          </p:nvPr>
        </p:nvSpPr>
        <p:spPr/>
        <p:txBody>
          <a:bodyPr/>
          <a:lstStyle/>
          <a:p>
            <a:r>
              <a:rPr lang="en-CN" dirty="0"/>
              <a:t>Executive Summary</a:t>
            </a:r>
          </a:p>
        </p:txBody>
      </p:sp>
      <p:sp>
        <p:nvSpPr>
          <p:cNvPr id="3" name="Content Placeholder 2">
            <a:extLst>
              <a:ext uri="{FF2B5EF4-FFF2-40B4-BE49-F238E27FC236}">
                <a16:creationId xmlns:a16="http://schemas.microsoft.com/office/drawing/2014/main" id="{611D084D-6E39-0793-C886-186F112C792A}"/>
              </a:ext>
            </a:extLst>
          </p:cNvPr>
          <p:cNvSpPr>
            <a:spLocks noGrp="1"/>
          </p:cNvSpPr>
          <p:nvPr>
            <p:ph idx="1"/>
          </p:nvPr>
        </p:nvSpPr>
        <p:spPr>
          <a:xfrm>
            <a:off x="838200" y="1505584"/>
            <a:ext cx="10515600" cy="4712335"/>
          </a:xfrm>
        </p:spPr>
        <p:txBody>
          <a:bodyPr>
            <a:normAutofit/>
          </a:bodyPr>
          <a:lstStyle/>
          <a:p>
            <a:pPr marL="0" indent="0">
              <a:buNone/>
            </a:pPr>
            <a:r>
              <a:rPr lang="en-CN" sz="2400" dirty="0"/>
              <a:t>Background:</a:t>
            </a:r>
          </a:p>
          <a:p>
            <a:r>
              <a:rPr lang="en-CN" sz="2400" dirty="0"/>
              <a:t>CPU </a:t>
            </a:r>
            <a:r>
              <a:rPr lang="en-CN" sz="2400" b="1" dirty="0"/>
              <a:t>core counts scaling faster </a:t>
            </a:r>
            <a:r>
              <a:rPr lang="en-CN" sz="2400" dirty="0"/>
              <a:t>than memory capacity</a:t>
            </a:r>
          </a:p>
          <a:p>
            <a:r>
              <a:rPr lang="en-CN" sz="2400" dirty="0"/>
              <a:t>CXL enables </a:t>
            </a:r>
            <a:r>
              <a:rPr lang="en-CN" sz="2400" b="1" dirty="0"/>
              <a:t>second-tier memory </a:t>
            </a:r>
            <a:r>
              <a:rPr lang="en-CN" sz="2400" dirty="0"/>
              <a:t>to facilitate core scaling</a:t>
            </a:r>
          </a:p>
          <a:p>
            <a:r>
              <a:rPr lang="en-CN" sz="2400" dirty="0"/>
              <a:t>But CXL adds latency that hurts performance if not mitigated</a:t>
            </a:r>
          </a:p>
          <a:p>
            <a:r>
              <a:rPr lang="en-CN" sz="2400" dirty="0"/>
              <a:t>Software tiering helps some but </a:t>
            </a:r>
            <a:r>
              <a:rPr lang="en-CN" sz="2400" b="1" dirty="0"/>
              <a:t>is not well suited for public clouds</a:t>
            </a:r>
          </a:p>
          <a:p>
            <a:pPr marL="0" indent="0">
              <a:buNone/>
            </a:pPr>
            <a:r>
              <a:rPr lang="en-CN" sz="2400" dirty="0"/>
              <a:t>Contributions:</a:t>
            </a:r>
            <a:endParaRPr lang="en-CN" sz="2000" dirty="0"/>
          </a:p>
          <a:p>
            <a:r>
              <a:rPr lang="en-CN" sz="2400" dirty="0"/>
              <a:t>Intel Flat Memory Mode: First </a:t>
            </a:r>
            <a:r>
              <a:rPr lang="en-CN" sz="2400" b="1" dirty="0"/>
              <a:t>hardware-managed</a:t>
            </a:r>
            <a:r>
              <a:rPr lang="en-CN" sz="2400" dirty="0"/>
              <a:t> memory tiering for CXL</a:t>
            </a:r>
          </a:p>
          <a:p>
            <a:pPr lvl="1"/>
            <a:r>
              <a:rPr lang="en-CN" dirty="0"/>
              <a:t>But still has </a:t>
            </a:r>
            <a:r>
              <a:rPr lang="en-CN" b="1" dirty="0"/>
              <a:t>limitations</a:t>
            </a:r>
            <a:r>
              <a:rPr lang="en-CN" dirty="0"/>
              <a:t> that slowdown workloads</a:t>
            </a:r>
          </a:p>
          <a:p>
            <a:r>
              <a:rPr lang="en-CN" sz="2400" dirty="0"/>
              <a:t>Memstrata: Memory allocator for hardware tiering to </a:t>
            </a:r>
            <a:r>
              <a:rPr lang="en-CN" sz="2400" b="1" dirty="0"/>
              <a:t>mitigate outliers</a:t>
            </a:r>
            <a:endParaRPr lang="en-US" sz="2400" b="1" dirty="0"/>
          </a:p>
          <a:p>
            <a:r>
              <a:rPr lang="en-US" sz="2400" dirty="0"/>
              <a:t>Slowdown reduces to 5% vs. unattainable one-tier memory</a:t>
            </a:r>
            <a:endParaRPr lang="en-CN" sz="2400" dirty="0"/>
          </a:p>
        </p:txBody>
      </p:sp>
      <p:sp>
        <p:nvSpPr>
          <p:cNvPr id="4" name="Slide Number Placeholder 3">
            <a:extLst>
              <a:ext uri="{FF2B5EF4-FFF2-40B4-BE49-F238E27FC236}">
                <a16:creationId xmlns:a16="http://schemas.microsoft.com/office/drawing/2014/main" id="{3FCFA327-7BB0-04F9-09D4-DE0EE4F022BA}"/>
              </a:ext>
            </a:extLst>
          </p:cNvPr>
          <p:cNvSpPr>
            <a:spLocks noGrp="1"/>
          </p:cNvSpPr>
          <p:nvPr>
            <p:ph type="sldNum" sz="quarter" idx="12"/>
          </p:nvPr>
        </p:nvSpPr>
        <p:spPr/>
        <p:txBody>
          <a:bodyPr/>
          <a:lstStyle/>
          <a:p>
            <a:fld id="{5D76F006-5496-B946-A476-FEDACCAB686D}" type="slidenum">
              <a:rPr lang="en-CN" smtClean="0"/>
              <a:t>24</a:t>
            </a:fld>
            <a:endParaRPr lang="en-CN"/>
          </a:p>
        </p:txBody>
      </p:sp>
      <p:pic>
        <p:nvPicPr>
          <p:cNvPr id="5" name="Picture 4">
            <a:extLst>
              <a:ext uri="{FF2B5EF4-FFF2-40B4-BE49-F238E27FC236}">
                <a16:creationId xmlns:a16="http://schemas.microsoft.com/office/drawing/2014/main" id="{C2D5885C-8B46-F6F8-ACD9-6EE6BCB20716}"/>
              </a:ext>
            </a:extLst>
          </p:cNvPr>
          <p:cNvPicPr>
            <a:picLocks noChangeAspect="1"/>
          </p:cNvPicPr>
          <p:nvPr/>
        </p:nvPicPr>
        <p:blipFill>
          <a:blip r:embed="rId3"/>
          <a:stretch>
            <a:fillRect/>
          </a:stretch>
        </p:blipFill>
        <p:spPr>
          <a:xfrm>
            <a:off x="10364470" y="351154"/>
            <a:ext cx="1465264" cy="1465264"/>
          </a:xfrm>
          <a:prstGeom prst="rect">
            <a:avLst/>
          </a:prstGeom>
        </p:spPr>
      </p:pic>
      <p:sp>
        <p:nvSpPr>
          <p:cNvPr id="6" name="TextBox 5">
            <a:extLst>
              <a:ext uri="{FF2B5EF4-FFF2-40B4-BE49-F238E27FC236}">
                <a16:creationId xmlns:a16="http://schemas.microsoft.com/office/drawing/2014/main" id="{16BC728B-ED7A-241C-E21A-D6206D631942}"/>
              </a:ext>
            </a:extLst>
          </p:cNvPr>
          <p:cNvSpPr txBox="1"/>
          <p:nvPr/>
        </p:nvSpPr>
        <p:spPr>
          <a:xfrm>
            <a:off x="10354761" y="1745258"/>
            <a:ext cx="1475084" cy="369332"/>
          </a:xfrm>
          <a:prstGeom prst="rect">
            <a:avLst/>
          </a:prstGeom>
          <a:noFill/>
        </p:spPr>
        <p:txBody>
          <a:bodyPr wrap="none" rtlCol="0">
            <a:spAutoFit/>
          </a:bodyPr>
          <a:lstStyle/>
          <a:p>
            <a:r>
              <a:rPr lang="en-CN" dirty="0"/>
              <a:t>Source Code</a:t>
            </a:r>
          </a:p>
        </p:txBody>
      </p:sp>
      <p:sp>
        <p:nvSpPr>
          <p:cNvPr id="7" name="TextBox 6">
            <a:extLst>
              <a:ext uri="{FF2B5EF4-FFF2-40B4-BE49-F238E27FC236}">
                <a16:creationId xmlns:a16="http://schemas.microsoft.com/office/drawing/2014/main" id="{62E6733A-8A38-D49D-65B8-D00888A31560}"/>
              </a:ext>
            </a:extLst>
          </p:cNvPr>
          <p:cNvSpPr txBox="1"/>
          <p:nvPr/>
        </p:nvSpPr>
        <p:spPr>
          <a:xfrm>
            <a:off x="838200" y="6065946"/>
            <a:ext cx="3390672" cy="461665"/>
          </a:xfrm>
          <a:prstGeom prst="rect">
            <a:avLst/>
          </a:prstGeom>
          <a:noFill/>
        </p:spPr>
        <p:txBody>
          <a:bodyPr wrap="none" rtlCol="0">
            <a:spAutoFit/>
          </a:bodyPr>
          <a:lstStyle/>
          <a:p>
            <a:r>
              <a:rPr lang="en-CN" sz="2400" dirty="0">
                <a:solidFill>
                  <a:schemeClr val="accent1"/>
                </a:solidFill>
              </a:rPr>
              <a:t>✉️  yz@cs.columbia.edu</a:t>
            </a:r>
          </a:p>
        </p:txBody>
      </p:sp>
    </p:spTree>
    <p:extLst>
      <p:ext uri="{BB962C8B-B14F-4D97-AF65-F5344CB8AC3E}">
        <p14:creationId xmlns:p14="http://schemas.microsoft.com/office/powerpoint/2010/main" val="297800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9F50-7399-B779-1357-EF6E4C09B6A7}"/>
              </a:ext>
            </a:extLst>
          </p:cNvPr>
          <p:cNvSpPr>
            <a:spLocks noGrp="1"/>
          </p:cNvSpPr>
          <p:nvPr>
            <p:ph type="title"/>
          </p:nvPr>
        </p:nvSpPr>
        <p:spPr/>
        <p:txBody>
          <a:bodyPr>
            <a:normAutofit/>
          </a:bodyPr>
          <a:lstStyle/>
          <a:p>
            <a:r>
              <a:rPr lang="en-CN" sz="4000" dirty="0"/>
              <a:t>Core Count Increasing But DRAM Price Flattening</a:t>
            </a:r>
          </a:p>
        </p:txBody>
      </p:sp>
      <p:sp>
        <p:nvSpPr>
          <p:cNvPr id="4" name="Slide Number Placeholder 3">
            <a:extLst>
              <a:ext uri="{FF2B5EF4-FFF2-40B4-BE49-F238E27FC236}">
                <a16:creationId xmlns:a16="http://schemas.microsoft.com/office/drawing/2014/main" id="{67391E10-6289-3A6B-9786-D6FEAA252735}"/>
              </a:ext>
            </a:extLst>
          </p:cNvPr>
          <p:cNvSpPr>
            <a:spLocks noGrp="1"/>
          </p:cNvSpPr>
          <p:nvPr>
            <p:ph type="sldNum" sz="quarter" idx="12"/>
          </p:nvPr>
        </p:nvSpPr>
        <p:spPr/>
        <p:txBody>
          <a:bodyPr/>
          <a:lstStyle/>
          <a:p>
            <a:fld id="{5D76F006-5496-B946-A476-FEDACCAB686D}" type="slidenum">
              <a:rPr lang="en-CN" smtClean="0"/>
              <a:t>25</a:t>
            </a:fld>
            <a:endParaRPr lang="en-CN"/>
          </a:p>
        </p:txBody>
      </p:sp>
      <p:graphicFrame>
        <p:nvGraphicFramePr>
          <p:cNvPr id="5" name="Chart 4">
            <a:extLst>
              <a:ext uri="{FF2B5EF4-FFF2-40B4-BE49-F238E27FC236}">
                <a16:creationId xmlns:a16="http://schemas.microsoft.com/office/drawing/2014/main" id="{D8CC304C-522A-55C1-9A9A-DB1E9AFD072B}"/>
              </a:ext>
            </a:extLst>
          </p:cNvPr>
          <p:cNvGraphicFramePr>
            <a:graphicFrameLocks/>
          </p:cNvGraphicFramePr>
          <p:nvPr>
            <p:extLst>
              <p:ext uri="{D42A27DB-BD31-4B8C-83A1-F6EECF244321}">
                <p14:modId xmlns:p14="http://schemas.microsoft.com/office/powerpoint/2010/main" val="3443899948"/>
              </p:ext>
            </p:extLst>
          </p:nvPr>
        </p:nvGraphicFramePr>
        <p:xfrm>
          <a:off x="5887910" y="3000536"/>
          <a:ext cx="6020386" cy="3476933"/>
        </p:xfrm>
        <a:graphic>
          <a:graphicData uri="http://schemas.openxmlformats.org/drawingml/2006/chart">
            <c:chart xmlns:c="http://schemas.openxmlformats.org/drawingml/2006/chart" xmlns:r="http://schemas.openxmlformats.org/officeDocument/2006/relationships" r:id="rId3"/>
          </a:graphicData>
        </a:graphic>
      </p:graphicFrame>
      <p:cxnSp>
        <p:nvCxnSpPr>
          <p:cNvPr id="7" name="Straight Arrow Connector 6">
            <a:extLst>
              <a:ext uri="{FF2B5EF4-FFF2-40B4-BE49-F238E27FC236}">
                <a16:creationId xmlns:a16="http://schemas.microsoft.com/office/drawing/2014/main" id="{14DC5F14-2F25-39DA-096A-79E3BDF89EED}"/>
              </a:ext>
            </a:extLst>
          </p:cNvPr>
          <p:cNvCxnSpPr>
            <a:cxnSpLocks/>
          </p:cNvCxnSpPr>
          <p:nvPr/>
        </p:nvCxnSpPr>
        <p:spPr>
          <a:xfrm>
            <a:off x="7278453" y="3776562"/>
            <a:ext cx="2185579" cy="1448188"/>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AF108FA-1B6B-88BB-5ABE-491BCACA40A3}"/>
              </a:ext>
            </a:extLst>
          </p:cNvPr>
          <p:cNvCxnSpPr>
            <a:cxnSpLocks/>
          </p:cNvCxnSpPr>
          <p:nvPr/>
        </p:nvCxnSpPr>
        <p:spPr>
          <a:xfrm>
            <a:off x="9473363" y="5190313"/>
            <a:ext cx="1922709" cy="135261"/>
          </a:xfrm>
          <a:prstGeom prst="straightConnector1">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8" name="Chart 17">
            <a:extLst>
              <a:ext uri="{FF2B5EF4-FFF2-40B4-BE49-F238E27FC236}">
                <a16:creationId xmlns:a16="http://schemas.microsoft.com/office/drawing/2014/main" id="{DA5B5CBC-927F-84F9-AE64-6D21565F5684}"/>
              </a:ext>
            </a:extLst>
          </p:cNvPr>
          <p:cNvGraphicFramePr>
            <a:graphicFrameLocks/>
          </p:cNvGraphicFramePr>
          <p:nvPr>
            <p:extLst>
              <p:ext uri="{D42A27DB-BD31-4B8C-83A1-F6EECF244321}">
                <p14:modId xmlns:p14="http://schemas.microsoft.com/office/powerpoint/2010/main" val="3366913740"/>
              </p:ext>
            </p:extLst>
          </p:nvPr>
        </p:nvGraphicFramePr>
        <p:xfrm>
          <a:off x="190694" y="3015942"/>
          <a:ext cx="5627518" cy="3476933"/>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Box 18">
            <a:extLst>
              <a:ext uri="{FF2B5EF4-FFF2-40B4-BE49-F238E27FC236}">
                <a16:creationId xmlns:a16="http://schemas.microsoft.com/office/drawing/2014/main" id="{2FBBEC09-A5E4-CB62-6A6C-A51E1DD81798}"/>
              </a:ext>
            </a:extLst>
          </p:cNvPr>
          <p:cNvSpPr txBox="1"/>
          <p:nvPr/>
        </p:nvSpPr>
        <p:spPr>
          <a:xfrm>
            <a:off x="1880791" y="2585055"/>
            <a:ext cx="2990947" cy="430887"/>
          </a:xfrm>
          <a:prstGeom prst="rect">
            <a:avLst/>
          </a:prstGeom>
          <a:noFill/>
        </p:spPr>
        <p:txBody>
          <a:bodyPr wrap="none" rtlCol="0">
            <a:spAutoFit/>
          </a:bodyPr>
          <a:lstStyle/>
          <a:p>
            <a:r>
              <a:rPr lang="en-CN" sz="2200">
                <a:solidFill>
                  <a:schemeClr val="accent3"/>
                </a:solidFill>
              </a:rPr>
              <a:t>Core Count </a:t>
            </a:r>
            <a:r>
              <a:rPr lang="en-CN" sz="2200" b="1">
                <a:solidFill>
                  <a:schemeClr val="accent3"/>
                </a:solidFill>
              </a:rPr>
              <a:t>Increasing</a:t>
            </a:r>
          </a:p>
        </p:txBody>
      </p:sp>
      <p:sp>
        <p:nvSpPr>
          <p:cNvPr id="20" name="TextBox 19">
            <a:extLst>
              <a:ext uri="{FF2B5EF4-FFF2-40B4-BE49-F238E27FC236}">
                <a16:creationId xmlns:a16="http://schemas.microsoft.com/office/drawing/2014/main" id="{7ADB12BD-6D7B-9C4C-D738-440FA4DDDDF1}"/>
              </a:ext>
            </a:extLst>
          </p:cNvPr>
          <p:cNvSpPr txBox="1"/>
          <p:nvPr/>
        </p:nvSpPr>
        <p:spPr>
          <a:xfrm>
            <a:off x="0" y="6596390"/>
            <a:ext cx="6795450" cy="261610"/>
          </a:xfrm>
          <a:prstGeom prst="rect">
            <a:avLst/>
          </a:prstGeom>
          <a:noFill/>
        </p:spPr>
        <p:txBody>
          <a:bodyPr wrap="none" rtlCol="0">
            <a:spAutoFit/>
          </a:bodyPr>
          <a:lstStyle/>
          <a:p>
            <a:r>
              <a:rPr lang="en-CN" sz="1100" dirty="0"/>
              <a:t>Source: </a:t>
            </a:r>
            <a:r>
              <a:rPr lang="en-US" sz="1100" dirty="0"/>
              <a:t>Micron's Perspective on Impact of CXL on DRAM Bit Growth Rate</a:t>
            </a:r>
            <a:r>
              <a:rPr lang="en-CN" sz="1100" dirty="0"/>
              <a:t>; </a:t>
            </a:r>
            <a:r>
              <a:rPr lang="en-US" sz="1100" dirty="0"/>
              <a:t>https://</a:t>
            </a:r>
            <a:r>
              <a:rPr lang="en-US" sz="1100" dirty="0" err="1"/>
              <a:t>jcmit.net</a:t>
            </a:r>
            <a:r>
              <a:rPr lang="en-US" sz="1100" dirty="0"/>
              <a:t>/</a:t>
            </a:r>
            <a:r>
              <a:rPr lang="en-US" sz="1100" dirty="0" err="1"/>
              <a:t>memoryprice.htm</a:t>
            </a:r>
            <a:endParaRPr lang="en-US" sz="1100" dirty="0"/>
          </a:p>
        </p:txBody>
      </p:sp>
      <p:sp>
        <p:nvSpPr>
          <p:cNvPr id="21" name="TextBox 20">
            <a:extLst>
              <a:ext uri="{FF2B5EF4-FFF2-40B4-BE49-F238E27FC236}">
                <a16:creationId xmlns:a16="http://schemas.microsoft.com/office/drawing/2014/main" id="{0AE01E36-DD65-752D-4437-23C97731BCF5}"/>
              </a:ext>
            </a:extLst>
          </p:cNvPr>
          <p:cNvSpPr txBox="1"/>
          <p:nvPr/>
        </p:nvSpPr>
        <p:spPr>
          <a:xfrm>
            <a:off x="7980292" y="2585055"/>
            <a:ext cx="2967479" cy="430887"/>
          </a:xfrm>
          <a:prstGeom prst="rect">
            <a:avLst/>
          </a:prstGeom>
          <a:noFill/>
        </p:spPr>
        <p:txBody>
          <a:bodyPr wrap="none" rtlCol="0">
            <a:spAutoFit/>
          </a:bodyPr>
          <a:lstStyle/>
          <a:p>
            <a:r>
              <a:rPr lang="en-CN" sz="2200" dirty="0">
                <a:solidFill>
                  <a:srgbClr val="C00000"/>
                </a:solidFill>
              </a:rPr>
              <a:t>DRAM Price </a:t>
            </a:r>
            <a:r>
              <a:rPr lang="en-CN" sz="2200" b="1" dirty="0">
                <a:solidFill>
                  <a:srgbClr val="C00000"/>
                </a:solidFill>
              </a:rPr>
              <a:t>Flattening</a:t>
            </a:r>
          </a:p>
        </p:txBody>
      </p:sp>
      <p:sp>
        <p:nvSpPr>
          <p:cNvPr id="22" name="TextBox 21">
            <a:extLst>
              <a:ext uri="{FF2B5EF4-FFF2-40B4-BE49-F238E27FC236}">
                <a16:creationId xmlns:a16="http://schemas.microsoft.com/office/drawing/2014/main" id="{69096D13-5388-CB2E-43C0-C0E221DF22B1}"/>
              </a:ext>
            </a:extLst>
          </p:cNvPr>
          <p:cNvSpPr txBox="1"/>
          <p:nvPr/>
        </p:nvSpPr>
        <p:spPr>
          <a:xfrm>
            <a:off x="611505" y="1453060"/>
            <a:ext cx="10968990" cy="892552"/>
          </a:xfrm>
          <a:prstGeom prst="rect">
            <a:avLst/>
          </a:prstGeom>
          <a:noFill/>
        </p:spPr>
        <p:txBody>
          <a:bodyPr wrap="square" rtlCol="0">
            <a:spAutoFit/>
          </a:bodyPr>
          <a:lstStyle/>
          <a:p>
            <a:r>
              <a:rPr lang="en-CN" sz="2600" dirty="0"/>
              <a:t>In clouds, VMs are given at certain core-to-memory ratios (4-32 GB per core)</a:t>
            </a:r>
          </a:p>
          <a:p>
            <a:r>
              <a:rPr lang="en-CN" sz="2600" b="1" dirty="0"/>
              <a:t>Memory cost is projected to dominate server cost</a:t>
            </a:r>
            <a:endParaRPr lang="en-CN" sz="2600" dirty="0"/>
          </a:p>
        </p:txBody>
      </p:sp>
    </p:spTree>
    <p:extLst>
      <p:ext uri="{BB962C8B-B14F-4D97-AF65-F5344CB8AC3E}">
        <p14:creationId xmlns:p14="http://schemas.microsoft.com/office/powerpoint/2010/main" val="980423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18" grpId="0">
        <p:bldAsOne/>
      </p:bldGraphic>
      <p:bldP spid="19" grpId="0"/>
      <p:bldP spid="21" grpId="0"/>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9FF9-3A92-F3D8-15DA-4EC9BAB49C62}"/>
              </a:ext>
            </a:extLst>
          </p:cNvPr>
          <p:cNvSpPr>
            <a:spLocks noGrp="1"/>
          </p:cNvSpPr>
          <p:nvPr>
            <p:ph type="title"/>
          </p:nvPr>
        </p:nvSpPr>
        <p:spPr/>
        <p:txBody>
          <a:bodyPr/>
          <a:lstStyle/>
          <a:p>
            <a:r>
              <a:rPr lang="en-CN"/>
              <a:t>Conclusion</a:t>
            </a:r>
          </a:p>
        </p:txBody>
      </p:sp>
      <p:sp>
        <p:nvSpPr>
          <p:cNvPr id="3" name="Content Placeholder 2">
            <a:extLst>
              <a:ext uri="{FF2B5EF4-FFF2-40B4-BE49-F238E27FC236}">
                <a16:creationId xmlns:a16="http://schemas.microsoft.com/office/drawing/2014/main" id="{19427D51-8DB1-55D5-6C86-ED1AF30824AB}"/>
              </a:ext>
            </a:extLst>
          </p:cNvPr>
          <p:cNvSpPr>
            <a:spLocks noGrp="1"/>
          </p:cNvSpPr>
          <p:nvPr>
            <p:ph idx="1"/>
          </p:nvPr>
        </p:nvSpPr>
        <p:spPr>
          <a:xfrm>
            <a:off x="838200" y="1689100"/>
            <a:ext cx="10616381" cy="4667250"/>
          </a:xfrm>
        </p:spPr>
        <p:txBody>
          <a:bodyPr>
            <a:noAutofit/>
          </a:bodyPr>
          <a:lstStyle/>
          <a:p>
            <a:r>
              <a:rPr lang="en-CN" sz="2500" dirty="0"/>
              <a:t>Realistic CXL deployment in virtualized environments requires</a:t>
            </a:r>
          </a:p>
          <a:p>
            <a:pPr marL="914400" lvl="1" indent="-457200">
              <a:buFont typeface="+mj-lt"/>
              <a:buAutoNum type="arabicParenR"/>
            </a:pPr>
            <a:r>
              <a:rPr lang="en-CN" sz="2500" dirty="0"/>
              <a:t>minimal slowdown</a:t>
            </a:r>
          </a:p>
          <a:p>
            <a:pPr marL="914400" lvl="1" indent="-457200">
              <a:buFont typeface="+mj-lt"/>
              <a:buAutoNum type="arabicParenR"/>
            </a:pPr>
            <a:r>
              <a:rPr lang="en-CN" sz="2500" dirty="0"/>
              <a:t>low CPU overhead</a:t>
            </a:r>
          </a:p>
          <a:p>
            <a:pPr marL="914400" lvl="1" indent="-457200">
              <a:buFont typeface="+mj-lt"/>
              <a:buAutoNum type="arabicParenR"/>
            </a:pPr>
            <a:r>
              <a:rPr lang="en-CN" sz="2500" dirty="0"/>
              <a:t>huge-page friendly</a:t>
            </a:r>
          </a:p>
          <a:p>
            <a:r>
              <a:rPr lang="en-CN" sz="2500" dirty="0"/>
              <a:t>Neither software tiering nor hardware tiering alone achieves all three goals</a:t>
            </a:r>
          </a:p>
          <a:p>
            <a:r>
              <a:rPr lang="en-CN" sz="2500" dirty="0"/>
              <a:t>We propose a combined software-hardware approach for memory tiering, which satisfies all three requirements</a:t>
            </a:r>
          </a:p>
          <a:p>
            <a:pPr marL="0" indent="0">
              <a:buNone/>
            </a:pPr>
            <a:endParaRPr lang="en-CN" sz="2500" dirty="0"/>
          </a:p>
          <a:p>
            <a:pPr marL="0" indent="0">
              <a:buNone/>
            </a:pPr>
            <a:r>
              <a:rPr lang="en-CN" sz="2500" dirty="0"/>
              <a:t>Thank you!</a:t>
            </a:r>
          </a:p>
          <a:p>
            <a:pPr marL="0" indent="0">
              <a:buNone/>
            </a:pPr>
            <a:r>
              <a:rPr lang="en-CN" sz="2500" dirty="0">
                <a:hlinkClick r:id="rId3"/>
              </a:rPr>
              <a:t>yz@cs.columbia.edu</a:t>
            </a:r>
            <a:endParaRPr lang="en-CN" sz="2500" dirty="0"/>
          </a:p>
        </p:txBody>
      </p:sp>
      <p:sp>
        <p:nvSpPr>
          <p:cNvPr id="4" name="Slide Number Placeholder 3">
            <a:extLst>
              <a:ext uri="{FF2B5EF4-FFF2-40B4-BE49-F238E27FC236}">
                <a16:creationId xmlns:a16="http://schemas.microsoft.com/office/drawing/2014/main" id="{2AEADD0A-88DD-A234-31A8-E4293B7254D0}"/>
              </a:ext>
            </a:extLst>
          </p:cNvPr>
          <p:cNvSpPr>
            <a:spLocks noGrp="1"/>
          </p:cNvSpPr>
          <p:nvPr>
            <p:ph type="sldNum" sz="quarter" idx="12"/>
          </p:nvPr>
        </p:nvSpPr>
        <p:spPr/>
        <p:txBody>
          <a:bodyPr/>
          <a:lstStyle/>
          <a:p>
            <a:fld id="{5D76F006-5496-B946-A476-FEDACCAB686D}" type="slidenum">
              <a:rPr lang="en-CN" smtClean="0"/>
              <a:t>26</a:t>
            </a:fld>
            <a:endParaRPr lang="en-CN"/>
          </a:p>
        </p:txBody>
      </p:sp>
      <p:pic>
        <p:nvPicPr>
          <p:cNvPr id="5" name="Picture 4">
            <a:extLst>
              <a:ext uri="{FF2B5EF4-FFF2-40B4-BE49-F238E27FC236}">
                <a16:creationId xmlns:a16="http://schemas.microsoft.com/office/drawing/2014/main" id="{60FC0080-1086-741B-76B9-ACD21183F1D8}"/>
              </a:ext>
            </a:extLst>
          </p:cNvPr>
          <p:cNvPicPr>
            <a:picLocks noChangeAspect="1"/>
          </p:cNvPicPr>
          <p:nvPr/>
        </p:nvPicPr>
        <p:blipFill>
          <a:blip r:embed="rId4"/>
          <a:stretch>
            <a:fillRect/>
          </a:stretch>
        </p:blipFill>
        <p:spPr>
          <a:xfrm>
            <a:off x="10467340" y="294481"/>
            <a:ext cx="1465264" cy="1465264"/>
          </a:xfrm>
          <a:prstGeom prst="rect">
            <a:avLst/>
          </a:prstGeom>
        </p:spPr>
      </p:pic>
      <p:sp>
        <p:nvSpPr>
          <p:cNvPr id="6" name="TextBox 5">
            <a:extLst>
              <a:ext uri="{FF2B5EF4-FFF2-40B4-BE49-F238E27FC236}">
                <a16:creationId xmlns:a16="http://schemas.microsoft.com/office/drawing/2014/main" id="{AD7AAB47-78FB-034A-08A6-35F8F8869780}"/>
              </a:ext>
            </a:extLst>
          </p:cNvPr>
          <p:cNvSpPr txBox="1"/>
          <p:nvPr/>
        </p:nvSpPr>
        <p:spPr>
          <a:xfrm>
            <a:off x="10457631" y="1688585"/>
            <a:ext cx="1475084" cy="369332"/>
          </a:xfrm>
          <a:prstGeom prst="rect">
            <a:avLst/>
          </a:prstGeom>
          <a:noFill/>
        </p:spPr>
        <p:txBody>
          <a:bodyPr wrap="none" rtlCol="0">
            <a:spAutoFit/>
          </a:bodyPr>
          <a:lstStyle/>
          <a:p>
            <a:r>
              <a:rPr lang="en-CN" dirty="0"/>
              <a:t>Source Code</a:t>
            </a:r>
          </a:p>
        </p:txBody>
      </p:sp>
    </p:spTree>
    <p:extLst>
      <p:ext uri="{BB962C8B-B14F-4D97-AF65-F5344CB8AC3E}">
        <p14:creationId xmlns:p14="http://schemas.microsoft.com/office/powerpoint/2010/main" val="27672000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8AF4C-DE37-BABF-B2B6-C58AB4F61850}"/>
              </a:ext>
            </a:extLst>
          </p:cNvPr>
          <p:cNvSpPr>
            <a:spLocks noGrp="1"/>
          </p:cNvSpPr>
          <p:nvPr>
            <p:ph type="title"/>
          </p:nvPr>
        </p:nvSpPr>
        <p:spPr/>
        <p:txBody>
          <a:bodyPr/>
          <a:lstStyle/>
          <a:p>
            <a:r>
              <a:rPr lang="en-CN"/>
              <a:t>Evaluate Memstrata in Realistic Settings</a:t>
            </a:r>
          </a:p>
        </p:txBody>
      </p:sp>
      <p:sp>
        <p:nvSpPr>
          <p:cNvPr id="3" name="Content Placeholder 2">
            <a:extLst>
              <a:ext uri="{FF2B5EF4-FFF2-40B4-BE49-F238E27FC236}">
                <a16:creationId xmlns:a16="http://schemas.microsoft.com/office/drawing/2014/main" id="{8FE0DA2F-E35A-56AC-A99A-5B167617512B}"/>
              </a:ext>
            </a:extLst>
          </p:cNvPr>
          <p:cNvSpPr>
            <a:spLocks noGrp="1"/>
          </p:cNvSpPr>
          <p:nvPr>
            <p:ph idx="1"/>
          </p:nvPr>
        </p:nvSpPr>
        <p:spPr/>
        <p:txBody>
          <a:bodyPr>
            <a:normAutofit/>
          </a:bodyPr>
          <a:lstStyle/>
          <a:p>
            <a:pPr marL="0" indent="0">
              <a:buNone/>
            </a:pPr>
            <a:r>
              <a:rPr lang="en-CN" sz="2600"/>
              <a:t>Big data, web, and ML workloads dominates cloud workloads [1]</a:t>
            </a:r>
          </a:p>
          <a:p>
            <a:pPr marL="0" indent="0">
              <a:buNone/>
            </a:pPr>
            <a:endParaRPr lang="en-CN" sz="2600"/>
          </a:p>
          <a:p>
            <a:pPr marL="0" indent="0">
              <a:buNone/>
            </a:pPr>
            <a:r>
              <a:rPr lang="en-CN" sz="2600"/>
              <a:t>Evaluate Memstrata in </a:t>
            </a:r>
            <a:r>
              <a:rPr lang="en-CN" sz="2600" b="1"/>
              <a:t>different</a:t>
            </a:r>
            <a:r>
              <a:rPr lang="en-CN" sz="2600"/>
              <a:t> </a:t>
            </a:r>
            <a:r>
              <a:rPr lang="en-CN" sz="2600" b="1"/>
              <a:t>workload compositions </a:t>
            </a:r>
            <a:r>
              <a:rPr lang="en-CN" sz="2600"/>
              <a:t>with 6 VMs:</a:t>
            </a:r>
          </a:p>
          <a:p>
            <a:r>
              <a:rPr lang="en-CN" sz="2600"/>
              <a:t>Web-heavy: 4 web, 1 data, 1 outlier</a:t>
            </a:r>
          </a:p>
          <a:p>
            <a:r>
              <a:rPr lang="en-CN" sz="2600"/>
              <a:t>Data-heavy: 1 web, 4 data, 1 outlier</a:t>
            </a:r>
          </a:p>
          <a:p>
            <a:r>
              <a:rPr lang="en-CN" sz="2600"/>
              <a:t>Balanced: 2 web, 2 data, 1 others (including ML), 1 outlier</a:t>
            </a:r>
          </a:p>
          <a:p>
            <a:pPr marL="0" indent="0">
              <a:buNone/>
            </a:pPr>
            <a:endParaRPr lang="en-CN" sz="2600"/>
          </a:p>
          <a:p>
            <a:pPr marL="0" indent="0">
              <a:buNone/>
            </a:pPr>
            <a:r>
              <a:rPr lang="en-US" sz="2600"/>
              <a:t>When one workload finishes, start another with the same type</a:t>
            </a:r>
          </a:p>
          <a:p>
            <a:pPr marL="0" indent="0">
              <a:buNone/>
            </a:pPr>
            <a:r>
              <a:rPr lang="en-US" sz="2600"/>
              <a:t>[continuous VM arrival and departure][sample from a distribution]</a:t>
            </a:r>
          </a:p>
        </p:txBody>
      </p:sp>
      <p:sp>
        <p:nvSpPr>
          <p:cNvPr id="4" name="Slide Number Placeholder 3">
            <a:extLst>
              <a:ext uri="{FF2B5EF4-FFF2-40B4-BE49-F238E27FC236}">
                <a16:creationId xmlns:a16="http://schemas.microsoft.com/office/drawing/2014/main" id="{F41DBD0E-23E8-1CAB-D2FE-6D18819AE8F2}"/>
              </a:ext>
            </a:extLst>
          </p:cNvPr>
          <p:cNvSpPr>
            <a:spLocks noGrp="1"/>
          </p:cNvSpPr>
          <p:nvPr>
            <p:ph type="sldNum" sz="quarter" idx="12"/>
          </p:nvPr>
        </p:nvSpPr>
        <p:spPr/>
        <p:txBody>
          <a:bodyPr/>
          <a:lstStyle/>
          <a:p>
            <a:fld id="{5D76F006-5496-B946-A476-FEDACCAB686D}" type="slidenum">
              <a:rPr lang="en-CN" smtClean="0"/>
              <a:t>27</a:t>
            </a:fld>
            <a:endParaRPr lang="en-CN"/>
          </a:p>
        </p:txBody>
      </p:sp>
      <p:sp>
        <p:nvSpPr>
          <p:cNvPr id="5" name="TextBox 4">
            <a:extLst>
              <a:ext uri="{FF2B5EF4-FFF2-40B4-BE49-F238E27FC236}">
                <a16:creationId xmlns:a16="http://schemas.microsoft.com/office/drawing/2014/main" id="{0BF3E6D1-D4B8-7579-6081-C56C06C265EE}"/>
              </a:ext>
            </a:extLst>
          </p:cNvPr>
          <p:cNvSpPr txBox="1"/>
          <p:nvPr/>
        </p:nvSpPr>
        <p:spPr>
          <a:xfrm>
            <a:off x="0" y="6519446"/>
            <a:ext cx="6127768" cy="338554"/>
          </a:xfrm>
          <a:prstGeom prst="rect">
            <a:avLst/>
          </a:prstGeom>
          <a:noFill/>
        </p:spPr>
        <p:txBody>
          <a:bodyPr wrap="none" rtlCol="0">
            <a:spAutoFit/>
          </a:bodyPr>
          <a:lstStyle/>
          <a:p>
            <a:r>
              <a:rPr lang="en-CN" sz="1600"/>
              <a:t>[1] Wang et al., </a:t>
            </a:r>
            <a:r>
              <a:rPr lang="en-US" sz="1600"/>
              <a:t>Designing cloud servers for lower carbon, ISCA 2024</a:t>
            </a:r>
          </a:p>
        </p:txBody>
      </p:sp>
    </p:spTree>
    <p:extLst>
      <p:ext uri="{BB962C8B-B14F-4D97-AF65-F5344CB8AC3E}">
        <p14:creationId xmlns:p14="http://schemas.microsoft.com/office/powerpoint/2010/main" val="3388055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3EE14-971E-80C9-61D5-61E26D239AA0}"/>
              </a:ext>
            </a:extLst>
          </p:cNvPr>
          <p:cNvSpPr>
            <a:spLocks noGrp="1"/>
          </p:cNvSpPr>
          <p:nvPr>
            <p:ph type="title"/>
          </p:nvPr>
        </p:nvSpPr>
        <p:spPr/>
        <p:txBody>
          <a:bodyPr>
            <a:normAutofit/>
          </a:bodyPr>
          <a:lstStyle/>
          <a:p>
            <a:r>
              <a:rPr lang="en-CN" sz="3600"/>
              <a:t>Memstrata Eliminates Outliers With Low CPU Overhead</a:t>
            </a:r>
          </a:p>
        </p:txBody>
      </p:sp>
      <p:sp>
        <p:nvSpPr>
          <p:cNvPr id="4" name="Slide Number Placeholder 3">
            <a:extLst>
              <a:ext uri="{FF2B5EF4-FFF2-40B4-BE49-F238E27FC236}">
                <a16:creationId xmlns:a16="http://schemas.microsoft.com/office/drawing/2014/main" id="{3B1327C4-BE2D-7D9D-A20B-01058E8CA9BB}"/>
              </a:ext>
            </a:extLst>
          </p:cNvPr>
          <p:cNvSpPr>
            <a:spLocks noGrp="1"/>
          </p:cNvSpPr>
          <p:nvPr>
            <p:ph type="sldNum" sz="quarter" idx="12"/>
          </p:nvPr>
        </p:nvSpPr>
        <p:spPr/>
        <p:txBody>
          <a:bodyPr/>
          <a:lstStyle/>
          <a:p>
            <a:fld id="{5D76F006-5496-B946-A476-FEDACCAB686D}" type="slidenum">
              <a:rPr lang="en-CN" smtClean="0"/>
              <a:t>28</a:t>
            </a:fld>
            <a:endParaRPr lang="en-CN"/>
          </a:p>
        </p:txBody>
      </p:sp>
      <p:pic>
        <p:nvPicPr>
          <p:cNvPr id="5" name="Picture 4">
            <a:extLst>
              <a:ext uri="{FF2B5EF4-FFF2-40B4-BE49-F238E27FC236}">
                <a16:creationId xmlns:a16="http://schemas.microsoft.com/office/drawing/2014/main" id="{D571EA74-63E1-47D6-E8F2-16A6488B077E}"/>
              </a:ext>
            </a:extLst>
          </p:cNvPr>
          <p:cNvPicPr>
            <a:picLocks noChangeAspect="1"/>
          </p:cNvPicPr>
          <p:nvPr/>
        </p:nvPicPr>
        <p:blipFill>
          <a:blip r:embed="rId3"/>
          <a:stretch>
            <a:fillRect/>
          </a:stretch>
        </p:blipFill>
        <p:spPr>
          <a:xfrm>
            <a:off x="432115" y="1516029"/>
            <a:ext cx="5558463" cy="2212591"/>
          </a:xfrm>
          <a:prstGeom prst="rect">
            <a:avLst/>
          </a:prstGeom>
        </p:spPr>
      </p:pic>
      <p:pic>
        <p:nvPicPr>
          <p:cNvPr id="6" name="Picture 5">
            <a:extLst>
              <a:ext uri="{FF2B5EF4-FFF2-40B4-BE49-F238E27FC236}">
                <a16:creationId xmlns:a16="http://schemas.microsoft.com/office/drawing/2014/main" id="{3AE12DE6-A172-2563-7AB4-D5C08FBACE22}"/>
              </a:ext>
            </a:extLst>
          </p:cNvPr>
          <p:cNvPicPr>
            <a:picLocks noChangeAspect="1"/>
          </p:cNvPicPr>
          <p:nvPr/>
        </p:nvPicPr>
        <p:blipFill>
          <a:blip r:embed="rId4"/>
          <a:stretch>
            <a:fillRect/>
          </a:stretch>
        </p:blipFill>
        <p:spPr>
          <a:xfrm>
            <a:off x="6319791" y="1516029"/>
            <a:ext cx="5363222" cy="2251228"/>
          </a:xfrm>
          <a:prstGeom prst="rect">
            <a:avLst/>
          </a:prstGeom>
        </p:spPr>
      </p:pic>
      <p:pic>
        <p:nvPicPr>
          <p:cNvPr id="7" name="Picture 6">
            <a:extLst>
              <a:ext uri="{FF2B5EF4-FFF2-40B4-BE49-F238E27FC236}">
                <a16:creationId xmlns:a16="http://schemas.microsoft.com/office/drawing/2014/main" id="{63DF9365-622D-C666-EEEF-AEDA0DD4408D}"/>
              </a:ext>
            </a:extLst>
          </p:cNvPr>
          <p:cNvPicPr>
            <a:picLocks noChangeAspect="1"/>
          </p:cNvPicPr>
          <p:nvPr/>
        </p:nvPicPr>
        <p:blipFill>
          <a:blip r:embed="rId5"/>
          <a:stretch>
            <a:fillRect/>
          </a:stretch>
        </p:blipFill>
        <p:spPr>
          <a:xfrm>
            <a:off x="497150" y="3926988"/>
            <a:ext cx="5675374" cy="2429362"/>
          </a:xfrm>
          <a:prstGeom prst="rect">
            <a:avLst/>
          </a:prstGeom>
        </p:spPr>
      </p:pic>
      <p:sp>
        <p:nvSpPr>
          <p:cNvPr id="8" name="TextBox 7">
            <a:extLst>
              <a:ext uri="{FF2B5EF4-FFF2-40B4-BE49-F238E27FC236}">
                <a16:creationId xmlns:a16="http://schemas.microsoft.com/office/drawing/2014/main" id="{DAD21A61-37E6-95AC-A1F8-6203C9699F7C}"/>
              </a:ext>
            </a:extLst>
          </p:cNvPr>
          <p:cNvSpPr txBox="1"/>
          <p:nvPr/>
        </p:nvSpPr>
        <p:spPr>
          <a:xfrm>
            <a:off x="6435130" y="4226295"/>
            <a:ext cx="5490581" cy="2123658"/>
          </a:xfrm>
          <a:prstGeom prst="rect">
            <a:avLst/>
          </a:prstGeom>
          <a:noFill/>
        </p:spPr>
        <p:txBody>
          <a:bodyPr wrap="square" rtlCol="0">
            <a:spAutoFit/>
          </a:bodyPr>
          <a:lstStyle/>
          <a:p>
            <a:pPr marL="342900" indent="-342900">
              <a:buFont typeface="Arial" panose="020B0604020202020204" pitchFamily="34" charset="0"/>
              <a:buChar char="•"/>
            </a:pPr>
            <a:r>
              <a:rPr lang="en-CN" sz="2200" dirty="0"/>
              <a:t>Memstrata effectively </a:t>
            </a:r>
            <a:r>
              <a:rPr lang="en-CN" sz="2200" b="1" dirty="0"/>
              <a:t>mitigates outliers </a:t>
            </a:r>
            <a:r>
              <a:rPr lang="en-CN" sz="2200" dirty="0"/>
              <a:t>among all three workload mixes in realistic environments</a:t>
            </a:r>
          </a:p>
          <a:p>
            <a:pPr marL="342900" indent="-342900">
              <a:buFont typeface="Arial" panose="020B0604020202020204" pitchFamily="34" charset="0"/>
              <a:buChar char="•"/>
            </a:pPr>
            <a:r>
              <a:rPr lang="en-CN" sz="2200" dirty="0"/>
              <a:t>The max CPU overhead of Memstrata of </a:t>
            </a:r>
            <a:r>
              <a:rPr lang="en-CN" sz="2200" b="1" dirty="0"/>
              <a:t>3% of a single core</a:t>
            </a:r>
          </a:p>
          <a:p>
            <a:endParaRPr lang="en-CN" sz="2200" dirty="0"/>
          </a:p>
        </p:txBody>
      </p:sp>
      <p:sp>
        <p:nvSpPr>
          <p:cNvPr id="3" name="TextBox 2">
            <a:extLst>
              <a:ext uri="{FF2B5EF4-FFF2-40B4-BE49-F238E27FC236}">
                <a16:creationId xmlns:a16="http://schemas.microsoft.com/office/drawing/2014/main" id="{C70394C2-09F0-AE72-DC87-B6903B4CA474}"/>
              </a:ext>
            </a:extLst>
          </p:cNvPr>
          <p:cNvSpPr txBox="1"/>
          <p:nvPr/>
        </p:nvSpPr>
        <p:spPr>
          <a:xfrm>
            <a:off x="1272209" y="6539948"/>
            <a:ext cx="3298019" cy="369332"/>
          </a:xfrm>
          <a:prstGeom prst="rect">
            <a:avLst/>
          </a:prstGeom>
          <a:noFill/>
        </p:spPr>
        <p:txBody>
          <a:bodyPr wrap="none" rtlCol="0">
            <a:spAutoFit/>
          </a:bodyPr>
          <a:lstStyle/>
          <a:p>
            <a:r>
              <a:rPr lang="en-CN" dirty="0"/>
              <a:t>verbally: only show one of them</a:t>
            </a:r>
          </a:p>
        </p:txBody>
      </p:sp>
    </p:spTree>
    <p:extLst>
      <p:ext uri="{BB962C8B-B14F-4D97-AF65-F5344CB8AC3E}">
        <p14:creationId xmlns:p14="http://schemas.microsoft.com/office/powerpoint/2010/main" val="223578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Effect transition="in" filter="fade">
                                      <p:cBhvr>
                                        <p:cTn id="2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FA51-E590-2E9D-0B26-5AACCA8EFCCB}"/>
              </a:ext>
            </a:extLst>
          </p:cNvPr>
          <p:cNvSpPr>
            <a:spLocks noGrp="1"/>
          </p:cNvSpPr>
          <p:nvPr>
            <p:ph type="title"/>
          </p:nvPr>
        </p:nvSpPr>
        <p:spPr/>
        <p:txBody>
          <a:bodyPr/>
          <a:lstStyle/>
          <a:p>
            <a:r>
              <a:rPr lang="en-CN"/>
              <a:t>Dynamically Allocate Dedicated Pages</a:t>
            </a:r>
          </a:p>
        </p:txBody>
      </p:sp>
      <p:sp>
        <p:nvSpPr>
          <p:cNvPr id="4" name="Slide Number Placeholder 3">
            <a:extLst>
              <a:ext uri="{FF2B5EF4-FFF2-40B4-BE49-F238E27FC236}">
                <a16:creationId xmlns:a16="http://schemas.microsoft.com/office/drawing/2014/main" id="{83F9CB1A-3097-455C-7DE2-D267EAF21D0C}"/>
              </a:ext>
            </a:extLst>
          </p:cNvPr>
          <p:cNvSpPr>
            <a:spLocks noGrp="1"/>
          </p:cNvSpPr>
          <p:nvPr>
            <p:ph type="sldNum" sz="quarter" idx="12"/>
          </p:nvPr>
        </p:nvSpPr>
        <p:spPr/>
        <p:txBody>
          <a:bodyPr/>
          <a:lstStyle/>
          <a:p>
            <a:fld id="{5D76F006-5496-B946-A476-FEDACCAB686D}" type="slidenum">
              <a:rPr lang="en-CN" smtClean="0"/>
              <a:t>29</a:t>
            </a:fld>
            <a:endParaRPr lang="en-CN"/>
          </a:p>
        </p:txBody>
      </p:sp>
      <p:sp>
        <p:nvSpPr>
          <p:cNvPr id="5" name="Rectangle 4">
            <a:extLst>
              <a:ext uri="{FF2B5EF4-FFF2-40B4-BE49-F238E27FC236}">
                <a16:creationId xmlns:a16="http://schemas.microsoft.com/office/drawing/2014/main" id="{4FA6B26D-9216-6DAE-8E3A-41C1690F1DE5}"/>
              </a:ext>
            </a:extLst>
          </p:cNvPr>
          <p:cNvSpPr/>
          <p:nvPr/>
        </p:nvSpPr>
        <p:spPr>
          <a:xfrm rot="16200000">
            <a:off x="4729536" y="3602258"/>
            <a:ext cx="474453" cy="492341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2400"/>
          </a:p>
        </p:txBody>
      </p:sp>
      <p:sp>
        <p:nvSpPr>
          <p:cNvPr id="6" name="TextBox 5">
            <a:extLst>
              <a:ext uri="{FF2B5EF4-FFF2-40B4-BE49-F238E27FC236}">
                <a16:creationId xmlns:a16="http://schemas.microsoft.com/office/drawing/2014/main" id="{C1BD7381-ABC7-B705-F513-5F3796012C30}"/>
              </a:ext>
            </a:extLst>
          </p:cNvPr>
          <p:cNvSpPr txBox="1"/>
          <p:nvPr/>
        </p:nvSpPr>
        <p:spPr>
          <a:xfrm>
            <a:off x="3189642" y="5829595"/>
            <a:ext cx="3723520" cy="461665"/>
          </a:xfrm>
          <a:prstGeom prst="rect">
            <a:avLst/>
          </a:prstGeom>
          <a:noFill/>
        </p:spPr>
        <p:txBody>
          <a:bodyPr wrap="none" rtlCol="0">
            <a:spAutoFit/>
          </a:bodyPr>
          <a:lstStyle/>
          <a:p>
            <a:r>
              <a:rPr lang="en-CN" sz="2400" b="1"/>
              <a:t>Hardware-Tiered Memory</a:t>
            </a:r>
          </a:p>
        </p:txBody>
      </p:sp>
      <p:sp>
        <p:nvSpPr>
          <p:cNvPr id="7" name="Rectangle 6">
            <a:extLst>
              <a:ext uri="{FF2B5EF4-FFF2-40B4-BE49-F238E27FC236}">
                <a16:creationId xmlns:a16="http://schemas.microsoft.com/office/drawing/2014/main" id="{8BDE639C-8895-A920-D49B-365E0A3E9F44}"/>
              </a:ext>
            </a:extLst>
          </p:cNvPr>
          <p:cNvSpPr/>
          <p:nvPr/>
        </p:nvSpPr>
        <p:spPr>
          <a:xfrm rot="16200000">
            <a:off x="8347666" y="5122200"/>
            <a:ext cx="474453" cy="188352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TextBox 7">
            <a:extLst>
              <a:ext uri="{FF2B5EF4-FFF2-40B4-BE49-F238E27FC236}">
                <a16:creationId xmlns:a16="http://schemas.microsoft.com/office/drawing/2014/main" id="{CE4D7BAB-A437-7B38-EA54-C812B21A225B}"/>
              </a:ext>
            </a:extLst>
          </p:cNvPr>
          <p:cNvSpPr txBox="1"/>
          <p:nvPr/>
        </p:nvSpPr>
        <p:spPr>
          <a:xfrm>
            <a:off x="7945706" y="5771575"/>
            <a:ext cx="1371787" cy="584775"/>
          </a:xfrm>
          <a:prstGeom prst="rect">
            <a:avLst/>
          </a:prstGeom>
          <a:noFill/>
        </p:spPr>
        <p:txBody>
          <a:bodyPr wrap="none" rtlCol="0">
            <a:spAutoFit/>
          </a:bodyPr>
          <a:lstStyle/>
          <a:p>
            <a:pPr algn="ctr"/>
            <a:r>
              <a:rPr lang="en-CN" sz="1600" b="1"/>
              <a:t>Dedicated</a:t>
            </a:r>
          </a:p>
          <a:p>
            <a:pPr algn="ctr"/>
            <a:r>
              <a:rPr lang="en-CN" sz="1600"/>
              <a:t>Local Memory</a:t>
            </a:r>
          </a:p>
        </p:txBody>
      </p:sp>
      <p:cxnSp>
        <p:nvCxnSpPr>
          <p:cNvPr id="9" name="Straight Connector 8">
            <a:extLst>
              <a:ext uri="{FF2B5EF4-FFF2-40B4-BE49-F238E27FC236}">
                <a16:creationId xmlns:a16="http://schemas.microsoft.com/office/drawing/2014/main" id="{08B80A1F-01C5-7CD0-DB90-15544BB1671E}"/>
              </a:ext>
            </a:extLst>
          </p:cNvPr>
          <p:cNvCxnSpPr>
            <a:cxnSpLocks/>
          </p:cNvCxnSpPr>
          <p:nvPr/>
        </p:nvCxnSpPr>
        <p:spPr>
          <a:xfrm>
            <a:off x="2133470" y="5443547"/>
            <a:ext cx="7393186"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6BDDEDB-D4AD-6A82-A354-F5ECD3E9980A}"/>
              </a:ext>
            </a:extLst>
          </p:cNvPr>
          <p:cNvSpPr txBox="1"/>
          <p:nvPr/>
        </p:nvSpPr>
        <p:spPr>
          <a:xfrm>
            <a:off x="2051698" y="5452174"/>
            <a:ext cx="1104085" cy="369332"/>
          </a:xfrm>
          <a:prstGeom prst="rect">
            <a:avLst/>
          </a:prstGeom>
          <a:noFill/>
        </p:spPr>
        <p:txBody>
          <a:bodyPr wrap="none" rtlCol="0">
            <a:spAutoFit/>
          </a:bodyPr>
          <a:lstStyle/>
          <a:p>
            <a:r>
              <a:rPr lang="en-CN"/>
              <a:t>Hardware</a:t>
            </a:r>
          </a:p>
        </p:txBody>
      </p:sp>
      <p:sp>
        <p:nvSpPr>
          <p:cNvPr id="11" name="TextBox 10">
            <a:extLst>
              <a:ext uri="{FF2B5EF4-FFF2-40B4-BE49-F238E27FC236}">
                <a16:creationId xmlns:a16="http://schemas.microsoft.com/office/drawing/2014/main" id="{F2A340AC-9B5B-3955-025A-6429870E5DBD}"/>
              </a:ext>
            </a:extLst>
          </p:cNvPr>
          <p:cNvSpPr txBox="1"/>
          <p:nvPr/>
        </p:nvSpPr>
        <p:spPr>
          <a:xfrm>
            <a:off x="2051698" y="5029123"/>
            <a:ext cx="1025474" cy="369332"/>
          </a:xfrm>
          <a:prstGeom prst="rect">
            <a:avLst/>
          </a:prstGeom>
          <a:noFill/>
        </p:spPr>
        <p:txBody>
          <a:bodyPr wrap="none" rtlCol="0">
            <a:spAutoFit/>
          </a:bodyPr>
          <a:lstStyle/>
          <a:p>
            <a:r>
              <a:rPr lang="en-CN"/>
              <a:t>Software</a:t>
            </a:r>
          </a:p>
        </p:txBody>
      </p:sp>
      <p:sp>
        <p:nvSpPr>
          <p:cNvPr id="21" name="Rectangle 20">
            <a:extLst>
              <a:ext uri="{FF2B5EF4-FFF2-40B4-BE49-F238E27FC236}">
                <a16:creationId xmlns:a16="http://schemas.microsoft.com/office/drawing/2014/main" id="{D374CC66-CF0D-F077-B75B-E148C49380BD}"/>
              </a:ext>
            </a:extLst>
          </p:cNvPr>
          <p:cNvSpPr/>
          <p:nvPr/>
        </p:nvSpPr>
        <p:spPr>
          <a:xfrm>
            <a:off x="7751788" y="3900799"/>
            <a:ext cx="1254887" cy="600972"/>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HW-Tiered Pages</a:t>
            </a:r>
          </a:p>
        </p:txBody>
      </p:sp>
      <p:sp>
        <p:nvSpPr>
          <p:cNvPr id="22" name="Rectangle 21">
            <a:extLst>
              <a:ext uri="{FF2B5EF4-FFF2-40B4-BE49-F238E27FC236}">
                <a16:creationId xmlns:a16="http://schemas.microsoft.com/office/drawing/2014/main" id="{89275447-ED11-9419-E540-287A080F5468}"/>
              </a:ext>
            </a:extLst>
          </p:cNvPr>
          <p:cNvSpPr/>
          <p:nvPr/>
        </p:nvSpPr>
        <p:spPr>
          <a:xfrm>
            <a:off x="7748913" y="4501771"/>
            <a:ext cx="1254887" cy="514710"/>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Dedicated Pages</a:t>
            </a:r>
          </a:p>
        </p:txBody>
      </p:sp>
      <p:sp>
        <p:nvSpPr>
          <p:cNvPr id="23" name="TextBox 22">
            <a:extLst>
              <a:ext uri="{FF2B5EF4-FFF2-40B4-BE49-F238E27FC236}">
                <a16:creationId xmlns:a16="http://schemas.microsoft.com/office/drawing/2014/main" id="{04B02F3D-2B10-B55B-609B-4829C30CB53E}"/>
              </a:ext>
            </a:extLst>
          </p:cNvPr>
          <p:cNvSpPr txBox="1"/>
          <p:nvPr/>
        </p:nvSpPr>
        <p:spPr>
          <a:xfrm>
            <a:off x="3544304" y="3547098"/>
            <a:ext cx="683200" cy="369332"/>
          </a:xfrm>
          <a:prstGeom prst="rect">
            <a:avLst/>
          </a:prstGeom>
          <a:noFill/>
        </p:spPr>
        <p:txBody>
          <a:bodyPr wrap="square" rtlCol="0">
            <a:spAutoFit/>
          </a:bodyPr>
          <a:lstStyle/>
          <a:p>
            <a:r>
              <a:rPr lang="en-CN"/>
              <a:t>VM 1</a:t>
            </a:r>
          </a:p>
        </p:txBody>
      </p:sp>
      <p:sp>
        <p:nvSpPr>
          <p:cNvPr id="24" name="TextBox 23">
            <a:extLst>
              <a:ext uri="{FF2B5EF4-FFF2-40B4-BE49-F238E27FC236}">
                <a16:creationId xmlns:a16="http://schemas.microsoft.com/office/drawing/2014/main" id="{EBC8DC2D-9D7E-1CEF-598C-52680E69B6E7}"/>
              </a:ext>
            </a:extLst>
          </p:cNvPr>
          <p:cNvSpPr txBox="1"/>
          <p:nvPr/>
        </p:nvSpPr>
        <p:spPr>
          <a:xfrm>
            <a:off x="5098628" y="3544646"/>
            <a:ext cx="683200" cy="369332"/>
          </a:xfrm>
          <a:prstGeom prst="rect">
            <a:avLst/>
          </a:prstGeom>
          <a:noFill/>
        </p:spPr>
        <p:txBody>
          <a:bodyPr wrap="none" rtlCol="0">
            <a:spAutoFit/>
          </a:bodyPr>
          <a:lstStyle/>
          <a:p>
            <a:r>
              <a:rPr lang="en-CN"/>
              <a:t>VM 2</a:t>
            </a:r>
          </a:p>
        </p:txBody>
      </p:sp>
      <p:sp>
        <p:nvSpPr>
          <p:cNvPr id="25" name="TextBox 24">
            <a:extLst>
              <a:ext uri="{FF2B5EF4-FFF2-40B4-BE49-F238E27FC236}">
                <a16:creationId xmlns:a16="http://schemas.microsoft.com/office/drawing/2014/main" id="{E7535DA8-3D2B-A987-658C-A0116392A96C}"/>
              </a:ext>
            </a:extLst>
          </p:cNvPr>
          <p:cNvSpPr txBox="1"/>
          <p:nvPr/>
        </p:nvSpPr>
        <p:spPr>
          <a:xfrm>
            <a:off x="8032306" y="3553118"/>
            <a:ext cx="683200" cy="369332"/>
          </a:xfrm>
          <a:prstGeom prst="rect">
            <a:avLst/>
          </a:prstGeom>
          <a:noFill/>
        </p:spPr>
        <p:txBody>
          <a:bodyPr wrap="none" rtlCol="0">
            <a:spAutoFit/>
          </a:bodyPr>
          <a:lstStyle/>
          <a:p>
            <a:r>
              <a:rPr lang="en-CN"/>
              <a:t>VM 3</a:t>
            </a:r>
          </a:p>
        </p:txBody>
      </p:sp>
      <p:sp>
        <p:nvSpPr>
          <p:cNvPr id="26" name="Rectangle 25">
            <a:extLst>
              <a:ext uri="{FF2B5EF4-FFF2-40B4-BE49-F238E27FC236}">
                <a16:creationId xmlns:a16="http://schemas.microsoft.com/office/drawing/2014/main" id="{3C2081C8-D059-7D8E-E4D0-73577429D52B}"/>
              </a:ext>
            </a:extLst>
          </p:cNvPr>
          <p:cNvSpPr/>
          <p:nvPr/>
        </p:nvSpPr>
        <p:spPr>
          <a:xfrm>
            <a:off x="4739906" y="3900799"/>
            <a:ext cx="1254887" cy="600972"/>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HW-Tiered Pages</a:t>
            </a:r>
          </a:p>
        </p:txBody>
      </p:sp>
      <p:sp>
        <p:nvSpPr>
          <p:cNvPr id="27" name="Rectangle 26">
            <a:extLst>
              <a:ext uri="{FF2B5EF4-FFF2-40B4-BE49-F238E27FC236}">
                <a16:creationId xmlns:a16="http://schemas.microsoft.com/office/drawing/2014/main" id="{0E0ABE69-9CD1-6940-C292-7BC1C199EC04}"/>
              </a:ext>
            </a:extLst>
          </p:cNvPr>
          <p:cNvSpPr/>
          <p:nvPr/>
        </p:nvSpPr>
        <p:spPr>
          <a:xfrm>
            <a:off x="4737031" y="4501771"/>
            <a:ext cx="1254887" cy="514710"/>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Dedicated Pages</a:t>
            </a:r>
          </a:p>
        </p:txBody>
      </p:sp>
      <p:sp>
        <p:nvSpPr>
          <p:cNvPr id="28" name="Rectangle 27">
            <a:extLst>
              <a:ext uri="{FF2B5EF4-FFF2-40B4-BE49-F238E27FC236}">
                <a16:creationId xmlns:a16="http://schemas.microsoft.com/office/drawing/2014/main" id="{9274CA31-181D-04DE-451B-22CA61717201}"/>
              </a:ext>
            </a:extLst>
          </p:cNvPr>
          <p:cNvSpPr/>
          <p:nvPr/>
        </p:nvSpPr>
        <p:spPr>
          <a:xfrm>
            <a:off x="3213423" y="3904783"/>
            <a:ext cx="1254887" cy="600972"/>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HW-Tiered Pages</a:t>
            </a:r>
          </a:p>
        </p:txBody>
      </p:sp>
      <p:sp>
        <p:nvSpPr>
          <p:cNvPr id="29" name="Rectangle 28">
            <a:extLst>
              <a:ext uri="{FF2B5EF4-FFF2-40B4-BE49-F238E27FC236}">
                <a16:creationId xmlns:a16="http://schemas.microsoft.com/office/drawing/2014/main" id="{6CD1AD8E-88C9-C435-02F2-C5F6129F6C8F}"/>
              </a:ext>
            </a:extLst>
          </p:cNvPr>
          <p:cNvSpPr/>
          <p:nvPr/>
        </p:nvSpPr>
        <p:spPr>
          <a:xfrm>
            <a:off x="3210548" y="4505755"/>
            <a:ext cx="1254887" cy="514710"/>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Dedicated Pages</a:t>
            </a:r>
          </a:p>
        </p:txBody>
      </p:sp>
      <p:sp>
        <p:nvSpPr>
          <p:cNvPr id="30" name="Rectangle 29">
            <a:extLst>
              <a:ext uri="{FF2B5EF4-FFF2-40B4-BE49-F238E27FC236}">
                <a16:creationId xmlns:a16="http://schemas.microsoft.com/office/drawing/2014/main" id="{4FE14E03-DF67-F811-1624-A513CB7FA21E}"/>
              </a:ext>
            </a:extLst>
          </p:cNvPr>
          <p:cNvSpPr/>
          <p:nvPr/>
        </p:nvSpPr>
        <p:spPr>
          <a:xfrm>
            <a:off x="3495867" y="1668169"/>
            <a:ext cx="4817806" cy="1464815"/>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1" name="TextBox 30">
            <a:extLst>
              <a:ext uri="{FF2B5EF4-FFF2-40B4-BE49-F238E27FC236}">
                <a16:creationId xmlns:a16="http://schemas.microsoft.com/office/drawing/2014/main" id="{243BCE89-EF76-50AA-07B3-0216F35CE3D8}"/>
              </a:ext>
            </a:extLst>
          </p:cNvPr>
          <p:cNvSpPr txBox="1"/>
          <p:nvPr/>
        </p:nvSpPr>
        <p:spPr>
          <a:xfrm>
            <a:off x="5107147" y="1668169"/>
            <a:ext cx="1595245" cy="461665"/>
          </a:xfrm>
          <a:prstGeom prst="rect">
            <a:avLst/>
          </a:prstGeom>
          <a:noFill/>
        </p:spPr>
        <p:txBody>
          <a:bodyPr wrap="none" rtlCol="0">
            <a:spAutoFit/>
          </a:bodyPr>
          <a:lstStyle/>
          <a:p>
            <a:pPr algn="ctr"/>
            <a:r>
              <a:rPr lang="en-CN" sz="2400" b="1"/>
              <a:t>Memstrata</a:t>
            </a:r>
            <a:endParaRPr lang="en-CN" sz="2400"/>
          </a:p>
        </p:txBody>
      </p:sp>
      <p:sp>
        <p:nvSpPr>
          <p:cNvPr id="32" name="Rectangle 31">
            <a:extLst>
              <a:ext uri="{FF2B5EF4-FFF2-40B4-BE49-F238E27FC236}">
                <a16:creationId xmlns:a16="http://schemas.microsoft.com/office/drawing/2014/main" id="{1F81854A-FC53-3EF8-F9A4-93849EB5572A}"/>
              </a:ext>
            </a:extLst>
          </p:cNvPr>
          <p:cNvSpPr/>
          <p:nvPr/>
        </p:nvSpPr>
        <p:spPr>
          <a:xfrm>
            <a:off x="3704069" y="2263525"/>
            <a:ext cx="1901043" cy="6685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2000">
                <a:solidFill>
                  <a:schemeClr val="tx1"/>
                </a:solidFill>
              </a:rPr>
              <a:t>Identify Outliers</a:t>
            </a:r>
          </a:p>
        </p:txBody>
      </p:sp>
      <p:sp>
        <p:nvSpPr>
          <p:cNvPr id="34" name="TextBox 33">
            <a:extLst>
              <a:ext uri="{FF2B5EF4-FFF2-40B4-BE49-F238E27FC236}">
                <a16:creationId xmlns:a16="http://schemas.microsoft.com/office/drawing/2014/main" id="{3FCED134-BF15-667A-1CAE-BE21636869E3}"/>
              </a:ext>
            </a:extLst>
          </p:cNvPr>
          <p:cNvSpPr txBox="1"/>
          <p:nvPr/>
        </p:nvSpPr>
        <p:spPr>
          <a:xfrm>
            <a:off x="8594818" y="3551418"/>
            <a:ext cx="1050288" cy="369332"/>
          </a:xfrm>
          <a:prstGeom prst="rect">
            <a:avLst/>
          </a:prstGeom>
          <a:noFill/>
        </p:spPr>
        <p:txBody>
          <a:bodyPr wrap="none" rtlCol="0">
            <a:spAutoFit/>
          </a:bodyPr>
          <a:lstStyle/>
          <a:p>
            <a:r>
              <a:rPr lang="en-CN" b="1"/>
              <a:t>(Outlier)</a:t>
            </a:r>
          </a:p>
        </p:txBody>
      </p:sp>
      <p:sp>
        <p:nvSpPr>
          <p:cNvPr id="35" name="Rectangle 34">
            <a:extLst>
              <a:ext uri="{FF2B5EF4-FFF2-40B4-BE49-F238E27FC236}">
                <a16:creationId xmlns:a16="http://schemas.microsoft.com/office/drawing/2014/main" id="{E30FF33C-9B00-FD74-58F9-A007EE5F1E01}"/>
              </a:ext>
            </a:extLst>
          </p:cNvPr>
          <p:cNvSpPr/>
          <p:nvPr/>
        </p:nvSpPr>
        <p:spPr>
          <a:xfrm>
            <a:off x="6204429" y="2268192"/>
            <a:ext cx="1901043" cy="6685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2000">
                <a:solidFill>
                  <a:schemeClr val="tx1"/>
                </a:solidFill>
              </a:rPr>
              <a:t>Dynamic Page Allocator</a:t>
            </a:r>
          </a:p>
        </p:txBody>
      </p:sp>
      <p:sp>
        <p:nvSpPr>
          <p:cNvPr id="36" name="TextBox 35">
            <a:extLst>
              <a:ext uri="{FF2B5EF4-FFF2-40B4-BE49-F238E27FC236}">
                <a16:creationId xmlns:a16="http://schemas.microsoft.com/office/drawing/2014/main" id="{A185CB95-CAC9-97EE-7130-D48511E4558A}"/>
              </a:ext>
            </a:extLst>
          </p:cNvPr>
          <p:cNvSpPr txBox="1"/>
          <p:nvPr/>
        </p:nvSpPr>
        <p:spPr>
          <a:xfrm>
            <a:off x="6708275" y="3829608"/>
            <a:ext cx="458780" cy="523220"/>
          </a:xfrm>
          <a:prstGeom prst="rect">
            <a:avLst/>
          </a:prstGeom>
          <a:noFill/>
        </p:spPr>
        <p:txBody>
          <a:bodyPr wrap="none" rtlCol="0">
            <a:spAutoFit/>
          </a:bodyPr>
          <a:lstStyle/>
          <a:p>
            <a:r>
              <a:rPr lang="en-CN" sz="2800"/>
              <a:t>...</a:t>
            </a:r>
          </a:p>
        </p:txBody>
      </p:sp>
      <p:sp>
        <p:nvSpPr>
          <p:cNvPr id="37" name="Rectangle 36">
            <a:extLst>
              <a:ext uri="{FF2B5EF4-FFF2-40B4-BE49-F238E27FC236}">
                <a16:creationId xmlns:a16="http://schemas.microsoft.com/office/drawing/2014/main" id="{FDD032F8-9972-3735-B352-560F0A9127B3}"/>
              </a:ext>
            </a:extLst>
          </p:cNvPr>
          <p:cNvSpPr/>
          <p:nvPr/>
        </p:nvSpPr>
        <p:spPr>
          <a:xfrm>
            <a:off x="7440283" y="4054519"/>
            <a:ext cx="186110" cy="31843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38" name="Rectangle 37">
            <a:extLst>
              <a:ext uri="{FF2B5EF4-FFF2-40B4-BE49-F238E27FC236}">
                <a16:creationId xmlns:a16="http://schemas.microsoft.com/office/drawing/2014/main" id="{B048FDBA-5C8C-450E-3012-239194C3218C}"/>
              </a:ext>
            </a:extLst>
          </p:cNvPr>
          <p:cNvSpPr/>
          <p:nvPr/>
        </p:nvSpPr>
        <p:spPr>
          <a:xfrm>
            <a:off x="6259531" y="4611321"/>
            <a:ext cx="186109" cy="344267"/>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39" name="Rectangle 38">
            <a:extLst>
              <a:ext uri="{FF2B5EF4-FFF2-40B4-BE49-F238E27FC236}">
                <a16:creationId xmlns:a16="http://schemas.microsoft.com/office/drawing/2014/main" id="{20E73D6F-BD6F-F59E-FCC9-30DE7016B2C8}"/>
              </a:ext>
            </a:extLst>
          </p:cNvPr>
          <p:cNvSpPr/>
          <p:nvPr/>
        </p:nvSpPr>
        <p:spPr>
          <a:xfrm>
            <a:off x="6596853" y="4676433"/>
            <a:ext cx="186109" cy="344266"/>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40" name="Rectangle 39">
            <a:extLst>
              <a:ext uri="{FF2B5EF4-FFF2-40B4-BE49-F238E27FC236}">
                <a16:creationId xmlns:a16="http://schemas.microsoft.com/office/drawing/2014/main" id="{EEE80E5C-06F3-7A96-138E-897988B2D65B}"/>
              </a:ext>
            </a:extLst>
          </p:cNvPr>
          <p:cNvSpPr/>
          <p:nvPr/>
        </p:nvSpPr>
        <p:spPr>
          <a:xfrm>
            <a:off x="7131791" y="4713794"/>
            <a:ext cx="186109" cy="318431"/>
          </a:xfrm>
          <a:prstGeom prst="rect">
            <a:avLst/>
          </a:prstGeom>
          <a:solidFill>
            <a:schemeClr val="accent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41" name="Rectangle 40">
            <a:extLst>
              <a:ext uri="{FF2B5EF4-FFF2-40B4-BE49-F238E27FC236}">
                <a16:creationId xmlns:a16="http://schemas.microsoft.com/office/drawing/2014/main" id="{16B80B8A-0F1C-91ED-23D8-335915F64D00}"/>
              </a:ext>
            </a:extLst>
          </p:cNvPr>
          <p:cNvSpPr/>
          <p:nvPr/>
        </p:nvSpPr>
        <p:spPr>
          <a:xfrm>
            <a:off x="7109910" y="4100691"/>
            <a:ext cx="186110" cy="31843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42" name="Rectangle 41">
            <a:extLst>
              <a:ext uri="{FF2B5EF4-FFF2-40B4-BE49-F238E27FC236}">
                <a16:creationId xmlns:a16="http://schemas.microsoft.com/office/drawing/2014/main" id="{13391F40-7E01-A24B-79CD-B8721FF501F6}"/>
              </a:ext>
            </a:extLst>
          </p:cNvPr>
          <p:cNvSpPr/>
          <p:nvPr/>
        </p:nvSpPr>
        <p:spPr>
          <a:xfrm>
            <a:off x="6564319" y="4104435"/>
            <a:ext cx="186110" cy="31843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43" name="Freeform 42">
            <a:extLst>
              <a:ext uri="{FF2B5EF4-FFF2-40B4-BE49-F238E27FC236}">
                <a16:creationId xmlns:a16="http://schemas.microsoft.com/office/drawing/2014/main" id="{EA916F16-A3AD-CB93-41E0-33DD369F8BAA}"/>
              </a:ext>
            </a:extLst>
          </p:cNvPr>
          <p:cNvSpPr/>
          <p:nvPr/>
        </p:nvSpPr>
        <p:spPr>
          <a:xfrm>
            <a:off x="6231104" y="2941445"/>
            <a:ext cx="1643900" cy="1363456"/>
          </a:xfrm>
          <a:custGeom>
            <a:avLst/>
            <a:gdLst>
              <a:gd name="connsiteX0" fmla="*/ 1104181 w 1643900"/>
              <a:gd name="connsiteY0" fmla="*/ 0 h 1155940"/>
              <a:gd name="connsiteX1" fmla="*/ 1570008 w 1643900"/>
              <a:gd name="connsiteY1" fmla="*/ 707366 h 1155940"/>
              <a:gd name="connsiteX2" fmla="*/ 1475117 w 1643900"/>
              <a:gd name="connsiteY2" fmla="*/ 1078302 h 1155940"/>
              <a:gd name="connsiteX3" fmla="*/ 0 w 1643900"/>
              <a:gd name="connsiteY3" fmla="*/ 1155940 h 1155940"/>
            </a:gdLst>
            <a:ahLst/>
            <a:cxnLst>
              <a:cxn ang="0">
                <a:pos x="connsiteX0" y="connsiteY0"/>
              </a:cxn>
              <a:cxn ang="0">
                <a:pos x="connsiteX1" y="connsiteY1"/>
              </a:cxn>
              <a:cxn ang="0">
                <a:pos x="connsiteX2" y="connsiteY2"/>
              </a:cxn>
              <a:cxn ang="0">
                <a:pos x="connsiteX3" y="connsiteY3"/>
              </a:cxn>
            </a:cxnLst>
            <a:rect l="l" t="t" r="r" b="b"/>
            <a:pathLst>
              <a:path w="1643900" h="1155940">
                <a:moveTo>
                  <a:pt x="1104181" y="0"/>
                </a:moveTo>
                <a:cubicBezTo>
                  <a:pt x="1306183" y="263824"/>
                  <a:pt x="1508185" y="527649"/>
                  <a:pt x="1570008" y="707366"/>
                </a:cubicBezTo>
                <a:cubicBezTo>
                  <a:pt x="1631831" y="887083"/>
                  <a:pt x="1736785" y="1003540"/>
                  <a:pt x="1475117" y="1078302"/>
                </a:cubicBezTo>
                <a:cubicBezTo>
                  <a:pt x="1213449" y="1153064"/>
                  <a:pt x="606724" y="1154502"/>
                  <a:pt x="0" y="1155940"/>
                </a:cubicBezTo>
              </a:path>
            </a:pathLst>
          </a:custGeom>
          <a:noFill/>
          <a:ln w="28575">
            <a:solidFill>
              <a:schemeClr val="tx1"/>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4" name="Freeform 43">
            <a:extLst>
              <a:ext uri="{FF2B5EF4-FFF2-40B4-BE49-F238E27FC236}">
                <a16:creationId xmlns:a16="http://schemas.microsoft.com/office/drawing/2014/main" id="{806AD70D-BB45-6E3D-67C2-769D777E3B85}"/>
              </a:ext>
            </a:extLst>
          </p:cNvPr>
          <p:cNvSpPr/>
          <p:nvPr/>
        </p:nvSpPr>
        <p:spPr>
          <a:xfrm>
            <a:off x="6015965" y="2932119"/>
            <a:ext cx="1617246" cy="2001786"/>
          </a:xfrm>
          <a:custGeom>
            <a:avLst/>
            <a:gdLst>
              <a:gd name="connsiteX0" fmla="*/ 651892 w 1669809"/>
              <a:gd name="connsiteY0" fmla="*/ 0 h 1759789"/>
              <a:gd name="connsiteX1" fmla="*/ 39417 w 1669809"/>
              <a:gd name="connsiteY1" fmla="*/ 1293962 h 1759789"/>
              <a:gd name="connsiteX2" fmla="*/ 125681 w 1669809"/>
              <a:gd name="connsiteY2" fmla="*/ 1604513 h 1759789"/>
              <a:gd name="connsiteX3" fmla="*/ 651892 w 1669809"/>
              <a:gd name="connsiteY3" fmla="*/ 1716657 h 1759789"/>
              <a:gd name="connsiteX4" fmla="*/ 1669809 w 1669809"/>
              <a:gd name="connsiteY4" fmla="*/ 1759789 h 1759789"/>
              <a:gd name="connsiteX0" fmla="*/ 601919 w 1619836"/>
              <a:gd name="connsiteY0" fmla="*/ 0 h 1759789"/>
              <a:gd name="connsiteX1" fmla="*/ 58934 w 1619836"/>
              <a:gd name="connsiteY1" fmla="*/ 1260083 h 1759789"/>
              <a:gd name="connsiteX2" fmla="*/ 75708 w 1619836"/>
              <a:gd name="connsiteY2" fmla="*/ 1604513 h 1759789"/>
              <a:gd name="connsiteX3" fmla="*/ 601919 w 1619836"/>
              <a:gd name="connsiteY3" fmla="*/ 1716657 h 1759789"/>
              <a:gd name="connsiteX4" fmla="*/ 1619836 w 1619836"/>
              <a:gd name="connsiteY4" fmla="*/ 1759789 h 1759789"/>
              <a:gd name="connsiteX0" fmla="*/ 601919 w 1428740"/>
              <a:gd name="connsiteY0" fmla="*/ 0 h 1759789"/>
              <a:gd name="connsiteX1" fmla="*/ 58934 w 1428740"/>
              <a:gd name="connsiteY1" fmla="*/ 1260083 h 1759789"/>
              <a:gd name="connsiteX2" fmla="*/ 75708 w 1428740"/>
              <a:gd name="connsiteY2" fmla="*/ 1604513 h 1759789"/>
              <a:gd name="connsiteX3" fmla="*/ 601919 w 1428740"/>
              <a:gd name="connsiteY3" fmla="*/ 1716657 h 1759789"/>
              <a:gd name="connsiteX4" fmla="*/ 1428740 w 1428740"/>
              <a:gd name="connsiteY4" fmla="*/ 1759789 h 1759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40" h="1759789">
                <a:moveTo>
                  <a:pt x="601919" y="0"/>
                </a:moveTo>
                <a:cubicBezTo>
                  <a:pt x="339532" y="513271"/>
                  <a:pt x="146636" y="992664"/>
                  <a:pt x="58934" y="1260083"/>
                </a:cubicBezTo>
                <a:cubicBezTo>
                  <a:pt x="-28768" y="1527502"/>
                  <a:pt x="-14789" y="1528417"/>
                  <a:pt x="75708" y="1604513"/>
                </a:cubicBezTo>
                <a:cubicBezTo>
                  <a:pt x="166205" y="1680609"/>
                  <a:pt x="344564" y="1690778"/>
                  <a:pt x="601919" y="1716657"/>
                </a:cubicBezTo>
                <a:cubicBezTo>
                  <a:pt x="859274" y="1742536"/>
                  <a:pt x="1048459" y="1751162"/>
                  <a:pt x="1428740" y="1759789"/>
                </a:cubicBezTo>
              </a:path>
            </a:pathLst>
          </a:custGeom>
          <a:noFill/>
          <a:ln w="28575">
            <a:solidFill>
              <a:schemeClr val="tx1"/>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t> </a:t>
            </a:r>
          </a:p>
        </p:txBody>
      </p:sp>
      <p:sp>
        <p:nvSpPr>
          <p:cNvPr id="45" name="TextBox 44">
            <a:extLst>
              <a:ext uri="{FF2B5EF4-FFF2-40B4-BE49-F238E27FC236}">
                <a16:creationId xmlns:a16="http://schemas.microsoft.com/office/drawing/2014/main" id="{E682DBBF-F3F3-7D27-9EE1-5097620AD430}"/>
              </a:ext>
            </a:extLst>
          </p:cNvPr>
          <p:cNvSpPr txBox="1"/>
          <p:nvPr/>
        </p:nvSpPr>
        <p:spPr>
          <a:xfrm>
            <a:off x="6735536" y="4422336"/>
            <a:ext cx="458780" cy="523220"/>
          </a:xfrm>
          <a:prstGeom prst="rect">
            <a:avLst/>
          </a:prstGeom>
          <a:noFill/>
        </p:spPr>
        <p:txBody>
          <a:bodyPr wrap="none" rtlCol="0">
            <a:spAutoFit/>
          </a:bodyPr>
          <a:lstStyle/>
          <a:p>
            <a:r>
              <a:rPr lang="en-CN" sz="2800"/>
              <a:t>...</a:t>
            </a:r>
          </a:p>
        </p:txBody>
      </p:sp>
    </p:spTree>
    <p:extLst>
      <p:ext uri="{BB962C8B-B14F-4D97-AF65-F5344CB8AC3E}">
        <p14:creationId xmlns:p14="http://schemas.microsoft.com/office/powerpoint/2010/main" val="164640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500"/>
                                        <p:tgtEl>
                                          <p:spTgt spid="3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00"/>
                                        <p:tgtEl>
                                          <p:spTgt spid="3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500"/>
                                        <p:tgtEl>
                                          <p:spTgt spid="3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500"/>
                                        <p:tgtEl>
                                          <p:spTgt spid="3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500"/>
                                        <p:tgtEl>
                                          <p:spTgt spid="3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500"/>
                                        <p:tgtEl>
                                          <p:spTgt spid="3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500"/>
                                        <p:tgtEl>
                                          <p:spTgt spid="4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500"/>
                                        <p:tgtEl>
                                          <p:spTgt spid="4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500"/>
                                        <p:tgtEl>
                                          <p:spTgt spid="4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3" dur="500"/>
                                        <p:tgtEl>
                                          <p:spTgt spid="4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500"/>
                                        <p:tgtEl>
                                          <p:spTgt spid="4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3"/>
                                        </p:tgtEl>
                                        <p:attrNameLst>
                                          <p:attrName>style.visibility</p:attrName>
                                        </p:attrNameLst>
                                      </p:cBhvr>
                                      <p:to>
                                        <p:strVal val="visible"/>
                                      </p:to>
                                    </p:set>
                                    <p:animEffect transition="in" filter="fade">
                                      <p:cBhvr>
                                        <p:cTn id="10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10" grpId="0"/>
      <p:bldP spid="11" grpId="0"/>
      <p:bldP spid="21" grpId="0" animBg="1"/>
      <p:bldP spid="22" grpId="0" animBg="1"/>
      <p:bldP spid="23" grpId="0"/>
      <p:bldP spid="24" grpId="0"/>
      <p:bldP spid="25" grpId="0"/>
      <p:bldP spid="26" grpId="0" animBg="1"/>
      <p:bldP spid="27" grpId="0" animBg="1"/>
      <p:bldP spid="28" grpId="0" animBg="1"/>
      <p:bldP spid="29" grpId="0" animBg="1"/>
      <p:bldP spid="30" grpId="0" animBg="1"/>
      <p:bldP spid="31" grpId="0"/>
      <p:bldP spid="32" grpId="0" animBg="1"/>
      <p:bldP spid="34" grpId="0"/>
      <p:bldP spid="35" grpId="0" animBg="1"/>
      <p:bldP spid="36" grpId="0"/>
      <p:bldP spid="37" grpId="0" animBg="1"/>
      <p:bldP spid="38" grpId="0" animBg="1"/>
      <p:bldP spid="39" grpId="0" animBg="1"/>
      <p:bldP spid="40" grpId="0" animBg="1"/>
      <p:bldP spid="41" grpId="0" animBg="1"/>
      <p:bldP spid="42" grpId="0" animBg="1"/>
      <p:bldP spid="43" grpId="0" animBg="1"/>
      <p:bldP spid="44" grpId="0" animBg="1"/>
      <p:bldP spid="45" grpId="0"/>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5E4E-8FD0-FB6E-F787-C0C9F0FEA341}"/>
              </a:ext>
            </a:extLst>
          </p:cNvPr>
          <p:cNvSpPr>
            <a:spLocks noGrp="1"/>
          </p:cNvSpPr>
          <p:nvPr>
            <p:ph type="title"/>
          </p:nvPr>
        </p:nvSpPr>
        <p:spPr/>
        <p:txBody>
          <a:bodyPr/>
          <a:lstStyle/>
          <a:p>
            <a:r>
              <a:rPr lang="en-CN"/>
              <a:t>Evaluate 115 Popular Cloud Workloads</a:t>
            </a:r>
          </a:p>
        </p:txBody>
      </p:sp>
      <p:sp>
        <p:nvSpPr>
          <p:cNvPr id="4" name="Slide Number Placeholder 3">
            <a:extLst>
              <a:ext uri="{FF2B5EF4-FFF2-40B4-BE49-F238E27FC236}">
                <a16:creationId xmlns:a16="http://schemas.microsoft.com/office/drawing/2014/main" id="{0F394B2D-CDA4-43D5-87DC-7745A11DAF6D}"/>
              </a:ext>
            </a:extLst>
          </p:cNvPr>
          <p:cNvSpPr>
            <a:spLocks noGrp="1"/>
          </p:cNvSpPr>
          <p:nvPr>
            <p:ph type="sldNum" sz="quarter" idx="12"/>
          </p:nvPr>
        </p:nvSpPr>
        <p:spPr/>
        <p:txBody>
          <a:bodyPr/>
          <a:lstStyle/>
          <a:p>
            <a:fld id="{5D76F006-5496-B946-A476-FEDACCAB686D}" type="slidenum">
              <a:rPr lang="en-CN" smtClean="0"/>
              <a:t>30</a:t>
            </a:fld>
            <a:endParaRPr lang="en-CN"/>
          </a:p>
        </p:txBody>
      </p:sp>
      <p:graphicFrame>
        <p:nvGraphicFramePr>
          <p:cNvPr id="5" name="Table 4">
            <a:extLst>
              <a:ext uri="{FF2B5EF4-FFF2-40B4-BE49-F238E27FC236}">
                <a16:creationId xmlns:a16="http://schemas.microsoft.com/office/drawing/2014/main" id="{61884B22-1947-D308-FF48-A747EFAC2333}"/>
              </a:ext>
            </a:extLst>
          </p:cNvPr>
          <p:cNvGraphicFramePr>
            <a:graphicFrameLocks noGrp="1"/>
          </p:cNvGraphicFramePr>
          <p:nvPr>
            <p:extLst>
              <p:ext uri="{D42A27DB-BD31-4B8C-83A1-F6EECF244321}">
                <p14:modId xmlns:p14="http://schemas.microsoft.com/office/powerpoint/2010/main" val="380645955"/>
              </p:ext>
            </p:extLst>
          </p:nvPr>
        </p:nvGraphicFramePr>
        <p:xfrm>
          <a:off x="1862413" y="1894565"/>
          <a:ext cx="8467174" cy="4257907"/>
        </p:xfrm>
        <a:graphic>
          <a:graphicData uri="http://schemas.openxmlformats.org/drawingml/2006/table">
            <a:tbl>
              <a:tblPr firstRow="1" firstCol="1" bandRow="1">
                <a:tableStyleId>{5C22544A-7EE6-4342-B048-85BDC9FD1C3A}</a:tableStyleId>
              </a:tblPr>
              <a:tblGrid>
                <a:gridCol w="3145536">
                  <a:extLst>
                    <a:ext uri="{9D8B030D-6E8A-4147-A177-3AD203B41FA5}">
                      <a16:colId xmlns:a16="http://schemas.microsoft.com/office/drawing/2014/main" val="534714170"/>
                    </a:ext>
                  </a:extLst>
                </a:gridCol>
                <a:gridCol w="5321638">
                  <a:extLst>
                    <a:ext uri="{9D8B030D-6E8A-4147-A177-3AD203B41FA5}">
                      <a16:colId xmlns:a16="http://schemas.microsoft.com/office/drawing/2014/main" val="3121374839"/>
                    </a:ext>
                  </a:extLst>
                </a:gridCol>
              </a:tblGrid>
              <a:tr h="249104">
                <a:tc>
                  <a:txBody>
                    <a:bodyPr/>
                    <a:lstStyle/>
                    <a:p>
                      <a:pPr marL="0" marR="0">
                        <a:lnSpc>
                          <a:spcPct val="115000"/>
                        </a:lnSpc>
                        <a:spcBef>
                          <a:spcPts val="0"/>
                        </a:spcBef>
                        <a:spcAft>
                          <a:spcPts val="0"/>
                        </a:spcAft>
                      </a:pPr>
                      <a:r>
                        <a:rPr lang="en-US" sz="2000" kern="100" dirty="0">
                          <a:effectLst/>
                        </a:rPr>
                        <a:t>Workload Class</a:t>
                      </a:r>
                      <a:endParaRPr lang="en-US" sz="3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kern="100" dirty="0">
                          <a:effectLst/>
                        </a:rPr>
                        <a:t>Workloads</a:t>
                      </a:r>
                      <a:endParaRPr lang="en-US" sz="3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441710"/>
                  </a:ext>
                </a:extLst>
              </a:tr>
              <a:tr h="249104">
                <a:tc>
                  <a:txBody>
                    <a:bodyPr/>
                    <a:lstStyle/>
                    <a:p>
                      <a:pPr marL="0" marR="0">
                        <a:lnSpc>
                          <a:spcPct val="115000"/>
                        </a:lnSpc>
                        <a:spcBef>
                          <a:spcPts val="0"/>
                        </a:spcBef>
                        <a:spcAft>
                          <a:spcPts val="0"/>
                        </a:spcAft>
                      </a:pPr>
                      <a:r>
                        <a:rPr lang="en-US" sz="2000" kern="100" dirty="0">
                          <a:effectLst/>
                        </a:rPr>
                        <a:t>Web</a:t>
                      </a:r>
                      <a:endParaRPr lang="en-US" sz="3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2000" kern="100" dirty="0">
                          <a:effectLst/>
                        </a:rPr>
                        <a:t>Tomcat, Spring, Finagle Chirper, Finagle HTTP, </a:t>
                      </a:r>
                      <a:r>
                        <a:rPr lang="en-US" sz="2000" kern="100" dirty="0" err="1">
                          <a:effectLst/>
                        </a:rPr>
                        <a:t>DeathStarBench</a:t>
                      </a:r>
                      <a:r>
                        <a:rPr lang="en-US" sz="2000" kern="100" dirty="0">
                          <a:effectLst/>
                        </a:rPr>
                        <a:t> (Social Network, Media), Ruby YJIT</a:t>
                      </a:r>
                    </a:p>
                  </a:txBody>
                  <a:tcPr marL="68580" marR="68580" marT="0" marB="0"/>
                </a:tc>
                <a:extLst>
                  <a:ext uri="{0D108BD9-81ED-4DB2-BD59-A6C34878D82A}">
                    <a16:rowId xmlns:a16="http://schemas.microsoft.com/office/drawing/2014/main" val="850067481"/>
                  </a:ext>
                </a:extLst>
              </a:tr>
              <a:tr h="511742">
                <a:tc>
                  <a:txBody>
                    <a:bodyPr/>
                    <a:lstStyle/>
                    <a:p>
                      <a:pPr marL="0" marR="0">
                        <a:lnSpc>
                          <a:spcPct val="115000"/>
                        </a:lnSpc>
                        <a:spcBef>
                          <a:spcPts val="0"/>
                        </a:spcBef>
                        <a:spcAft>
                          <a:spcPts val="0"/>
                        </a:spcAft>
                      </a:pPr>
                      <a:r>
                        <a:rPr lang="en-US" sz="2000" kern="100">
                          <a:effectLst/>
                        </a:rPr>
                        <a:t>Database</a:t>
                      </a:r>
                      <a:endParaRPr lang="en-US" sz="36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kern="100">
                          <a:effectLst/>
                        </a:rPr>
                        <a:t>TPC-C with Silo and TPC-H with Postgres</a:t>
                      </a:r>
                      <a:endParaRPr lang="en-US" sz="36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32293781"/>
                  </a:ext>
                </a:extLst>
              </a:tr>
              <a:tr h="511742">
                <a:tc>
                  <a:txBody>
                    <a:bodyPr/>
                    <a:lstStyle/>
                    <a:p>
                      <a:pPr marL="0" marR="0">
                        <a:lnSpc>
                          <a:spcPct val="115000"/>
                        </a:lnSpc>
                        <a:spcBef>
                          <a:spcPts val="0"/>
                        </a:spcBef>
                        <a:spcAft>
                          <a:spcPts val="0"/>
                        </a:spcAft>
                      </a:pPr>
                      <a:r>
                        <a:rPr lang="en-US" sz="2000" kern="100">
                          <a:effectLst/>
                        </a:rPr>
                        <a:t>Machine Learning (ML)</a:t>
                      </a:r>
                      <a:endParaRPr lang="en-US" sz="36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kern="100">
                          <a:effectLst/>
                        </a:rPr>
                        <a:t>Deep Learning Recommendation (DLRM)</a:t>
                      </a:r>
                      <a:endParaRPr lang="en-US" sz="36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75320452"/>
                  </a:ext>
                </a:extLst>
              </a:tr>
              <a:tr h="511742">
                <a:tc>
                  <a:txBody>
                    <a:bodyPr/>
                    <a:lstStyle/>
                    <a:p>
                      <a:pPr marL="0" marR="0">
                        <a:lnSpc>
                          <a:spcPct val="115000"/>
                        </a:lnSpc>
                        <a:spcBef>
                          <a:spcPts val="0"/>
                        </a:spcBef>
                        <a:spcAft>
                          <a:spcPts val="0"/>
                        </a:spcAft>
                      </a:pPr>
                      <a:r>
                        <a:rPr lang="en-US" sz="2000" kern="100">
                          <a:effectLst/>
                        </a:rPr>
                        <a:t>NoSQL KV Store</a:t>
                      </a:r>
                      <a:endParaRPr lang="en-US" sz="36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kern="100">
                          <a:effectLst/>
                        </a:rPr>
                        <a:t>Redis, Memcached, and FASTER with YCSB</a:t>
                      </a:r>
                      <a:endParaRPr lang="en-US" sz="36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08297277"/>
                  </a:ext>
                </a:extLst>
              </a:tr>
              <a:tr h="511742">
                <a:tc>
                  <a:txBody>
                    <a:bodyPr/>
                    <a:lstStyle/>
                    <a:p>
                      <a:pPr marL="0" marR="0">
                        <a:lnSpc>
                          <a:spcPct val="115000"/>
                        </a:lnSpc>
                        <a:spcBef>
                          <a:spcPts val="0"/>
                        </a:spcBef>
                        <a:spcAft>
                          <a:spcPts val="0"/>
                        </a:spcAft>
                      </a:pPr>
                      <a:r>
                        <a:rPr lang="en-US" sz="2000" kern="100">
                          <a:effectLst/>
                        </a:rPr>
                        <a:t>Big Data</a:t>
                      </a:r>
                      <a:endParaRPr lang="en-US" sz="36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kern="100">
                          <a:effectLst/>
                        </a:rPr>
                        <a:t>Spark with Intel HiBench workloads</a:t>
                      </a:r>
                      <a:endParaRPr lang="en-US" sz="36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16458610"/>
                  </a:ext>
                </a:extLst>
              </a:tr>
              <a:tr h="511742">
                <a:tc>
                  <a:txBody>
                    <a:bodyPr/>
                    <a:lstStyle/>
                    <a:p>
                      <a:pPr marL="0" marR="0">
                        <a:lnSpc>
                          <a:spcPct val="115000"/>
                        </a:lnSpc>
                        <a:spcBef>
                          <a:spcPts val="0"/>
                        </a:spcBef>
                        <a:spcAft>
                          <a:spcPts val="0"/>
                        </a:spcAft>
                      </a:pPr>
                      <a:r>
                        <a:rPr lang="en-US" sz="2000" kern="100">
                          <a:effectLst/>
                        </a:rPr>
                        <a:t>Graph Processing</a:t>
                      </a:r>
                      <a:endParaRPr lang="en-US" sz="36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kern="100">
                          <a:effectLst/>
                        </a:rPr>
                        <a:t>GAP Benchmark</a:t>
                      </a:r>
                      <a:endParaRPr lang="en-US" sz="20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62777617"/>
                  </a:ext>
                </a:extLst>
              </a:tr>
              <a:tr h="249104">
                <a:tc>
                  <a:txBody>
                    <a:bodyPr/>
                    <a:lstStyle/>
                    <a:p>
                      <a:pPr marL="0" marR="0">
                        <a:lnSpc>
                          <a:spcPct val="115000"/>
                        </a:lnSpc>
                        <a:spcBef>
                          <a:spcPts val="0"/>
                        </a:spcBef>
                        <a:spcAft>
                          <a:spcPts val="0"/>
                        </a:spcAft>
                      </a:pPr>
                      <a:r>
                        <a:rPr lang="en-US" sz="2000" kern="100">
                          <a:effectLst/>
                        </a:rPr>
                        <a:t>Scientific Compute</a:t>
                      </a:r>
                      <a:endParaRPr lang="en-US" sz="3600" kern="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000" kern="100" dirty="0">
                          <a:effectLst/>
                        </a:rPr>
                        <a:t>SPEC CPU 2017</a:t>
                      </a:r>
                      <a:endParaRPr lang="en-US" sz="3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70899623"/>
                  </a:ext>
                </a:extLst>
              </a:tr>
            </a:tbl>
          </a:graphicData>
        </a:graphic>
      </p:graphicFrame>
      <p:sp>
        <p:nvSpPr>
          <p:cNvPr id="3" name="TextBox 2">
            <a:extLst>
              <a:ext uri="{FF2B5EF4-FFF2-40B4-BE49-F238E27FC236}">
                <a16:creationId xmlns:a16="http://schemas.microsoft.com/office/drawing/2014/main" id="{7B3B408D-C50C-026C-412C-FACD456CB734}"/>
              </a:ext>
            </a:extLst>
          </p:cNvPr>
          <p:cNvSpPr txBox="1"/>
          <p:nvPr/>
        </p:nvSpPr>
        <p:spPr>
          <a:xfrm>
            <a:off x="1520687" y="6356350"/>
            <a:ext cx="4358886" cy="369332"/>
          </a:xfrm>
          <a:prstGeom prst="rect">
            <a:avLst/>
          </a:prstGeom>
          <a:noFill/>
        </p:spPr>
        <p:txBody>
          <a:bodyPr wrap="none" rtlCol="0">
            <a:spAutoFit/>
          </a:bodyPr>
          <a:lstStyle/>
          <a:p>
            <a:r>
              <a:rPr lang="en-CN" dirty="0"/>
              <a:t>maybe remove some details, just category</a:t>
            </a:r>
          </a:p>
        </p:txBody>
      </p:sp>
    </p:spTree>
    <p:extLst>
      <p:ext uri="{BB962C8B-B14F-4D97-AF65-F5344CB8AC3E}">
        <p14:creationId xmlns:p14="http://schemas.microsoft.com/office/powerpoint/2010/main" val="1147127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2332C-2D5A-2F02-4DA3-DB864475806C}"/>
              </a:ext>
            </a:extLst>
          </p:cNvPr>
          <p:cNvSpPr>
            <a:spLocks noGrp="1"/>
          </p:cNvSpPr>
          <p:nvPr>
            <p:ph type="title"/>
          </p:nvPr>
        </p:nvSpPr>
        <p:spPr/>
        <p:txBody>
          <a:bodyPr/>
          <a:lstStyle/>
          <a:p>
            <a:r>
              <a:rPr lang="en-CN"/>
              <a:t>Experiment Setup</a:t>
            </a:r>
          </a:p>
        </p:txBody>
      </p:sp>
      <p:sp>
        <p:nvSpPr>
          <p:cNvPr id="3" name="Content Placeholder 2">
            <a:extLst>
              <a:ext uri="{FF2B5EF4-FFF2-40B4-BE49-F238E27FC236}">
                <a16:creationId xmlns:a16="http://schemas.microsoft.com/office/drawing/2014/main" id="{F8631175-BB82-EBDD-9E2A-B1B2E6D17656}"/>
              </a:ext>
            </a:extLst>
          </p:cNvPr>
          <p:cNvSpPr>
            <a:spLocks noGrp="1"/>
          </p:cNvSpPr>
          <p:nvPr>
            <p:ph idx="1"/>
          </p:nvPr>
        </p:nvSpPr>
        <p:spPr/>
        <p:txBody>
          <a:bodyPr/>
          <a:lstStyle/>
          <a:p>
            <a:pPr marL="0" indent="0">
              <a:buNone/>
            </a:pPr>
            <a:r>
              <a:rPr lang="en-CN"/>
              <a:t>CPU: pre-production Intel Xeon 6 Processor </a:t>
            </a:r>
          </a:p>
          <a:p>
            <a:pPr marL="0" indent="0">
              <a:buNone/>
            </a:pPr>
            <a:r>
              <a:rPr lang="en-CN"/>
              <a:t>Local memory: 128 GB DDR5</a:t>
            </a:r>
          </a:p>
          <a:p>
            <a:pPr marL="0" indent="0">
              <a:buNone/>
            </a:pPr>
            <a:r>
              <a:rPr lang="en-CN"/>
              <a:t>CXL memory: 128 GB DDR5 pre-production </a:t>
            </a:r>
            <a:r>
              <a:rPr lang="en-US"/>
              <a:t>Astera Labs Leo CXL Smart Memory Controller </a:t>
            </a:r>
          </a:p>
          <a:p>
            <a:pPr marL="0" indent="0">
              <a:buNone/>
            </a:pPr>
            <a:endParaRPr lang="en-CN"/>
          </a:p>
          <a:p>
            <a:pPr marL="0" indent="0">
              <a:buNone/>
            </a:pPr>
            <a:r>
              <a:rPr lang="en-CN" strike="sngStrike"/>
              <a:t>Our hardware prototype supports limited memory capacity</a:t>
            </a:r>
          </a:p>
        </p:txBody>
      </p:sp>
      <p:sp>
        <p:nvSpPr>
          <p:cNvPr id="4" name="Slide Number Placeholder 3">
            <a:extLst>
              <a:ext uri="{FF2B5EF4-FFF2-40B4-BE49-F238E27FC236}">
                <a16:creationId xmlns:a16="http://schemas.microsoft.com/office/drawing/2014/main" id="{9D2AD478-6601-4660-89C7-610F44DFCEE2}"/>
              </a:ext>
            </a:extLst>
          </p:cNvPr>
          <p:cNvSpPr>
            <a:spLocks noGrp="1"/>
          </p:cNvSpPr>
          <p:nvPr>
            <p:ph type="sldNum" sz="quarter" idx="12"/>
          </p:nvPr>
        </p:nvSpPr>
        <p:spPr/>
        <p:txBody>
          <a:bodyPr/>
          <a:lstStyle/>
          <a:p>
            <a:fld id="{5D76F006-5496-B946-A476-FEDACCAB686D}" type="slidenum">
              <a:rPr lang="en-CN" smtClean="0"/>
              <a:t>31</a:t>
            </a:fld>
            <a:endParaRPr lang="en-CN"/>
          </a:p>
        </p:txBody>
      </p:sp>
    </p:spTree>
    <p:extLst>
      <p:ext uri="{BB962C8B-B14F-4D97-AF65-F5344CB8AC3E}">
        <p14:creationId xmlns:p14="http://schemas.microsoft.com/office/powerpoint/2010/main" val="414158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C0B7DE3-99AB-CEE8-0DE1-BBC055E291FF}"/>
              </a:ext>
            </a:extLst>
          </p:cNvPr>
          <p:cNvSpPr/>
          <p:nvPr/>
        </p:nvSpPr>
        <p:spPr>
          <a:xfrm>
            <a:off x="7987879" y="5224255"/>
            <a:ext cx="1828755" cy="406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34" name="Rectangle 33">
            <a:extLst>
              <a:ext uri="{FF2B5EF4-FFF2-40B4-BE49-F238E27FC236}">
                <a16:creationId xmlns:a16="http://schemas.microsoft.com/office/drawing/2014/main" id="{DFB1E1A6-4380-E4E4-F536-B79E1E81A292}"/>
              </a:ext>
            </a:extLst>
          </p:cNvPr>
          <p:cNvSpPr/>
          <p:nvPr/>
        </p:nvSpPr>
        <p:spPr>
          <a:xfrm>
            <a:off x="9791276" y="5224255"/>
            <a:ext cx="421644" cy="4064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2" name="Title 1">
            <a:extLst>
              <a:ext uri="{FF2B5EF4-FFF2-40B4-BE49-F238E27FC236}">
                <a16:creationId xmlns:a16="http://schemas.microsoft.com/office/drawing/2014/main" id="{C209151B-5794-C018-06B0-EF1F264D12F1}"/>
              </a:ext>
            </a:extLst>
          </p:cNvPr>
          <p:cNvSpPr>
            <a:spLocks noGrp="1"/>
          </p:cNvSpPr>
          <p:nvPr>
            <p:ph type="title"/>
          </p:nvPr>
        </p:nvSpPr>
        <p:spPr>
          <a:xfrm>
            <a:off x="838200" y="365125"/>
            <a:ext cx="11079480" cy="1325563"/>
          </a:xfrm>
        </p:spPr>
        <p:txBody>
          <a:bodyPr>
            <a:normAutofit/>
          </a:bodyPr>
          <a:lstStyle/>
          <a:p>
            <a:r>
              <a:rPr lang="en-CN"/>
              <a:t>Hardware Tiering Alone Still Has Limitations</a:t>
            </a:r>
          </a:p>
        </p:txBody>
      </p:sp>
      <p:sp>
        <p:nvSpPr>
          <p:cNvPr id="4" name="Slide Number Placeholder 3">
            <a:extLst>
              <a:ext uri="{FF2B5EF4-FFF2-40B4-BE49-F238E27FC236}">
                <a16:creationId xmlns:a16="http://schemas.microsoft.com/office/drawing/2014/main" id="{C990BA78-C668-3063-0D97-7C7EAE1473D8}"/>
              </a:ext>
            </a:extLst>
          </p:cNvPr>
          <p:cNvSpPr>
            <a:spLocks noGrp="1"/>
          </p:cNvSpPr>
          <p:nvPr>
            <p:ph type="sldNum" sz="quarter" idx="12"/>
          </p:nvPr>
        </p:nvSpPr>
        <p:spPr/>
        <p:txBody>
          <a:bodyPr/>
          <a:lstStyle/>
          <a:p>
            <a:fld id="{5D76F006-5496-B946-A476-FEDACCAB686D}" type="slidenum">
              <a:rPr lang="en-CN" smtClean="0"/>
              <a:t>32</a:t>
            </a:fld>
            <a:endParaRPr lang="en-CN"/>
          </a:p>
        </p:txBody>
      </p:sp>
      <p:sp>
        <p:nvSpPr>
          <p:cNvPr id="13" name="TextBox 12">
            <a:extLst>
              <a:ext uri="{FF2B5EF4-FFF2-40B4-BE49-F238E27FC236}">
                <a16:creationId xmlns:a16="http://schemas.microsoft.com/office/drawing/2014/main" id="{17A188E1-6184-C1B0-E521-E7533573A694}"/>
              </a:ext>
            </a:extLst>
          </p:cNvPr>
          <p:cNvSpPr txBox="1"/>
          <p:nvPr/>
        </p:nvSpPr>
        <p:spPr>
          <a:xfrm>
            <a:off x="6377940" y="1499591"/>
            <a:ext cx="5425019" cy="830997"/>
          </a:xfrm>
          <a:prstGeom prst="rect">
            <a:avLst/>
          </a:prstGeom>
          <a:noFill/>
        </p:spPr>
        <p:txBody>
          <a:bodyPr wrap="square" rtlCol="0">
            <a:spAutoFit/>
          </a:bodyPr>
          <a:lstStyle/>
          <a:p>
            <a:r>
              <a:rPr lang="en-CN" sz="2400"/>
              <a:t>Challenge 2: </a:t>
            </a:r>
            <a:r>
              <a:rPr lang="en-CN" sz="2400" b="1"/>
              <a:t>No</a:t>
            </a:r>
            <a:r>
              <a:rPr lang="zh-CN" altLang="en-US" sz="2400" b="1"/>
              <a:t> </a:t>
            </a:r>
            <a:r>
              <a:rPr lang="en-US" altLang="zh-CN" sz="2400" b="1" dirty="0"/>
              <a:t>performance</a:t>
            </a:r>
            <a:r>
              <a:rPr lang="zh-CN" altLang="en-US" sz="2400" b="1"/>
              <a:t> </a:t>
            </a:r>
            <a:r>
              <a:rPr lang="en-US" altLang="zh-CN" sz="2400" b="1" dirty="0"/>
              <a:t>isolation </a:t>
            </a:r>
            <a:r>
              <a:rPr lang="en-US" altLang="zh-CN" sz="2400" dirty="0"/>
              <a:t>across VMs</a:t>
            </a:r>
            <a:endParaRPr lang="en-CN" sz="2400" b="1"/>
          </a:p>
        </p:txBody>
      </p:sp>
      <p:sp>
        <p:nvSpPr>
          <p:cNvPr id="14" name="TextBox 13">
            <a:extLst>
              <a:ext uri="{FF2B5EF4-FFF2-40B4-BE49-F238E27FC236}">
                <a16:creationId xmlns:a16="http://schemas.microsoft.com/office/drawing/2014/main" id="{64844EC0-39B2-85C5-1EBF-87BBDAD36194}"/>
              </a:ext>
            </a:extLst>
          </p:cNvPr>
          <p:cNvSpPr txBox="1"/>
          <p:nvPr/>
        </p:nvSpPr>
        <p:spPr>
          <a:xfrm>
            <a:off x="744895" y="1497455"/>
            <a:ext cx="4820049" cy="830997"/>
          </a:xfrm>
          <a:prstGeom prst="rect">
            <a:avLst/>
          </a:prstGeom>
          <a:noFill/>
        </p:spPr>
        <p:txBody>
          <a:bodyPr wrap="square" rtlCol="0">
            <a:spAutoFit/>
          </a:bodyPr>
          <a:lstStyle/>
          <a:p>
            <a:r>
              <a:rPr lang="en-CN" sz="2400"/>
              <a:t>Challenge 1: Some workloads have </a:t>
            </a:r>
            <a:r>
              <a:rPr lang="en-CN" sz="2400" b="1"/>
              <a:t>heavy local memory misses</a:t>
            </a:r>
          </a:p>
        </p:txBody>
      </p:sp>
      <p:cxnSp>
        <p:nvCxnSpPr>
          <p:cNvPr id="5" name="Straight Connector 4">
            <a:extLst>
              <a:ext uri="{FF2B5EF4-FFF2-40B4-BE49-F238E27FC236}">
                <a16:creationId xmlns:a16="http://schemas.microsoft.com/office/drawing/2014/main" id="{F28E2598-9F46-249D-81BE-5AD411D5DD33}"/>
              </a:ext>
            </a:extLst>
          </p:cNvPr>
          <p:cNvCxnSpPr>
            <a:cxnSpLocks/>
          </p:cNvCxnSpPr>
          <p:nvPr/>
        </p:nvCxnSpPr>
        <p:spPr>
          <a:xfrm>
            <a:off x="5920921" y="1511559"/>
            <a:ext cx="0" cy="488620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70CE5020-BD77-78AC-072C-CF3B090C6CC6}"/>
              </a:ext>
            </a:extLst>
          </p:cNvPr>
          <p:cNvSpPr txBox="1"/>
          <p:nvPr/>
        </p:nvSpPr>
        <p:spPr>
          <a:xfrm>
            <a:off x="7213881" y="3764272"/>
            <a:ext cx="3859198" cy="369332"/>
          </a:xfrm>
          <a:prstGeom prst="rect">
            <a:avLst/>
          </a:prstGeom>
          <a:noFill/>
        </p:spPr>
        <p:txBody>
          <a:bodyPr wrap="none" rtlCol="0">
            <a:spAutoFit/>
          </a:bodyPr>
          <a:lstStyle/>
          <a:p>
            <a:r>
              <a:rPr lang="en-CN"/>
              <a:t>Mapped to same local memory range</a:t>
            </a:r>
          </a:p>
        </p:txBody>
      </p:sp>
      <p:sp>
        <p:nvSpPr>
          <p:cNvPr id="24" name="Rectangle 23">
            <a:extLst>
              <a:ext uri="{FF2B5EF4-FFF2-40B4-BE49-F238E27FC236}">
                <a16:creationId xmlns:a16="http://schemas.microsoft.com/office/drawing/2014/main" id="{D4289CE1-AC41-37B2-DC46-FB12F1BD617B}"/>
              </a:ext>
            </a:extLst>
          </p:cNvPr>
          <p:cNvSpPr/>
          <p:nvPr/>
        </p:nvSpPr>
        <p:spPr>
          <a:xfrm>
            <a:off x="6580719" y="4563940"/>
            <a:ext cx="3632200" cy="660400"/>
          </a:xfrm>
          <a:custGeom>
            <a:avLst/>
            <a:gdLst>
              <a:gd name="connsiteX0" fmla="*/ 0 w 2225040"/>
              <a:gd name="connsiteY0" fmla="*/ 0 h 406400"/>
              <a:gd name="connsiteX1" fmla="*/ 2225040 w 2225040"/>
              <a:gd name="connsiteY1" fmla="*/ 0 h 406400"/>
              <a:gd name="connsiteX2" fmla="*/ 2225040 w 2225040"/>
              <a:gd name="connsiteY2" fmla="*/ 406400 h 406400"/>
              <a:gd name="connsiteX3" fmla="*/ 0 w 2225040"/>
              <a:gd name="connsiteY3" fmla="*/ 406400 h 406400"/>
              <a:gd name="connsiteX4" fmla="*/ 0 w 2225040"/>
              <a:gd name="connsiteY4" fmla="*/ 0 h 406400"/>
              <a:gd name="connsiteX0" fmla="*/ 0 w 3342640"/>
              <a:gd name="connsiteY0" fmla="*/ 0 h 650240"/>
              <a:gd name="connsiteX1" fmla="*/ 3342640 w 3342640"/>
              <a:gd name="connsiteY1" fmla="*/ 243840 h 650240"/>
              <a:gd name="connsiteX2" fmla="*/ 3342640 w 3342640"/>
              <a:gd name="connsiteY2" fmla="*/ 650240 h 650240"/>
              <a:gd name="connsiteX3" fmla="*/ 1117600 w 3342640"/>
              <a:gd name="connsiteY3" fmla="*/ 650240 h 650240"/>
              <a:gd name="connsiteX4" fmla="*/ 0 w 3342640"/>
              <a:gd name="connsiteY4" fmla="*/ 0 h 650240"/>
              <a:gd name="connsiteX0" fmla="*/ 0 w 3342640"/>
              <a:gd name="connsiteY0" fmla="*/ 0 h 650240"/>
              <a:gd name="connsiteX1" fmla="*/ 2235200 w 3342640"/>
              <a:gd name="connsiteY1" fmla="*/ 20320 h 650240"/>
              <a:gd name="connsiteX2" fmla="*/ 3342640 w 3342640"/>
              <a:gd name="connsiteY2" fmla="*/ 650240 h 650240"/>
              <a:gd name="connsiteX3" fmla="*/ 1117600 w 3342640"/>
              <a:gd name="connsiteY3" fmla="*/ 650240 h 650240"/>
              <a:gd name="connsiteX4" fmla="*/ 0 w 3342640"/>
              <a:gd name="connsiteY4" fmla="*/ 0 h 650240"/>
              <a:gd name="connsiteX0" fmla="*/ 0 w 3332465"/>
              <a:gd name="connsiteY0" fmla="*/ 0 h 650240"/>
              <a:gd name="connsiteX1" fmla="*/ 2225025 w 3332465"/>
              <a:gd name="connsiteY1" fmla="*/ 20320 h 650240"/>
              <a:gd name="connsiteX2" fmla="*/ 3332465 w 3332465"/>
              <a:gd name="connsiteY2" fmla="*/ 650240 h 650240"/>
              <a:gd name="connsiteX3" fmla="*/ 1107425 w 3332465"/>
              <a:gd name="connsiteY3" fmla="*/ 650240 h 650240"/>
              <a:gd name="connsiteX4" fmla="*/ 0 w 3332465"/>
              <a:gd name="connsiteY4" fmla="*/ 0 h 650240"/>
              <a:gd name="connsiteX0" fmla="*/ 0 w 3637729"/>
              <a:gd name="connsiteY0" fmla="*/ 0 h 660400"/>
              <a:gd name="connsiteX1" fmla="*/ 2530289 w 3637729"/>
              <a:gd name="connsiteY1" fmla="*/ 30480 h 660400"/>
              <a:gd name="connsiteX2" fmla="*/ 3637729 w 3637729"/>
              <a:gd name="connsiteY2" fmla="*/ 660400 h 660400"/>
              <a:gd name="connsiteX3" fmla="*/ 1412689 w 3637729"/>
              <a:gd name="connsiteY3" fmla="*/ 660400 h 660400"/>
              <a:gd name="connsiteX4" fmla="*/ 0 w 3637729"/>
              <a:gd name="connsiteY4" fmla="*/ 0 h 660400"/>
              <a:gd name="connsiteX0" fmla="*/ 0 w 3637729"/>
              <a:gd name="connsiteY0" fmla="*/ 0 h 660400"/>
              <a:gd name="connsiteX1" fmla="*/ 2245376 w 3637729"/>
              <a:gd name="connsiteY1" fmla="*/ 10160 h 660400"/>
              <a:gd name="connsiteX2" fmla="*/ 3637729 w 3637729"/>
              <a:gd name="connsiteY2" fmla="*/ 660400 h 660400"/>
              <a:gd name="connsiteX3" fmla="*/ 1412689 w 3637729"/>
              <a:gd name="connsiteY3" fmla="*/ 660400 h 660400"/>
              <a:gd name="connsiteX4" fmla="*/ 0 w 3637729"/>
              <a:gd name="connsiteY4" fmla="*/ 0 h 66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7729" h="660400">
                <a:moveTo>
                  <a:pt x="0" y="0"/>
                </a:moveTo>
                <a:lnTo>
                  <a:pt x="2245376" y="10160"/>
                </a:lnTo>
                <a:lnTo>
                  <a:pt x="3637729" y="660400"/>
                </a:lnTo>
                <a:lnTo>
                  <a:pt x="1412689" y="660400"/>
                </a:lnTo>
                <a:lnTo>
                  <a:pt x="0" y="0"/>
                </a:lnTo>
                <a:close/>
              </a:path>
            </a:pathLst>
          </a:custGeom>
          <a:solidFill>
            <a:schemeClr val="accent6">
              <a:lumMod val="20000"/>
              <a:lumOff val="80000"/>
              <a:alpha val="30000"/>
            </a:schemeClr>
          </a:solidFill>
          <a:ln>
            <a:solidFill>
              <a:schemeClr val="accent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Rectangle 23">
            <a:extLst>
              <a:ext uri="{FF2B5EF4-FFF2-40B4-BE49-F238E27FC236}">
                <a16:creationId xmlns:a16="http://schemas.microsoft.com/office/drawing/2014/main" id="{2F287150-3FBD-F506-9967-A54BDD918A30}"/>
              </a:ext>
            </a:extLst>
          </p:cNvPr>
          <p:cNvSpPr/>
          <p:nvPr/>
        </p:nvSpPr>
        <p:spPr>
          <a:xfrm flipH="1">
            <a:off x="7987878" y="4574015"/>
            <a:ext cx="3815079" cy="640080"/>
          </a:xfrm>
          <a:custGeom>
            <a:avLst/>
            <a:gdLst>
              <a:gd name="connsiteX0" fmla="*/ 0 w 2225040"/>
              <a:gd name="connsiteY0" fmla="*/ 0 h 406400"/>
              <a:gd name="connsiteX1" fmla="*/ 2225040 w 2225040"/>
              <a:gd name="connsiteY1" fmla="*/ 0 h 406400"/>
              <a:gd name="connsiteX2" fmla="*/ 2225040 w 2225040"/>
              <a:gd name="connsiteY2" fmla="*/ 406400 h 406400"/>
              <a:gd name="connsiteX3" fmla="*/ 0 w 2225040"/>
              <a:gd name="connsiteY3" fmla="*/ 406400 h 406400"/>
              <a:gd name="connsiteX4" fmla="*/ 0 w 2225040"/>
              <a:gd name="connsiteY4" fmla="*/ 0 h 406400"/>
              <a:gd name="connsiteX0" fmla="*/ 0 w 3342640"/>
              <a:gd name="connsiteY0" fmla="*/ 0 h 650240"/>
              <a:gd name="connsiteX1" fmla="*/ 3342640 w 3342640"/>
              <a:gd name="connsiteY1" fmla="*/ 243840 h 650240"/>
              <a:gd name="connsiteX2" fmla="*/ 3342640 w 3342640"/>
              <a:gd name="connsiteY2" fmla="*/ 650240 h 650240"/>
              <a:gd name="connsiteX3" fmla="*/ 1117600 w 3342640"/>
              <a:gd name="connsiteY3" fmla="*/ 650240 h 650240"/>
              <a:gd name="connsiteX4" fmla="*/ 0 w 3342640"/>
              <a:gd name="connsiteY4" fmla="*/ 0 h 650240"/>
              <a:gd name="connsiteX0" fmla="*/ 0 w 3342640"/>
              <a:gd name="connsiteY0" fmla="*/ 0 h 650240"/>
              <a:gd name="connsiteX1" fmla="*/ 2235200 w 3342640"/>
              <a:gd name="connsiteY1" fmla="*/ 20320 h 650240"/>
              <a:gd name="connsiteX2" fmla="*/ 3342640 w 3342640"/>
              <a:gd name="connsiteY2" fmla="*/ 650240 h 650240"/>
              <a:gd name="connsiteX3" fmla="*/ 1117600 w 3342640"/>
              <a:gd name="connsiteY3" fmla="*/ 650240 h 650240"/>
              <a:gd name="connsiteX4" fmla="*/ 0 w 3342640"/>
              <a:gd name="connsiteY4" fmla="*/ 0 h 650240"/>
              <a:gd name="connsiteX0" fmla="*/ 0 w 3342640"/>
              <a:gd name="connsiteY0" fmla="*/ 0 h 629920"/>
              <a:gd name="connsiteX1" fmla="*/ 2235200 w 3342640"/>
              <a:gd name="connsiteY1" fmla="*/ 0 h 629920"/>
              <a:gd name="connsiteX2" fmla="*/ 3342640 w 3342640"/>
              <a:gd name="connsiteY2" fmla="*/ 629920 h 629920"/>
              <a:gd name="connsiteX3" fmla="*/ 1117600 w 3342640"/>
              <a:gd name="connsiteY3" fmla="*/ 629920 h 629920"/>
              <a:gd name="connsiteX4" fmla="*/ 0 w 3342640"/>
              <a:gd name="connsiteY4" fmla="*/ 0 h 629920"/>
              <a:gd name="connsiteX0" fmla="*/ 0 w 3342640"/>
              <a:gd name="connsiteY0" fmla="*/ 10160 h 640080"/>
              <a:gd name="connsiteX1" fmla="*/ 1736602 w 3342640"/>
              <a:gd name="connsiteY1" fmla="*/ 0 h 640080"/>
              <a:gd name="connsiteX2" fmla="*/ 3342640 w 3342640"/>
              <a:gd name="connsiteY2" fmla="*/ 640080 h 640080"/>
              <a:gd name="connsiteX3" fmla="*/ 1117600 w 3342640"/>
              <a:gd name="connsiteY3" fmla="*/ 640080 h 640080"/>
              <a:gd name="connsiteX4" fmla="*/ 0 w 3342640"/>
              <a:gd name="connsiteY4" fmla="*/ 10160 h 640080"/>
              <a:gd name="connsiteX0" fmla="*/ 0 w 3820887"/>
              <a:gd name="connsiteY0" fmla="*/ 0 h 640080"/>
              <a:gd name="connsiteX1" fmla="*/ 2214849 w 3820887"/>
              <a:gd name="connsiteY1" fmla="*/ 0 h 640080"/>
              <a:gd name="connsiteX2" fmla="*/ 3820887 w 3820887"/>
              <a:gd name="connsiteY2" fmla="*/ 640080 h 640080"/>
              <a:gd name="connsiteX3" fmla="*/ 1595847 w 3820887"/>
              <a:gd name="connsiteY3" fmla="*/ 640080 h 640080"/>
              <a:gd name="connsiteX4" fmla="*/ 0 w 3820887"/>
              <a:gd name="connsiteY4" fmla="*/ 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0887" h="640080">
                <a:moveTo>
                  <a:pt x="0" y="0"/>
                </a:moveTo>
                <a:lnTo>
                  <a:pt x="2214849" y="0"/>
                </a:lnTo>
                <a:lnTo>
                  <a:pt x="3820887" y="640080"/>
                </a:lnTo>
                <a:lnTo>
                  <a:pt x="1595847" y="640080"/>
                </a:lnTo>
                <a:lnTo>
                  <a:pt x="0" y="0"/>
                </a:lnTo>
                <a:close/>
              </a:path>
            </a:pathLst>
          </a:custGeom>
          <a:solidFill>
            <a:schemeClr val="accent5">
              <a:lumMod val="20000"/>
              <a:lumOff val="80000"/>
              <a:alpha val="30000"/>
            </a:schemeClr>
          </a:solidFill>
          <a:ln>
            <a:solidFill>
              <a:schemeClr val="accent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Rectangle 11">
            <a:extLst>
              <a:ext uri="{FF2B5EF4-FFF2-40B4-BE49-F238E27FC236}">
                <a16:creationId xmlns:a16="http://schemas.microsoft.com/office/drawing/2014/main" id="{F672C9E3-CF07-6E87-F47A-05F567DE5564}"/>
              </a:ext>
            </a:extLst>
          </p:cNvPr>
          <p:cNvSpPr/>
          <p:nvPr/>
        </p:nvSpPr>
        <p:spPr>
          <a:xfrm>
            <a:off x="6576979" y="4163556"/>
            <a:ext cx="2225040" cy="4064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solidFill>
                  <a:schemeClr val="tx1"/>
                </a:solidFill>
              </a:rPr>
              <a:t>VM 1 Memory</a:t>
            </a:r>
          </a:p>
        </p:txBody>
      </p:sp>
      <p:sp>
        <p:nvSpPr>
          <p:cNvPr id="15" name="Rectangle 14">
            <a:extLst>
              <a:ext uri="{FF2B5EF4-FFF2-40B4-BE49-F238E27FC236}">
                <a16:creationId xmlns:a16="http://schemas.microsoft.com/office/drawing/2014/main" id="{9C960794-E513-2F99-FABF-C84F54BFBBE9}"/>
              </a:ext>
            </a:extLst>
          </p:cNvPr>
          <p:cNvSpPr/>
          <p:nvPr/>
        </p:nvSpPr>
        <p:spPr>
          <a:xfrm>
            <a:off x="9577919" y="4165600"/>
            <a:ext cx="2225040" cy="40640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solidFill>
                  <a:schemeClr val="tx1"/>
                </a:solidFill>
              </a:rPr>
              <a:t>VM 2 Memory</a:t>
            </a:r>
          </a:p>
        </p:txBody>
      </p:sp>
      <p:sp>
        <p:nvSpPr>
          <p:cNvPr id="21" name="Rectangle 20">
            <a:extLst>
              <a:ext uri="{FF2B5EF4-FFF2-40B4-BE49-F238E27FC236}">
                <a16:creationId xmlns:a16="http://schemas.microsoft.com/office/drawing/2014/main" id="{42C12BA5-96AA-EF11-DF5E-E78570CE554D}"/>
              </a:ext>
            </a:extLst>
          </p:cNvPr>
          <p:cNvSpPr/>
          <p:nvPr/>
        </p:nvSpPr>
        <p:spPr>
          <a:xfrm>
            <a:off x="7987879" y="5224255"/>
            <a:ext cx="2225040" cy="406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solidFill>
                  <a:schemeClr val="tx1"/>
                </a:solidFill>
              </a:rPr>
              <a:t>Local Memory</a:t>
            </a:r>
          </a:p>
        </p:txBody>
      </p:sp>
      <p:sp>
        <p:nvSpPr>
          <p:cNvPr id="35" name="TextBox 34">
            <a:extLst>
              <a:ext uri="{FF2B5EF4-FFF2-40B4-BE49-F238E27FC236}">
                <a16:creationId xmlns:a16="http://schemas.microsoft.com/office/drawing/2014/main" id="{765225C8-EFDA-5168-9C72-BD2E6DA30DE3}"/>
              </a:ext>
            </a:extLst>
          </p:cNvPr>
          <p:cNvSpPr txBox="1"/>
          <p:nvPr/>
        </p:nvSpPr>
        <p:spPr>
          <a:xfrm>
            <a:off x="6377940" y="2581582"/>
            <a:ext cx="5352876" cy="830997"/>
          </a:xfrm>
          <a:prstGeom prst="rect">
            <a:avLst/>
          </a:prstGeom>
          <a:noFill/>
        </p:spPr>
        <p:txBody>
          <a:bodyPr wrap="none" rtlCol="0">
            <a:spAutoFit/>
          </a:bodyPr>
          <a:lstStyle/>
          <a:p>
            <a:r>
              <a:rPr lang="en-CN" sz="2400" b="1"/>
              <a:t>Local memory contention </a:t>
            </a:r>
            <a:r>
              <a:rPr lang="en-CN" sz="2400"/>
              <a:t>across VMs</a:t>
            </a:r>
          </a:p>
          <a:p>
            <a:r>
              <a:rPr lang="en-CN" sz="2400"/>
              <a:t>(more than 50% slowdown)</a:t>
            </a:r>
          </a:p>
        </p:txBody>
      </p:sp>
      <p:sp>
        <p:nvSpPr>
          <p:cNvPr id="42" name="TextBox 41">
            <a:extLst>
              <a:ext uri="{FF2B5EF4-FFF2-40B4-BE49-F238E27FC236}">
                <a16:creationId xmlns:a16="http://schemas.microsoft.com/office/drawing/2014/main" id="{293EB4BC-649E-616B-395C-96F2C35157BB}"/>
              </a:ext>
            </a:extLst>
          </p:cNvPr>
          <p:cNvSpPr txBox="1"/>
          <p:nvPr/>
        </p:nvSpPr>
        <p:spPr>
          <a:xfrm>
            <a:off x="8646802" y="4809445"/>
            <a:ext cx="1121556" cy="584775"/>
          </a:xfrm>
          <a:prstGeom prst="rect">
            <a:avLst/>
          </a:prstGeom>
          <a:noFill/>
        </p:spPr>
        <p:txBody>
          <a:bodyPr wrap="square">
            <a:spAutoFit/>
          </a:bodyPr>
          <a:lstStyle/>
          <a:p>
            <a:r>
              <a:rPr lang="en-CN" sz="3200"/>
              <a:t>🥊👊</a:t>
            </a:r>
          </a:p>
        </p:txBody>
      </p:sp>
      <p:graphicFrame>
        <p:nvGraphicFramePr>
          <p:cNvPr id="3" name="Chart 2">
            <a:extLst>
              <a:ext uri="{FF2B5EF4-FFF2-40B4-BE49-F238E27FC236}">
                <a16:creationId xmlns:a16="http://schemas.microsoft.com/office/drawing/2014/main" id="{53230E9C-AE5A-800C-DA30-1A85817BEA6E}"/>
              </a:ext>
            </a:extLst>
          </p:cNvPr>
          <p:cNvGraphicFramePr>
            <a:graphicFrameLocks/>
          </p:cNvGraphicFramePr>
          <p:nvPr>
            <p:extLst>
              <p:ext uri="{D42A27DB-BD31-4B8C-83A1-F6EECF244321}">
                <p14:modId xmlns:p14="http://schemas.microsoft.com/office/powerpoint/2010/main" val="2859531293"/>
              </p:ext>
            </p:extLst>
          </p:nvPr>
        </p:nvGraphicFramePr>
        <p:xfrm>
          <a:off x="259471" y="2436604"/>
          <a:ext cx="5483461" cy="3794616"/>
        </p:xfrm>
        <a:graphic>
          <a:graphicData uri="http://schemas.openxmlformats.org/drawingml/2006/chart">
            <c:chart xmlns:c="http://schemas.openxmlformats.org/drawingml/2006/chart" xmlns:r="http://schemas.openxmlformats.org/officeDocument/2006/relationships" r:id="rId3"/>
          </a:graphicData>
        </a:graphic>
      </p:graphicFrame>
      <p:sp>
        <p:nvSpPr>
          <p:cNvPr id="39" name="Left Brace 38">
            <a:extLst>
              <a:ext uri="{FF2B5EF4-FFF2-40B4-BE49-F238E27FC236}">
                <a16:creationId xmlns:a16="http://schemas.microsoft.com/office/drawing/2014/main" id="{B40F7124-A2A6-185A-C1FD-91DF866F02DD}"/>
              </a:ext>
            </a:extLst>
          </p:cNvPr>
          <p:cNvSpPr/>
          <p:nvPr/>
        </p:nvSpPr>
        <p:spPr>
          <a:xfrm rot="16200000">
            <a:off x="3348965" y="2110737"/>
            <a:ext cx="365181" cy="3459137"/>
          </a:xfrm>
          <a:prstGeom prst="leftBrace">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N"/>
          </a:p>
        </p:txBody>
      </p:sp>
      <p:sp>
        <p:nvSpPr>
          <p:cNvPr id="40" name="TextBox 39">
            <a:extLst>
              <a:ext uri="{FF2B5EF4-FFF2-40B4-BE49-F238E27FC236}">
                <a16:creationId xmlns:a16="http://schemas.microsoft.com/office/drawing/2014/main" id="{7166E19B-0979-A858-5604-A64EDD574ED0}"/>
              </a:ext>
            </a:extLst>
          </p:cNvPr>
          <p:cNvSpPr txBox="1"/>
          <p:nvPr/>
        </p:nvSpPr>
        <p:spPr>
          <a:xfrm>
            <a:off x="2175762" y="3997136"/>
            <a:ext cx="2745894" cy="1107996"/>
          </a:xfrm>
          <a:prstGeom prst="rect">
            <a:avLst/>
          </a:prstGeom>
          <a:noFill/>
        </p:spPr>
        <p:txBody>
          <a:bodyPr wrap="square" rtlCol="0">
            <a:spAutoFit/>
          </a:bodyPr>
          <a:lstStyle/>
          <a:p>
            <a:r>
              <a:rPr lang="en-CN" sz="2200" dirty="0"/>
              <a:t>26% workloads have &gt; 5% slowdown</a:t>
            </a:r>
          </a:p>
          <a:p>
            <a:r>
              <a:rPr lang="en-CN" sz="2200" dirty="0"/>
              <a:t>(“outlier” workloads)</a:t>
            </a:r>
          </a:p>
        </p:txBody>
      </p:sp>
    </p:spTree>
    <p:extLst>
      <p:ext uri="{BB962C8B-B14F-4D97-AF65-F5344CB8AC3E}">
        <p14:creationId xmlns:p14="http://schemas.microsoft.com/office/powerpoint/2010/main" val="4216071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500"/>
                                        <p:tgtEl>
                                          <p:spTgt spid="3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0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500"/>
                                        <p:tgtEl>
                                          <p:spTgt spid="3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500"/>
                                        <p:tgtEl>
                                          <p:spTgt spid="3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500"/>
                                        <p:tgtEl>
                                          <p:spTgt spid="4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13" grpId="0"/>
      <p:bldP spid="14" grpId="0"/>
      <p:bldP spid="22" grpId="0"/>
      <p:bldP spid="24" grpId="0" animBg="1"/>
      <p:bldP spid="25" grpId="0" animBg="1"/>
      <p:bldP spid="12" grpId="0" animBg="1"/>
      <p:bldP spid="15" grpId="0" animBg="1"/>
      <p:bldP spid="21" grpId="0" animBg="1"/>
      <p:bldP spid="35" grpId="0"/>
      <p:bldP spid="42" grpId="0"/>
      <p:bldGraphic spid="3" grpId="0">
        <p:bldAsOne/>
      </p:bldGraphic>
      <p:bldP spid="39" grpId="0" animBg="1"/>
      <p:bldP spid="40" grpId="0"/>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F04E8-A817-D772-C0D9-1DBCB3D32123}"/>
              </a:ext>
            </a:extLst>
          </p:cNvPr>
          <p:cNvSpPr>
            <a:spLocks noGrp="1"/>
          </p:cNvSpPr>
          <p:nvPr>
            <p:ph type="title"/>
          </p:nvPr>
        </p:nvSpPr>
        <p:spPr/>
        <p:txBody>
          <a:bodyPr/>
          <a:lstStyle/>
          <a:p>
            <a:r>
              <a:rPr lang="en-CN"/>
              <a:t>Hardware Tiering vs. Software Tiering</a:t>
            </a:r>
          </a:p>
        </p:txBody>
      </p:sp>
      <p:sp>
        <p:nvSpPr>
          <p:cNvPr id="3" name="Content Placeholder 2">
            <a:extLst>
              <a:ext uri="{FF2B5EF4-FFF2-40B4-BE49-F238E27FC236}">
                <a16:creationId xmlns:a16="http://schemas.microsoft.com/office/drawing/2014/main" id="{86E15FEF-62CC-823E-2333-9AD2D9B4D112}"/>
              </a:ext>
            </a:extLst>
          </p:cNvPr>
          <p:cNvSpPr>
            <a:spLocks noGrp="1"/>
          </p:cNvSpPr>
          <p:nvPr>
            <p:ph idx="1"/>
          </p:nvPr>
        </p:nvSpPr>
        <p:spPr>
          <a:xfrm>
            <a:off x="838200" y="1659232"/>
            <a:ext cx="10515600" cy="1867547"/>
          </a:xfrm>
        </p:spPr>
        <p:txBody>
          <a:bodyPr>
            <a:normAutofit/>
          </a:bodyPr>
          <a:lstStyle/>
          <a:p>
            <a:pPr marL="0" indent="0">
              <a:buNone/>
            </a:pPr>
            <a:r>
              <a:rPr lang="en-CN" sz="2200"/>
              <a:t>Compare Intel Flat Memory Mode with </a:t>
            </a:r>
            <a:r>
              <a:rPr lang="en-CN" sz="2200" b="1"/>
              <a:t>TPP </a:t>
            </a:r>
            <a:r>
              <a:rPr lang="en-CN" sz="2200"/>
              <a:t>[1] (state-of-the-art software tiering):</a:t>
            </a:r>
          </a:p>
          <a:p>
            <a:r>
              <a:rPr lang="en-CN" sz="2200"/>
              <a:t>Run each workload in a single VM with </a:t>
            </a:r>
            <a:r>
              <a:rPr lang="en-CN" sz="2200" b="1"/>
              <a:t>50% local memory and 50% CXL memory</a:t>
            </a:r>
          </a:p>
          <a:p>
            <a:r>
              <a:rPr lang="en-US" sz="2200"/>
              <a:t>VM memory size is chosen by </a:t>
            </a:r>
            <a:r>
              <a:rPr lang="en-US" sz="2200" b="1"/>
              <a:t>rounding up the max memory footprint </a:t>
            </a:r>
            <a:r>
              <a:rPr lang="en-US" sz="2200"/>
              <a:t>of the workload to VM memory sizes provided by Azure (e.g., 4 GB, 8 GB, 16 GB, 32 GB)</a:t>
            </a:r>
          </a:p>
          <a:p>
            <a:endParaRPr lang="en-CN" sz="2200"/>
          </a:p>
        </p:txBody>
      </p:sp>
      <p:sp>
        <p:nvSpPr>
          <p:cNvPr id="4" name="Slide Number Placeholder 3">
            <a:extLst>
              <a:ext uri="{FF2B5EF4-FFF2-40B4-BE49-F238E27FC236}">
                <a16:creationId xmlns:a16="http://schemas.microsoft.com/office/drawing/2014/main" id="{0919CBD9-34F5-E7E1-0D0F-145A0157AB37}"/>
              </a:ext>
            </a:extLst>
          </p:cNvPr>
          <p:cNvSpPr>
            <a:spLocks noGrp="1"/>
          </p:cNvSpPr>
          <p:nvPr>
            <p:ph type="sldNum" sz="quarter" idx="12"/>
          </p:nvPr>
        </p:nvSpPr>
        <p:spPr/>
        <p:txBody>
          <a:bodyPr/>
          <a:lstStyle/>
          <a:p>
            <a:fld id="{5D76F006-5496-B946-A476-FEDACCAB686D}" type="slidenum">
              <a:rPr lang="en-CN" smtClean="0"/>
              <a:t>33</a:t>
            </a:fld>
            <a:endParaRPr lang="en-CN"/>
          </a:p>
        </p:txBody>
      </p:sp>
      <p:pic>
        <p:nvPicPr>
          <p:cNvPr id="5" name="Picture 4">
            <a:extLst>
              <a:ext uri="{FF2B5EF4-FFF2-40B4-BE49-F238E27FC236}">
                <a16:creationId xmlns:a16="http://schemas.microsoft.com/office/drawing/2014/main" id="{B724B28E-5F04-15AC-8C49-5585D066DEE8}"/>
              </a:ext>
            </a:extLst>
          </p:cNvPr>
          <p:cNvPicPr>
            <a:picLocks noChangeAspect="1"/>
          </p:cNvPicPr>
          <p:nvPr/>
        </p:nvPicPr>
        <p:blipFill>
          <a:blip r:embed="rId3"/>
          <a:stretch>
            <a:fillRect/>
          </a:stretch>
        </p:blipFill>
        <p:spPr>
          <a:xfrm>
            <a:off x="838200" y="3693172"/>
            <a:ext cx="6965677" cy="2663178"/>
          </a:xfrm>
          <a:prstGeom prst="rect">
            <a:avLst/>
          </a:prstGeom>
        </p:spPr>
      </p:pic>
      <p:sp>
        <p:nvSpPr>
          <p:cNvPr id="7" name="TextBox 6">
            <a:extLst>
              <a:ext uri="{FF2B5EF4-FFF2-40B4-BE49-F238E27FC236}">
                <a16:creationId xmlns:a16="http://schemas.microsoft.com/office/drawing/2014/main" id="{36E291DA-4DD3-D706-BFE6-38BE214A2BDD}"/>
              </a:ext>
            </a:extLst>
          </p:cNvPr>
          <p:cNvSpPr txBox="1"/>
          <p:nvPr/>
        </p:nvSpPr>
        <p:spPr>
          <a:xfrm>
            <a:off x="7710153" y="3828109"/>
            <a:ext cx="3924402" cy="1200329"/>
          </a:xfrm>
          <a:prstGeom prst="rect">
            <a:avLst/>
          </a:prstGeom>
          <a:noFill/>
        </p:spPr>
        <p:txBody>
          <a:bodyPr wrap="square" rtlCol="0">
            <a:spAutoFit/>
          </a:bodyPr>
          <a:lstStyle/>
          <a:p>
            <a:r>
              <a:rPr lang="en-CN" sz="2400">
                <a:solidFill>
                  <a:srgbClr val="C00000"/>
                </a:solidFill>
              </a:rPr>
              <a:t>Software tiering has </a:t>
            </a:r>
            <a:r>
              <a:rPr lang="en-CN" sz="2400" b="1">
                <a:solidFill>
                  <a:srgbClr val="C00000"/>
                </a:solidFill>
              </a:rPr>
              <a:t>more outliers</a:t>
            </a:r>
            <a:r>
              <a:rPr lang="en-CN" sz="2400">
                <a:solidFill>
                  <a:srgbClr val="C00000"/>
                </a:solidFill>
              </a:rPr>
              <a:t> due to high page migration overhead</a:t>
            </a:r>
          </a:p>
        </p:txBody>
      </p:sp>
      <p:sp>
        <p:nvSpPr>
          <p:cNvPr id="9" name="Rounded Rectangle 8">
            <a:extLst>
              <a:ext uri="{FF2B5EF4-FFF2-40B4-BE49-F238E27FC236}">
                <a16:creationId xmlns:a16="http://schemas.microsoft.com/office/drawing/2014/main" id="{C69C3A6C-0D2D-9EAF-419F-EE22A9D8BF38}"/>
              </a:ext>
            </a:extLst>
          </p:cNvPr>
          <p:cNvSpPr/>
          <p:nvPr/>
        </p:nvSpPr>
        <p:spPr>
          <a:xfrm>
            <a:off x="2938509" y="3994951"/>
            <a:ext cx="4633536" cy="514905"/>
          </a:xfrm>
          <a:prstGeom prst="roundRect">
            <a:avLst/>
          </a:prstGeom>
          <a:noFill/>
          <a:ln w="38100">
            <a:solidFill>
              <a:srgbClr val="C0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TextBox 9">
            <a:extLst>
              <a:ext uri="{FF2B5EF4-FFF2-40B4-BE49-F238E27FC236}">
                <a16:creationId xmlns:a16="http://schemas.microsoft.com/office/drawing/2014/main" id="{A43D5027-6B70-8760-5BF4-AF7B9F0A528D}"/>
              </a:ext>
            </a:extLst>
          </p:cNvPr>
          <p:cNvSpPr txBox="1"/>
          <p:nvPr/>
        </p:nvSpPr>
        <p:spPr>
          <a:xfrm>
            <a:off x="0" y="6519446"/>
            <a:ext cx="10369118" cy="338554"/>
          </a:xfrm>
          <a:prstGeom prst="rect">
            <a:avLst/>
          </a:prstGeom>
          <a:noFill/>
        </p:spPr>
        <p:txBody>
          <a:bodyPr wrap="square" rtlCol="0">
            <a:spAutoFit/>
          </a:bodyPr>
          <a:lstStyle/>
          <a:p>
            <a:r>
              <a:rPr lang="en-CN" sz="1600"/>
              <a:t>[1] Maruf et al., </a:t>
            </a:r>
            <a:r>
              <a:rPr lang="en-US" sz="1600"/>
              <a:t>TPP: Transparent Page Placement for CXL-Enabled Tiered-Memory, ASPLOS 2023</a:t>
            </a:r>
          </a:p>
        </p:txBody>
      </p:sp>
    </p:spTree>
    <p:extLst>
      <p:ext uri="{BB962C8B-B14F-4D97-AF65-F5344CB8AC3E}">
        <p14:creationId xmlns:p14="http://schemas.microsoft.com/office/powerpoint/2010/main" val="115222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F1BCE8-BF85-DDBA-3F99-BED85E4F2AAE}"/>
              </a:ext>
            </a:extLst>
          </p:cNvPr>
          <p:cNvSpPr/>
          <p:nvPr/>
        </p:nvSpPr>
        <p:spPr>
          <a:xfrm>
            <a:off x="2883740" y="4082742"/>
            <a:ext cx="1335468" cy="1086928"/>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HW-Tiered Pages</a:t>
            </a:r>
          </a:p>
        </p:txBody>
      </p:sp>
      <p:sp>
        <p:nvSpPr>
          <p:cNvPr id="5" name="Rectangle 4">
            <a:extLst>
              <a:ext uri="{FF2B5EF4-FFF2-40B4-BE49-F238E27FC236}">
                <a16:creationId xmlns:a16="http://schemas.microsoft.com/office/drawing/2014/main" id="{ECFAF3EF-90BD-E45F-02A7-E59952C0C666}"/>
              </a:ext>
            </a:extLst>
          </p:cNvPr>
          <p:cNvSpPr/>
          <p:nvPr/>
        </p:nvSpPr>
        <p:spPr>
          <a:xfrm>
            <a:off x="4509030" y="4089670"/>
            <a:ext cx="1254888" cy="220897"/>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100">
                <a:solidFill>
                  <a:schemeClr val="tx1"/>
                </a:solidFill>
              </a:rPr>
              <a:t>HW-Tiered Pages</a:t>
            </a:r>
          </a:p>
        </p:txBody>
      </p:sp>
      <p:sp>
        <p:nvSpPr>
          <p:cNvPr id="6" name="Rectangle 5">
            <a:extLst>
              <a:ext uri="{FF2B5EF4-FFF2-40B4-BE49-F238E27FC236}">
                <a16:creationId xmlns:a16="http://schemas.microsoft.com/office/drawing/2014/main" id="{8161B0D5-07C2-DEB7-44EF-FB5924B70BF9}"/>
              </a:ext>
            </a:extLst>
          </p:cNvPr>
          <p:cNvSpPr/>
          <p:nvPr/>
        </p:nvSpPr>
        <p:spPr>
          <a:xfrm>
            <a:off x="4509029" y="4310567"/>
            <a:ext cx="1254889" cy="876903"/>
          </a:xfrm>
          <a:prstGeom prst="rect">
            <a:avLst/>
          </a:prstGeom>
          <a:solidFill>
            <a:schemeClr val="tx2">
              <a:lumMod val="25000"/>
              <a:lumOff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Dedicated Pages</a:t>
            </a:r>
          </a:p>
        </p:txBody>
      </p:sp>
      <p:sp>
        <p:nvSpPr>
          <p:cNvPr id="7" name="Rectangle 6">
            <a:extLst>
              <a:ext uri="{FF2B5EF4-FFF2-40B4-BE49-F238E27FC236}">
                <a16:creationId xmlns:a16="http://schemas.microsoft.com/office/drawing/2014/main" id="{DCA9770F-00F1-7BF2-8FBA-830AB87DD064}"/>
              </a:ext>
            </a:extLst>
          </p:cNvPr>
          <p:cNvSpPr/>
          <p:nvPr/>
        </p:nvSpPr>
        <p:spPr>
          <a:xfrm>
            <a:off x="7453672" y="4069563"/>
            <a:ext cx="1254887" cy="600972"/>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HW-Tiered Pages</a:t>
            </a:r>
          </a:p>
        </p:txBody>
      </p:sp>
      <p:sp>
        <p:nvSpPr>
          <p:cNvPr id="8" name="Rectangle 7">
            <a:extLst>
              <a:ext uri="{FF2B5EF4-FFF2-40B4-BE49-F238E27FC236}">
                <a16:creationId xmlns:a16="http://schemas.microsoft.com/office/drawing/2014/main" id="{1E8F4F6B-A0B8-0777-61EA-E8963C3F1F61}"/>
              </a:ext>
            </a:extLst>
          </p:cNvPr>
          <p:cNvSpPr/>
          <p:nvPr/>
        </p:nvSpPr>
        <p:spPr>
          <a:xfrm>
            <a:off x="7450797" y="4670535"/>
            <a:ext cx="1254887" cy="514710"/>
          </a:xfrm>
          <a:prstGeom prst="rect">
            <a:avLst/>
          </a:prstGeom>
          <a:solidFill>
            <a:schemeClr val="tx2">
              <a:lumMod val="25000"/>
              <a:lumOff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sz="1600">
                <a:solidFill>
                  <a:schemeClr val="tx1"/>
                </a:solidFill>
              </a:rPr>
              <a:t>Dedicated Pages</a:t>
            </a:r>
          </a:p>
        </p:txBody>
      </p:sp>
      <p:sp>
        <p:nvSpPr>
          <p:cNvPr id="9" name="TextBox 8">
            <a:extLst>
              <a:ext uri="{FF2B5EF4-FFF2-40B4-BE49-F238E27FC236}">
                <a16:creationId xmlns:a16="http://schemas.microsoft.com/office/drawing/2014/main" id="{9A064841-FE9B-D1E1-7CB2-DD8B4681DF13}"/>
              </a:ext>
            </a:extLst>
          </p:cNvPr>
          <p:cNvSpPr txBox="1"/>
          <p:nvPr/>
        </p:nvSpPr>
        <p:spPr>
          <a:xfrm>
            <a:off x="3246188" y="3715862"/>
            <a:ext cx="683200" cy="369332"/>
          </a:xfrm>
          <a:prstGeom prst="rect">
            <a:avLst/>
          </a:prstGeom>
          <a:noFill/>
        </p:spPr>
        <p:txBody>
          <a:bodyPr wrap="square" rtlCol="0">
            <a:spAutoFit/>
          </a:bodyPr>
          <a:lstStyle/>
          <a:p>
            <a:r>
              <a:rPr lang="en-CN"/>
              <a:t>VM 1</a:t>
            </a:r>
          </a:p>
        </p:txBody>
      </p:sp>
      <p:sp>
        <p:nvSpPr>
          <p:cNvPr id="10" name="TextBox 9">
            <a:extLst>
              <a:ext uri="{FF2B5EF4-FFF2-40B4-BE49-F238E27FC236}">
                <a16:creationId xmlns:a16="http://schemas.microsoft.com/office/drawing/2014/main" id="{9B02D0AF-F4FC-67EA-74A8-CE41C6211183}"/>
              </a:ext>
            </a:extLst>
          </p:cNvPr>
          <p:cNvSpPr txBox="1"/>
          <p:nvPr/>
        </p:nvSpPr>
        <p:spPr>
          <a:xfrm>
            <a:off x="4800512" y="3713410"/>
            <a:ext cx="683200" cy="369332"/>
          </a:xfrm>
          <a:prstGeom prst="rect">
            <a:avLst/>
          </a:prstGeom>
          <a:noFill/>
        </p:spPr>
        <p:txBody>
          <a:bodyPr wrap="none" rtlCol="0">
            <a:spAutoFit/>
          </a:bodyPr>
          <a:lstStyle/>
          <a:p>
            <a:r>
              <a:rPr lang="en-CN"/>
              <a:t>VM 2</a:t>
            </a:r>
          </a:p>
        </p:txBody>
      </p:sp>
      <p:sp>
        <p:nvSpPr>
          <p:cNvPr id="11" name="TextBox 10">
            <a:extLst>
              <a:ext uri="{FF2B5EF4-FFF2-40B4-BE49-F238E27FC236}">
                <a16:creationId xmlns:a16="http://schemas.microsoft.com/office/drawing/2014/main" id="{ACCA85F5-18F0-CD29-D538-D8671F32146A}"/>
              </a:ext>
            </a:extLst>
          </p:cNvPr>
          <p:cNvSpPr txBox="1"/>
          <p:nvPr/>
        </p:nvSpPr>
        <p:spPr>
          <a:xfrm>
            <a:off x="7734190" y="3721882"/>
            <a:ext cx="683200" cy="369332"/>
          </a:xfrm>
          <a:prstGeom prst="rect">
            <a:avLst/>
          </a:prstGeom>
          <a:noFill/>
        </p:spPr>
        <p:txBody>
          <a:bodyPr wrap="none" rtlCol="0">
            <a:spAutoFit/>
          </a:bodyPr>
          <a:lstStyle/>
          <a:p>
            <a:r>
              <a:rPr lang="en-CN"/>
              <a:t>VM 3</a:t>
            </a:r>
          </a:p>
        </p:txBody>
      </p:sp>
      <p:sp>
        <p:nvSpPr>
          <p:cNvPr id="12" name="TextBox 11">
            <a:extLst>
              <a:ext uri="{FF2B5EF4-FFF2-40B4-BE49-F238E27FC236}">
                <a16:creationId xmlns:a16="http://schemas.microsoft.com/office/drawing/2014/main" id="{D4CC250D-1DE8-4332-8A23-1EB468914E26}"/>
              </a:ext>
            </a:extLst>
          </p:cNvPr>
          <p:cNvSpPr txBox="1"/>
          <p:nvPr/>
        </p:nvSpPr>
        <p:spPr>
          <a:xfrm>
            <a:off x="6410159" y="3998372"/>
            <a:ext cx="458780" cy="523220"/>
          </a:xfrm>
          <a:prstGeom prst="rect">
            <a:avLst/>
          </a:prstGeom>
          <a:noFill/>
        </p:spPr>
        <p:txBody>
          <a:bodyPr wrap="none" rtlCol="0">
            <a:spAutoFit/>
          </a:bodyPr>
          <a:lstStyle/>
          <a:p>
            <a:r>
              <a:rPr lang="en-CN" sz="2800"/>
              <a:t>...</a:t>
            </a:r>
          </a:p>
        </p:txBody>
      </p:sp>
      <p:sp>
        <p:nvSpPr>
          <p:cNvPr id="13" name="Rectangle 12">
            <a:extLst>
              <a:ext uri="{FF2B5EF4-FFF2-40B4-BE49-F238E27FC236}">
                <a16:creationId xmlns:a16="http://schemas.microsoft.com/office/drawing/2014/main" id="{76C9C942-6C3B-F640-6759-08D97BB84728}"/>
              </a:ext>
            </a:extLst>
          </p:cNvPr>
          <p:cNvSpPr/>
          <p:nvPr/>
        </p:nvSpPr>
        <p:spPr>
          <a:xfrm rot="16200000">
            <a:off x="4759033" y="3849910"/>
            <a:ext cx="474453" cy="492341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2400"/>
          </a:p>
        </p:txBody>
      </p:sp>
      <p:sp>
        <p:nvSpPr>
          <p:cNvPr id="14" name="TextBox 13">
            <a:extLst>
              <a:ext uri="{FF2B5EF4-FFF2-40B4-BE49-F238E27FC236}">
                <a16:creationId xmlns:a16="http://schemas.microsoft.com/office/drawing/2014/main" id="{0CD39BA0-6417-2C6D-DD37-27238624C6E6}"/>
              </a:ext>
            </a:extLst>
          </p:cNvPr>
          <p:cNvSpPr txBox="1"/>
          <p:nvPr/>
        </p:nvSpPr>
        <p:spPr>
          <a:xfrm>
            <a:off x="3219139" y="6077247"/>
            <a:ext cx="3723520" cy="461665"/>
          </a:xfrm>
          <a:prstGeom prst="rect">
            <a:avLst/>
          </a:prstGeom>
          <a:noFill/>
        </p:spPr>
        <p:txBody>
          <a:bodyPr wrap="none" rtlCol="0">
            <a:spAutoFit/>
          </a:bodyPr>
          <a:lstStyle/>
          <a:p>
            <a:r>
              <a:rPr lang="en-CN" sz="2400" b="1"/>
              <a:t>Hardware-Tiered Memory</a:t>
            </a:r>
          </a:p>
        </p:txBody>
      </p:sp>
      <p:sp>
        <p:nvSpPr>
          <p:cNvPr id="15" name="Rectangle 14">
            <a:extLst>
              <a:ext uri="{FF2B5EF4-FFF2-40B4-BE49-F238E27FC236}">
                <a16:creationId xmlns:a16="http://schemas.microsoft.com/office/drawing/2014/main" id="{20CE876C-D37D-A2DE-CC99-E36DA956D185}"/>
              </a:ext>
            </a:extLst>
          </p:cNvPr>
          <p:cNvSpPr/>
          <p:nvPr/>
        </p:nvSpPr>
        <p:spPr>
          <a:xfrm rot="16200000">
            <a:off x="8377163" y="5369852"/>
            <a:ext cx="474453" cy="1883526"/>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6" name="TextBox 15">
            <a:extLst>
              <a:ext uri="{FF2B5EF4-FFF2-40B4-BE49-F238E27FC236}">
                <a16:creationId xmlns:a16="http://schemas.microsoft.com/office/drawing/2014/main" id="{72F0B5E9-EF20-D518-852E-20C41A7F87E5}"/>
              </a:ext>
            </a:extLst>
          </p:cNvPr>
          <p:cNvSpPr txBox="1"/>
          <p:nvPr/>
        </p:nvSpPr>
        <p:spPr>
          <a:xfrm>
            <a:off x="7975203" y="6019227"/>
            <a:ext cx="1371787" cy="584775"/>
          </a:xfrm>
          <a:prstGeom prst="rect">
            <a:avLst/>
          </a:prstGeom>
          <a:noFill/>
        </p:spPr>
        <p:txBody>
          <a:bodyPr wrap="none" rtlCol="0">
            <a:spAutoFit/>
          </a:bodyPr>
          <a:lstStyle/>
          <a:p>
            <a:pPr algn="ctr"/>
            <a:r>
              <a:rPr lang="en-CN" sz="1600" b="1"/>
              <a:t>Dedicated</a:t>
            </a:r>
          </a:p>
          <a:p>
            <a:pPr algn="ctr"/>
            <a:r>
              <a:rPr lang="en-CN" sz="1600"/>
              <a:t>Local Memory</a:t>
            </a:r>
          </a:p>
        </p:txBody>
      </p:sp>
      <p:cxnSp>
        <p:nvCxnSpPr>
          <p:cNvPr id="17" name="Straight Connector 16">
            <a:extLst>
              <a:ext uri="{FF2B5EF4-FFF2-40B4-BE49-F238E27FC236}">
                <a16:creationId xmlns:a16="http://schemas.microsoft.com/office/drawing/2014/main" id="{47624213-EF93-AE4C-0D37-73879DAFDE8C}"/>
              </a:ext>
            </a:extLst>
          </p:cNvPr>
          <p:cNvCxnSpPr>
            <a:cxnSpLocks/>
          </p:cNvCxnSpPr>
          <p:nvPr/>
        </p:nvCxnSpPr>
        <p:spPr>
          <a:xfrm>
            <a:off x="2162967" y="5691199"/>
            <a:ext cx="7393186"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34AF8CB-3FD9-577C-5DA3-49A11F3314A4}"/>
              </a:ext>
            </a:extLst>
          </p:cNvPr>
          <p:cNvSpPr txBox="1"/>
          <p:nvPr/>
        </p:nvSpPr>
        <p:spPr>
          <a:xfrm>
            <a:off x="2081195" y="5699826"/>
            <a:ext cx="1104085" cy="369332"/>
          </a:xfrm>
          <a:prstGeom prst="rect">
            <a:avLst/>
          </a:prstGeom>
          <a:noFill/>
        </p:spPr>
        <p:txBody>
          <a:bodyPr wrap="none" rtlCol="0">
            <a:spAutoFit/>
          </a:bodyPr>
          <a:lstStyle/>
          <a:p>
            <a:r>
              <a:rPr lang="en-CN"/>
              <a:t>Hardware</a:t>
            </a:r>
          </a:p>
        </p:txBody>
      </p:sp>
      <p:sp>
        <p:nvSpPr>
          <p:cNvPr id="19" name="TextBox 18">
            <a:extLst>
              <a:ext uri="{FF2B5EF4-FFF2-40B4-BE49-F238E27FC236}">
                <a16:creationId xmlns:a16="http://schemas.microsoft.com/office/drawing/2014/main" id="{261D08DC-F4A5-C89B-6795-8BFCF1E27802}"/>
              </a:ext>
            </a:extLst>
          </p:cNvPr>
          <p:cNvSpPr txBox="1"/>
          <p:nvPr/>
        </p:nvSpPr>
        <p:spPr>
          <a:xfrm>
            <a:off x="2081195" y="5276775"/>
            <a:ext cx="1025474" cy="369332"/>
          </a:xfrm>
          <a:prstGeom prst="rect">
            <a:avLst/>
          </a:prstGeom>
          <a:noFill/>
        </p:spPr>
        <p:txBody>
          <a:bodyPr wrap="none" rtlCol="0">
            <a:spAutoFit/>
          </a:bodyPr>
          <a:lstStyle/>
          <a:p>
            <a:r>
              <a:rPr lang="en-CN"/>
              <a:t>Software</a:t>
            </a:r>
          </a:p>
        </p:txBody>
      </p:sp>
      <p:sp>
        <p:nvSpPr>
          <p:cNvPr id="20" name="Rectangle 19">
            <a:extLst>
              <a:ext uri="{FF2B5EF4-FFF2-40B4-BE49-F238E27FC236}">
                <a16:creationId xmlns:a16="http://schemas.microsoft.com/office/drawing/2014/main" id="{685D6D2C-C039-609F-B915-AFF6BCFF10A9}"/>
              </a:ext>
            </a:extLst>
          </p:cNvPr>
          <p:cNvSpPr/>
          <p:nvPr/>
        </p:nvSpPr>
        <p:spPr>
          <a:xfrm>
            <a:off x="3830073" y="563851"/>
            <a:ext cx="4041673" cy="1464815"/>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1" name="TextBox 20">
            <a:extLst>
              <a:ext uri="{FF2B5EF4-FFF2-40B4-BE49-F238E27FC236}">
                <a16:creationId xmlns:a16="http://schemas.microsoft.com/office/drawing/2014/main" id="{B9A8B3E8-395E-5522-1B05-BA5CFC0FEBBE}"/>
              </a:ext>
            </a:extLst>
          </p:cNvPr>
          <p:cNvSpPr txBox="1"/>
          <p:nvPr/>
        </p:nvSpPr>
        <p:spPr>
          <a:xfrm>
            <a:off x="5041109" y="547311"/>
            <a:ext cx="1595245" cy="461665"/>
          </a:xfrm>
          <a:prstGeom prst="rect">
            <a:avLst/>
          </a:prstGeom>
          <a:noFill/>
        </p:spPr>
        <p:txBody>
          <a:bodyPr wrap="none" rtlCol="0">
            <a:spAutoFit/>
          </a:bodyPr>
          <a:lstStyle/>
          <a:p>
            <a:pPr algn="ctr"/>
            <a:r>
              <a:rPr lang="en-CN" sz="2400" b="1"/>
              <a:t>Memstrata</a:t>
            </a:r>
            <a:endParaRPr lang="en-CN" sz="2400"/>
          </a:p>
        </p:txBody>
      </p:sp>
      <p:sp>
        <p:nvSpPr>
          <p:cNvPr id="22" name="Rectangle 21">
            <a:extLst>
              <a:ext uri="{FF2B5EF4-FFF2-40B4-BE49-F238E27FC236}">
                <a16:creationId xmlns:a16="http://schemas.microsoft.com/office/drawing/2014/main" id="{D8082015-3588-D391-C131-C767839268C8}"/>
              </a:ext>
            </a:extLst>
          </p:cNvPr>
          <p:cNvSpPr/>
          <p:nvPr/>
        </p:nvSpPr>
        <p:spPr>
          <a:xfrm>
            <a:off x="3990132" y="1002097"/>
            <a:ext cx="1662876" cy="933221"/>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solidFill>
                  <a:schemeClr val="tx1"/>
                </a:solidFill>
              </a:rPr>
              <a:t>Slowdown</a:t>
            </a:r>
          </a:p>
          <a:p>
            <a:pPr algn="ctr"/>
            <a:r>
              <a:rPr lang="en-CN">
                <a:solidFill>
                  <a:schemeClr val="tx1"/>
                </a:solidFill>
              </a:rPr>
              <a:t>Estimator</a:t>
            </a:r>
          </a:p>
          <a:p>
            <a:pPr algn="ctr"/>
            <a:r>
              <a:rPr lang="en-CN" sz="1600">
                <a:solidFill>
                  <a:schemeClr val="tx1"/>
                </a:solidFill>
              </a:rPr>
              <a:t> </a:t>
            </a:r>
          </a:p>
        </p:txBody>
      </p:sp>
      <p:sp>
        <p:nvSpPr>
          <p:cNvPr id="23" name="Rectangle 22">
            <a:extLst>
              <a:ext uri="{FF2B5EF4-FFF2-40B4-BE49-F238E27FC236}">
                <a16:creationId xmlns:a16="http://schemas.microsoft.com/office/drawing/2014/main" id="{D39D91EB-5E11-A153-CC5D-9BD6FF7CA968}"/>
              </a:ext>
            </a:extLst>
          </p:cNvPr>
          <p:cNvSpPr/>
          <p:nvPr/>
        </p:nvSpPr>
        <p:spPr>
          <a:xfrm>
            <a:off x="6138945" y="996985"/>
            <a:ext cx="1595245" cy="938333"/>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solidFill>
                  <a:schemeClr val="tx1"/>
                </a:solidFill>
              </a:rPr>
              <a:t>Dynamic Page Allocator</a:t>
            </a:r>
          </a:p>
        </p:txBody>
      </p:sp>
      <p:sp>
        <p:nvSpPr>
          <p:cNvPr id="24" name="Rectangle 23">
            <a:extLst>
              <a:ext uri="{FF2B5EF4-FFF2-40B4-BE49-F238E27FC236}">
                <a16:creationId xmlns:a16="http://schemas.microsoft.com/office/drawing/2014/main" id="{7BF1C639-0D71-C714-BE3C-A5177CDF0312}"/>
              </a:ext>
            </a:extLst>
          </p:cNvPr>
          <p:cNvSpPr/>
          <p:nvPr/>
        </p:nvSpPr>
        <p:spPr>
          <a:xfrm>
            <a:off x="2805107" y="2887953"/>
            <a:ext cx="6664356" cy="664121"/>
          </a:xfrm>
          <a:prstGeom prst="rect">
            <a:avLst/>
          </a:prstGeom>
          <a:noFill/>
          <a:ln w="127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Rectangle 24">
            <a:extLst>
              <a:ext uri="{FF2B5EF4-FFF2-40B4-BE49-F238E27FC236}">
                <a16:creationId xmlns:a16="http://schemas.microsoft.com/office/drawing/2014/main" id="{5618C6FF-57A4-85D8-1BEA-4D427100E80E}"/>
              </a:ext>
            </a:extLst>
          </p:cNvPr>
          <p:cNvSpPr/>
          <p:nvPr/>
        </p:nvSpPr>
        <p:spPr>
          <a:xfrm>
            <a:off x="3043656" y="3002618"/>
            <a:ext cx="1877353" cy="407447"/>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solidFill>
                  <a:sysClr val="windowText" lastClr="000000"/>
                </a:solidFill>
              </a:rPr>
              <a:t>perf</a:t>
            </a:r>
          </a:p>
        </p:txBody>
      </p:sp>
      <p:sp>
        <p:nvSpPr>
          <p:cNvPr id="26" name="TextBox 25">
            <a:extLst>
              <a:ext uri="{FF2B5EF4-FFF2-40B4-BE49-F238E27FC236}">
                <a16:creationId xmlns:a16="http://schemas.microsoft.com/office/drawing/2014/main" id="{35C0C2B2-AE52-CB8E-4080-016708E18E01}"/>
              </a:ext>
            </a:extLst>
          </p:cNvPr>
          <p:cNvSpPr txBox="1"/>
          <p:nvPr/>
        </p:nvSpPr>
        <p:spPr>
          <a:xfrm>
            <a:off x="2817205" y="1974823"/>
            <a:ext cx="1805494" cy="369332"/>
          </a:xfrm>
          <a:prstGeom prst="rect">
            <a:avLst/>
          </a:prstGeom>
          <a:noFill/>
        </p:spPr>
        <p:txBody>
          <a:bodyPr wrap="none" rtlCol="0">
            <a:spAutoFit/>
          </a:bodyPr>
          <a:lstStyle/>
          <a:p>
            <a:r>
              <a:rPr lang="en-CN"/>
              <a:t>perf_read (VM 1)</a:t>
            </a:r>
          </a:p>
        </p:txBody>
      </p:sp>
      <p:sp>
        <p:nvSpPr>
          <p:cNvPr id="27" name="Rectangle 26">
            <a:extLst>
              <a:ext uri="{FF2B5EF4-FFF2-40B4-BE49-F238E27FC236}">
                <a16:creationId xmlns:a16="http://schemas.microsoft.com/office/drawing/2014/main" id="{628BEFA9-AD46-8AE5-5B7A-5BE0F78A2EA1}"/>
              </a:ext>
            </a:extLst>
          </p:cNvPr>
          <p:cNvSpPr/>
          <p:nvPr/>
        </p:nvSpPr>
        <p:spPr>
          <a:xfrm>
            <a:off x="5796531" y="3016504"/>
            <a:ext cx="1877353" cy="390157"/>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solidFill>
                  <a:sysClr val="windowText" lastClr="000000"/>
                </a:solidFill>
              </a:rPr>
              <a:t>exchange_pages</a:t>
            </a:r>
          </a:p>
        </p:txBody>
      </p:sp>
      <p:sp>
        <p:nvSpPr>
          <p:cNvPr id="28" name="TextBox 27">
            <a:extLst>
              <a:ext uri="{FF2B5EF4-FFF2-40B4-BE49-F238E27FC236}">
                <a16:creationId xmlns:a16="http://schemas.microsoft.com/office/drawing/2014/main" id="{B116AD02-D487-1D2B-3302-19C6747A1F2B}"/>
              </a:ext>
            </a:extLst>
          </p:cNvPr>
          <p:cNvSpPr txBox="1"/>
          <p:nvPr/>
        </p:nvSpPr>
        <p:spPr>
          <a:xfrm>
            <a:off x="6816840" y="2196480"/>
            <a:ext cx="3071995" cy="369332"/>
          </a:xfrm>
          <a:prstGeom prst="rect">
            <a:avLst/>
          </a:prstGeom>
          <a:noFill/>
        </p:spPr>
        <p:txBody>
          <a:bodyPr wrap="none" rtlCol="0">
            <a:spAutoFit/>
          </a:bodyPr>
          <a:lstStyle/>
          <a:p>
            <a:r>
              <a:rPr lang="en-CN"/>
              <a:t>exchange_pages(VM 2→VM 3)</a:t>
            </a:r>
          </a:p>
        </p:txBody>
      </p:sp>
      <p:sp>
        <p:nvSpPr>
          <p:cNvPr id="29" name="TextBox 28">
            <a:extLst>
              <a:ext uri="{FF2B5EF4-FFF2-40B4-BE49-F238E27FC236}">
                <a16:creationId xmlns:a16="http://schemas.microsoft.com/office/drawing/2014/main" id="{3C87C3EC-973D-2F50-20CE-BCCC11FE17C5}"/>
              </a:ext>
            </a:extLst>
          </p:cNvPr>
          <p:cNvSpPr txBox="1"/>
          <p:nvPr/>
        </p:nvSpPr>
        <p:spPr>
          <a:xfrm>
            <a:off x="7844861" y="2975508"/>
            <a:ext cx="1629550" cy="461665"/>
          </a:xfrm>
          <a:prstGeom prst="rect">
            <a:avLst/>
          </a:prstGeom>
          <a:noFill/>
        </p:spPr>
        <p:txBody>
          <a:bodyPr wrap="none" rtlCol="0">
            <a:spAutoFit/>
          </a:bodyPr>
          <a:lstStyle/>
          <a:p>
            <a:pPr algn="ctr"/>
            <a:r>
              <a:rPr lang="en-CN" sz="2400"/>
              <a:t>Host Kernel</a:t>
            </a:r>
          </a:p>
        </p:txBody>
      </p:sp>
      <p:sp>
        <p:nvSpPr>
          <p:cNvPr id="30" name="Rectangle 29">
            <a:extLst>
              <a:ext uri="{FF2B5EF4-FFF2-40B4-BE49-F238E27FC236}">
                <a16:creationId xmlns:a16="http://schemas.microsoft.com/office/drawing/2014/main" id="{0F71C00F-54CD-4E0E-3CA5-DB1F93E37787}"/>
              </a:ext>
            </a:extLst>
          </p:cNvPr>
          <p:cNvSpPr/>
          <p:nvPr/>
        </p:nvSpPr>
        <p:spPr>
          <a:xfrm>
            <a:off x="7142167" y="4223283"/>
            <a:ext cx="186110" cy="31843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31" name="Rectangle 30">
            <a:extLst>
              <a:ext uri="{FF2B5EF4-FFF2-40B4-BE49-F238E27FC236}">
                <a16:creationId xmlns:a16="http://schemas.microsoft.com/office/drawing/2014/main" id="{C739ECAB-FE1E-F464-BB41-952C092EAD13}"/>
              </a:ext>
            </a:extLst>
          </p:cNvPr>
          <p:cNvSpPr/>
          <p:nvPr/>
        </p:nvSpPr>
        <p:spPr>
          <a:xfrm>
            <a:off x="5961415" y="4780085"/>
            <a:ext cx="186109" cy="344267"/>
          </a:xfrm>
          <a:prstGeom prst="rect">
            <a:avLst/>
          </a:prstGeom>
          <a:solidFill>
            <a:schemeClr val="tx2">
              <a:lumMod val="25000"/>
              <a:lumOff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32" name="Rectangle 31">
            <a:extLst>
              <a:ext uri="{FF2B5EF4-FFF2-40B4-BE49-F238E27FC236}">
                <a16:creationId xmlns:a16="http://schemas.microsoft.com/office/drawing/2014/main" id="{E6D76E0C-5168-ACF5-D572-F2AA560D79CE}"/>
              </a:ext>
            </a:extLst>
          </p:cNvPr>
          <p:cNvSpPr/>
          <p:nvPr/>
        </p:nvSpPr>
        <p:spPr>
          <a:xfrm>
            <a:off x="6298737" y="4845197"/>
            <a:ext cx="186109" cy="344266"/>
          </a:xfrm>
          <a:prstGeom prst="rect">
            <a:avLst/>
          </a:prstGeom>
          <a:solidFill>
            <a:schemeClr val="tx2">
              <a:lumMod val="25000"/>
              <a:lumOff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33" name="Rectangle 32">
            <a:extLst>
              <a:ext uri="{FF2B5EF4-FFF2-40B4-BE49-F238E27FC236}">
                <a16:creationId xmlns:a16="http://schemas.microsoft.com/office/drawing/2014/main" id="{EAFE860F-3806-50C9-A367-8FB6DA863E2E}"/>
              </a:ext>
            </a:extLst>
          </p:cNvPr>
          <p:cNvSpPr/>
          <p:nvPr/>
        </p:nvSpPr>
        <p:spPr>
          <a:xfrm>
            <a:off x="6833675" y="4882558"/>
            <a:ext cx="186109" cy="318431"/>
          </a:xfrm>
          <a:prstGeom prst="rect">
            <a:avLst/>
          </a:prstGeom>
          <a:solidFill>
            <a:schemeClr val="tx2">
              <a:lumMod val="25000"/>
              <a:lumOff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34" name="Rectangle 33">
            <a:extLst>
              <a:ext uri="{FF2B5EF4-FFF2-40B4-BE49-F238E27FC236}">
                <a16:creationId xmlns:a16="http://schemas.microsoft.com/office/drawing/2014/main" id="{F7FC2378-4C1E-2313-E901-B663F1705C6A}"/>
              </a:ext>
            </a:extLst>
          </p:cNvPr>
          <p:cNvSpPr/>
          <p:nvPr/>
        </p:nvSpPr>
        <p:spPr>
          <a:xfrm>
            <a:off x="6811794" y="4269455"/>
            <a:ext cx="186110" cy="31843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sp>
        <p:nvSpPr>
          <p:cNvPr id="35" name="Rectangle 34">
            <a:extLst>
              <a:ext uri="{FF2B5EF4-FFF2-40B4-BE49-F238E27FC236}">
                <a16:creationId xmlns:a16="http://schemas.microsoft.com/office/drawing/2014/main" id="{9E652DCC-DA79-C094-9A97-0E226DD1FACE}"/>
              </a:ext>
            </a:extLst>
          </p:cNvPr>
          <p:cNvSpPr/>
          <p:nvPr/>
        </p:nvSpPr>
        <p:spPr>
          <a:xfrm>
            <a:off x="6266203" y="4273199"/>
            <a:ext cx="186110" cy="318433"/>
          </a:xfrm>
          <a:prstGeom prst="rect">
            <a:avLst/>
          </a:prstGeom>
          <a:solidFill>
            <a:schemeClr val="bg2">
              <a:lumMod val="9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1400">
              <a:solidFill>
                <a:schemeClr val="tx1"/>
              </a:solidFill>
            </a:endParaRPr>
          </a:p>
        </p:txBody>
      </p:sp>
      <p:cxnSp>
        <p:nvCxnSpPr>
          <p:cNvPr id="36" name="Straight Arrow Connector 35">
            <a:extLst>
              <a:ext uri="{FF2B5EF4-FFF2-40B4-BE49-F238E27FC236}">
                <a16:creationId xmlns:a16="http://schemas.microsoft.com/office/drawing/2014/main" id="{6C0DCA79-2836-9FED-96AD-32FC098D6DD2}"/>
              </a:ext>
            </a:extLst>
          </p:cNvPr>
          <p:cNvCxnSpPr>
            <a:cxnSpLocks/>
            <a:stCxn id="25" idx="0"/>
            <a:endCxn id="22" idx="2"/>
          </p:cNvCxnSpPr>
          <p:nvPr/>
        </p:nvCxnSpPr>
        <p:spPr>
          <a:xfrm flipV="1">
            <a:off x="3982333" y="1935318"/>
            <a:ext cx="839237" cy="10673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64FBA5D-E1EE-1D0A-D259-710CED679CE8}"/>
              </a:ext>
            </a:extLst>
          </p:cNvPr>
          <p:cNvCxnSpPr>
            <a:cxnSpLocks/>
            <a:stCxn id="22" idx="3"/>
            <a:endCxn id="23" idx="1"/>
          </p:cNvCxnSpPr>
          <p:nvPr/>
        </p:nvCxnSpPr>
        <p:spPr>
          <a:xfrm flipV="1">
            <a:off x="5653008" y="1466152"/>
            <a:ext cx="485937" cy="25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364A3B2-887F-C99B-41BA-26427E5A765C}"/>
              </a:ext>
            </a:extLst>
          </p:cNvPr>
          <p:cNvCxnSpPr>
            <a:cxnSpLocks/>
            <a:stCxn id="23" idx="2"/>
            <a:endCxn id="27" idx="0"/>
          </p:cNvCxnSpPr>
          <p:nvPr/>
        </p:nvCxnSpPr>
        <p:spPr>
          <a:xfrm flipH="1">
            <a:off x="6735208" y="1935318"/>
            <a:ext cx="201360" cy="1081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E977B9E-1ACA-0CAF-1FE0-1E8078205926}"/>
              </a:ext>
            </a:extLst>
          </p:cNvPr>
          <p:cNvSpPr txBox="1"/>
          <p:nvPr/>
        </p:nvSpPr>
        <p:spPr>
          <a:xfrm>
            <a:off x="2392963" y="2519368"/>
            <a:ext cx="1805494" cy="369332"/>
          </a:xfrm>
          <a:prstGeom prst="rect">
            <a:avLst/>
          </a:prstGeom>
          <a:noFill/>
        </p:spPr>
        <p:txBody>
          <a:bodyPr wrap="none" rtlCol="0">
            <a:spAutoFit/>
          </a:bodyPr>
          <a:lstStyle/>
          <a:p>
            <a:r>
              <a:rPr lang="en-CN"/>
              <a:t>perf_read (VM 3)</a:t>
            </a:r>
          </a:p>
        </p:txBody>
      </p:sp>
      <p:sp>
        <p:nvSpPr>
          <p:cNvPr id="40" name="TextBox 39">
            <a:extLst>
              <a:ext uri="{FF2B5EF4-FFF2-40B4-BE49-F238E27FC236}">
                <a16:creationId xmlns:a16="http://schemas.microsoft.com/office/drawing/2014/main" id="{014D10DA-4B95-06F8-D298-C246229FBA92}"/>
              </a:ext>
            </a:extLst>
          </p:cNvPr>
          <p:cNvSpPr txBox="1"/>
          <p:nvPr/>
        </p:nvSpPr>
        <p:spPr>
          <a:xfrm flipH="1">
            <a:off x="3302453" y="2186980"/>
            <a:ext cx="570670" cy="400110"/>
          </a:xfrm>
          <a:prstGeom prst="rect">
            <a:avLst/>
          </a:prstGeom>
          <a:noFill/>
        </p:spPr>
        <p:txBody>
          <a:bodyPr wrap="square" rtlCol="0">
            <a:spAutoFit/>
          </a:bodyPr>
          <a:lstStyle/>
          <a:p>
            <a:r>
              <a:rPr lang="en-CN" sz="2000"/>
              <a:t>...</a:t>
            </a:r>
          </a:p>
        </p:txBody>
      </p:sp>
      <p:sp>
        <p:nvSpPr>
          <p:cNvPr id="41" name="TextBox 40">
            <a:extLst>
              <a:ext uri="{FF2B5EF4-FFF2-40B4-BE49-F238E27FC236}">
                <a16:creationId xmlns:a16="http://schemas.microsoft.com/office/drawing/2014/main" id="{8CACEEB4-D0E5-3846-A68D-8C3A4FC75BC6}"/>
              </a:ext>
            </a:extLst>
          </p:cNvPr>
          <p:cNvSpPr txBox="1"/>
          <p:nvPr/>
        </p:nvSpPr>
        <p:spPr>
          <a:xfrm>
            <a:off x="4414581" y="2278912"/>
            <a:ext cx="543739" cy="369332"/>
          </a:xfrm>
          <a:prstGeom prst="rect">
            <a:avLst/>
          </a:prstGeom>
          <a:noFill/>
        </p:spPr>
        <p:txBody>
          <a:bodyPr wrap="none" rtlCol="0">
            <a:spAutoFit/>
          </a:bodyPr>
          <a:lstStyle/>
          <a:p>
            <a:r>
              <a:rPr lang="en-CN"/>
              <a:t>① </a:t>
            </a:r>
          </a:p>
        </p:txBody>
      </p:sp>
      <p:sp>
        <p:nvSpPr>
          <p:cNvPr id="42" name="TextBox 41">
            <a:extLst>
              <a:ext uri="{FF2B5EF4-FFF2-40B4-BE49-F238E27FC236}">
                <a16:creationId xmlns:a16="http://schemas.microsoft.com/office/drawing/2014/main" id="{CD41B6C4-10CD-6388-14AB-E1F3CD64F9DB}"/>
              </a:ext>
            </a:extLst>
          </p:cNvPr>
          <p:cNvSpPr txBox="1"/>
          <p:nvPr/>
        </p:nvSpPr>
        <p:spPr>
          <a:xfrm>
            <a:off x="5646445" y="1051624"/>
            <a:ext cx="490840" cy="369332"/>
          </a:xfrm>
          <a:prstGeom prst="rect">
            <a:avLst/>
          </a:prstGeom>
          <a:noFill/>
        </p:spPr>
        <p:txBody>
          <a:bodyPr wrap="none" rtlCol="0">
            <a:spAutoFit/>
          </a:bodyPr>
          <a:lstStyle/>
          <a:p>
            <a:r>
              <a:rPr lang="en-CN"/>
              <a:t>②</a:t>
            </a:r>
          </a:p>
        </p:txBody>
      </p:sp>
      <p:sp>
        <p:nvSpPr>
          <p:cNvPr id="43" name="TextBox 42">
            <a:extLst>
              <a:ext uri="{FF2B5EF4-FFF2-40B4-BE49-F238E27FC236}">
                <a16:creationId xmlns:a16="http://schemas.microsoft.com/office/drawing/2014/main" id="{D0B6226F-53F9-100E-DB99-3B9E037E66DB}"/>
              </a:ext>
            </a:extLst>
          </p:cNvPr>
          <p:cNvSpPr txBox="1"/>
          <p:nvPr/>
        </p:nvSpPr>
        <p:spPr>
          <a:xfrm>
            <a:off x="6410159" y="2190594"/>
            <a:ext cx="490840" cy="369332"/>
          </a:xfrm>
          <a:prstGeom prst="rect">
            <a:avLst/>
          </a:prstGeom>
          <a:noFill/>
        </p:spPr>
        <p:txBody>
          <a:bodyPr wrap="none" rtlCol="0">
            <a:spAutoFit/>
          </a:bodyPr>
          <a:lstStyle/>
          <a:p>
            <a:r>
              <a:rPr lang="en-CN"/>
              <a:t>③</a:t>
            </a:r>
          </a:p>
        </p:txBody>
      </p:sp>
      <p:sp>
        <p:nvSpPr>
          <p:cNvPr id="44" name="TextBox 43">
            <a:extLst>
              <a:ext uri="{FF2B5EF4-FFF2-40B4-BE49-F238E27FC236}">
                <a16:creationId xmlns:a16="http://schemas.microsoft.com/office/drawing/2014/main" id="{F222CA87-62C9-CFA6-07D3-C5A9220F0B66}"/>
              </a:ext>
            </a:extLst>
          </p:cNvPr>
          <p:cNvSpPr txBox="1"/>
          <p:nvPr/>
        </p:nvSpPr>
        <p:spPr>
          <a:xfrm>
            <a:off x="6967125" y="3613861"/>
            <a:ext cx="490840" cy="369332"/>
          </a:xfrm>
          <a:prstGeom prst="rect">
            <a:avLst/>
          </a:prstGeom>
          <a:noFill/>
        </p:spPr>
        <p:txBody>
          <a:bodyPr wrap="none" rtlCol="0">
            <a:spAutoFit/>
          </a:bodyPr>
          <a:lstStyle/>
          <a:p>
            <a:r>
              <a:rPr lang="en-CN"/>
              <a:t>④</a:t>
            </a:r>
          </a:p>
        </p:txBody>
      </p:sp>
      <p:sp>
        <p:nvSpPr>
          <p:cNvPr id="45" name="Freeform 44">
            <a:extLst>
              <a:ext uri="{FF2B5EF4-FFF2-40B4-BE49-F238E27FC236}">
                <a16:creationId xmlns:a16="http://schemas.microsoft.com/office/drawing/2014/main" id="{A305F4DF-557E-6155-29E5-DF37FA17F496}"/>
              </a:ext>
            </a:extLst>
          </p:cNvPr>
          <p:cNvSpPr/>
          <p:nvPr/>
        </p:nvSpPr>
        <p:spPr>
          <a:xfrm>
            <a:off x="6039879" y="3409297"/>
            <a:ext cx="1643900" cy="1031673"/>
          </a:xfrm>
          <a:custGeom>
            <a:avLst/>
            <a:gdLst>
              <a:gd name="connsiteX0" fmla="*/ 1104181 w 1643900"/>
              <a:gd name="connsiteY0" fmla="*/ 0 h 1155940"/>
              <a:gd name="connsiteX1" fmla="*/ 1570008 w 1643900"/>
              <a:gd name="connsiteY1" fmla="*/ 707366 h 1155940"/>
              <a:gd name="connsiteX2" fmla="*/ 1475117 w 1643900"/>
              <a:gd name="connsiteY2" fmla="*/ 1078302 h 1155940"/>
              <a:gd name="connsiteX3" fmla="*/ 0 w 1643900"/>
              <a:gd name="connsiteY3" fmla="*/ 1155940 h 1155940"/>
            </a:gdLst>
            <a:ahLst/>
            <a:cxnLst>
              <a:cxn ang="0">
                <a:pos x="connsiteX0" y="connsiteY0"/>
              </a:cxn>
              <a:cxn ang="0">
                <a:pos x="connsiteX1" y="connsiteY1"/>
              </a:cxn>
              <a:cxn ang="0">
                <a:pos x="connsiteX2" y="connsiteY2"/>
              </a:cxn>
              <a:cxn ang="0">
                <a:pos x="connsiteX3" y="connsiteY3"/>
              </a:cxn>
            </a:cxnLst>
            <a:rect l="l" t="t" r="r" b="b"/>
            <a:pathLst>
              <a:path w="1643900" h="1155940">
                <a:moveTo>
                  <a:pt x="1104181" y="0"/>
                </a:moveTo>
                <a:cubicBezTo>
                  <a:pt x="1306183" y="263824"/>
                  <a:pt x="1508185" y="527649"/>
                  <a:pt x="1570008" y="707366"/>
                </a:cubicBezTo>
                <a:cubicBezTo>
                  <a:pt x="1631831" y="887083"/>
                  <a:pt x="1736785" y="1003540"/>
                  <a:pt x="1475117" y="1078302"/>
                </a:cubicBezTo>
                <a:cubicBezTo>
                  <a:pt x="1213449" y="1153064"/>
                  <a:pt x="606724" y="1154502"/>
                  <a:pt x="0" y="1155940"/>
                </a:cubicBezTo>
              </a:path>
            </a:pathLst>
          </a:custGeom>
          <a:noFill/>
          <a:ln w="28575">
            <a:solidFill>
              <a:schemeClr val="tx1"/>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6" name="Freeform 45">
            <a:extLst>
              <a:ext uri="{FF2B5EF4-FFF2-40B4-BE49-F238E27FC236}">
                <a16:creationId xmlns:a16="http://schemas.microsoft.com/office/drawing/2014/main" id="{DA8C3933-EB52-E017-209D-045E7DDA4903}"/>
              </a:ext>
            </a:extLst>
          </p:cNvPr>
          <p:cNvSpPr/>
          <p:nvPr/>
        </p:nvSpPr>
        <p:spPr>
          <a:xfrm>
            <a:off x="5670609" y="3409298"/>
            <a:ext cx="1669809" cy="1632475"/>
          </a:xfrm>
          <a:custGeom>
            <a:avLst/>
            <a:gdLst>
              <a:gd name="connsiteX0" fmla="*/ 651892 w 1669809"/>
              <a:gd name="connsiteY0" fmla="*/ 0 h 1759789"/>
              <a:gd name="connsiteX1" fmla="*/ 39417 w 1669809"/>
              <a:gd name="connsiteY1" fmla="*/ 1293962 h 1759789"/>
              <a:gd name="connsiteX2" fmla="*/ 125681 w 1669809"/>
              <a:gd name="connsiteY2" fmla="*/ 1604513 h 1759789"/>
              <a:gd name="connsiteX3" fmla="*/ 651892 w 1669809"/>
              <a:gd name="connsiteY3" fmla="*/ 1716657 h 1759789"/>
              <a:gd name="connsiteX4" fmla="*/ 1669809 w 1669809"/>
              <a:gd name="connsiteY4" fmla="*/ 1759789 h 1759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9809" h="1759789">
                <a:moveTo>
                  <a:pt x="651892" y="0"/>
                </a:moveTo>
                <a:cubicBezTo>
                  <a:pt x="389505" y="513271"/>
                  <a:pt x="127119" y="1026543"/>
                  <a:pt x="39417" y="1293962"/>
                </a:cubicBezTo>
                <a:cubicBezTo>
                  <a:pt x="-48285" y="1561381"/>
                  <a:pt x="23602" y="1534064"/>
                  <a:pt x="125681" y="1604513"/>
                </a:cubicBezTo>
                <a:cubicBezTo>
                  <a:pt x="227760" y="1674962"/>
                  <a:pt x="394537" y="1690778"/>
                  <a:pt x="651892" y="1716657"/>
                </a:cubicBezTo>
                <a:cubicBezTo>
                  <a:pt x="909247" y="1742536"/>
                  <a:pt x="1289528" y="1751162"/>
                  <a:pt x="1669809" y="1759789"/>
                </a:cubicBezTo>
              </a:path>
            </a:pathLst>
          </a:custGeom>
          <a:noFill/>
          <a:ln w="28575">
            <a:solidFill>
              <a:schemeClr val="tx1"/>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a:t> </a:t>
            </a:r>
          </a:p>
        </p:txBody>
      </p:sp>
      <p:sp>
        <p:nvSpPr>
          <p:cNvPr id="47" name="TextBox 46">
            <a:extLst>
              <a:ext uri="{FF2B5EF4-FFF2-40B4-BE49-F238E27FC236}">
                <a16:creationId xmlns:a16="http://schemas.microsoft.com/office/drawing/2014/main" id="{10155CB4-C132-DBC1-4270-34A417CB379A}"/>
              </a:ext>
            </a:extLst>
          </p:cNvPr>
          <p:cNvSpPr txBox="1"/>
          <p:nvPr/>
        </p:nvSpPr>
        <p:spPr>
          <a:xfrm>
            <a:off x="6437420" y="4591100"/>
            <a:ext cx="458780" cy="523220"/>
          </a:xfrm>
          <a:prstGeom prst="rect">
            <a:avLst/>
          </a:prstGeom>
          <a:noFill/>
        </p:spPr>
        <p:txBody>
          <a:bodyPr wrap="none" rtlCol="0">
            <a:spAutoFit/>
          </a:bodyPr>
          <a:lstStyle/>
          <a:p>
            <a:r>
              <a:rPr lang="en-CN" sz="2800"/>
              <a:t>...</a:t>
            </a:r>
          </a:p>
        </p:txBody>
      </p:sp>
      <p:sp>
        <p:nvSpPr>
          <p:cNvPr id="48" name="TextBox 47">
            <a:extLst>
              <a:ext uri="{FF2B5EF4-FFF2-40B4-BE49-F238E27FC236}">
                <a16:creationId xmlns:a16="http://schemas.microsoft.com/office/drawing/2014/main" id="{16A9B35C-0BA2-5040-5E71-5AC588E748E0}"/>
              </a:ext>
            </a:extLst>
          </p:cNvPr>
          <p:cNvSpPr txBox="1"/>
          <p:nvPr/>
        </p:nvSpPr>
        <p:spPr>
          <a:xfrm>
            <a:off x="3998850" y="1552130"/>
            <a:ext cx="1603324" cy="369332"/>
          </a:xfrm>
          <a:prstGeom prst="rect">
            <a:avLst/>
          </a:prstGeom>
          <a:noFill/>
        </p:spPr>
        <p:txBody>
          <a:bodyPr wrap="none" rtlCol="0">
            <a:spAutoFit/>
          </a:bodyPr>
          <a:lstStyle/>
          <a:p>
            <a:r>
              <a:rPr lang="en-CN" sz="1800">
                <a:solidFill>
                  <a:schemeClr val="tx1"/>
                </a:solidFill>
              </a:rPr>
              <a:t>[Outlier: VM 3]</a:t>
            </a:r>
          </a:p>
        </p:txBody>
      </p:sp>
      <p:sp>
        <p:nvSpPr>
          <p:cNvPr id="49" name="Slide Number Placeholder 48">
            <a:extLst>
              <a:ext uri="{FF2B5EF4-FFF2-40B4-BE49-F238E27FC236}">
                <a16:creationId xmlns:a16="http://schemas.microsoft.com/office/drawing/2014/main" id="{E8CB5ECF-858C-3384-45FC-66D9701EDE2B}"/>
              </a:ext>
            </a:extLst>
          </p:cNvPr>
          <p:cNvSpPr>
            <a:spLocks noGrp="1"/>
          </p:cNvSpPr>
          <p:nvPr>
            <p:ph type="sldNum" sz="quarter" idx="12"/>
          </p:nvPr>
        </p:nvSpPr>
        <p:spPr/>
        <p:txBody>
          <a:bodyPr/>
          <a:lstStyle/>
          <a:p>
            <a:fld id="{5D76F006-5496-B946-A476-FEDACCAB686D}" type="slidenum">
              <a:rPr lang="en-CN" smtClean="0"/>
              <a:t>34</a:t>
            </a:fld>
            <a:endParaRPr lang="en-CN"/>
          </a:p>
        </p:txBody>
      </p:sp>
    </p:spTree>
    <p:extLst>
      <p:ext uri="{BB962C8B-B14F-4D97-AF65-F5344CB8AC3E}">
        <p14:creationId xmlns:p14="http://schemas.microsoft.com/office/powerpoint/2010/main" val="1075714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fade">
                                      <p:cBhvr>
                                        <p:cTn id="24" dur="500"/>
                                        <p:tgtEl>
                                          <p:spTgt spid="4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500"/>
                                        <p:tgtEl>
                                          <p:spTgt spid="4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500"/>
                                        <p:tgtEl>
                                          <p:spTgt spid="3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500"/>
                                        <p:tgtEl>
                                          <p:spTgt spid="3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7"/>
                                        </p:tgtEl>
                                        <p:attrNameLst>
                                          <p:attrName>style.visibility</p:attrName>
                                        </p:attrNameLst>
                                      </p:cBhvr>
                                      <p:to>
                                        <p:strVal val="visible"/>
                                      </p:to>
                                    </p:set>
                                    <p:animEffect transition="in" filter="fade">
                                      <p:cBhvr>
                                        <p:cTn id="69" dur="500"/>
                                        <p:tgtEl>
                                          <p:spTgt spid="4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500"/>
                                        <p:tgtEl>
                                          <p:spTgt spid="4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fade">
                                      <p:cBhvr>
                                        <p:cTn id="75" dur="500"/>
                                        <p:tgtEl>
                                          <p:spTgt spid="4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5"/>
                                        </p:tgtEl>
                                        <p:attrNameLst>
                                          <p:attrName>style.visibility</p:attrName>
                                        </p:attrNameLst>
                                      </p:cBhvr>
                                      <p:to>
                                        <p:strVal val="visible"/>
                                      </p:to>
                                    </p:set>
                                    <p:animEffect transition="in" filter="fade">
                                      <p:cBhvr>
                                        <p:cTn id="7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6" grpId="0"/>
      <p:bldP spid="28" grpId="0"/>
      <p:bldP spid="30" grpId="0" animBg="1"/>
      <p:bldP spid="31" grpId="0" animBg="1"/>
      <p:bldP spid="32" grpId="0" animBg="1"/>
      <p:bldP spid="33" grpId="0" animBg="1"/>
      <p:bldP spid="34" grpId="0" animBg="1"/>
      <p:bldP spid="35" grpId="0" animBg="1"/>
      <p:bldP spid="39" grpId="0"/>
      <p:bldP spid="40" grpId="0"/>
      <p:bldP spid="41" grpId="0"/>
      <p:bldP spid="42" grpId="0"/>
      <p:bldP spid="43" grpId="0"/>
      <p:bldP spid="44" grpId="0"/>
      <p:bldP spid="45" grpId="0" animBg="1"/>
      <p:bldP spid="46" grpId="0" animBg="1"/>
      <p:bldP spid="47" grpId="0"/>
      <p:bldP spid="48" grpId="0"/>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1249A-69A3-1092-D050-E55146957454}"/>
              </a:ext>
            </a:extLst>
          </p:cNvPr>
          <p:cNvSpPr>
            <a:spLocks noGrp="1"/>
          </p:cNvSpPr>
          <p:nvPr>
            <p:ph type="title"/>
          </p:nvPr>
        </p:nvSpPr>
        <p:spPr/>
        <p:txBody>
          <a:bodyPr>
            <a:normAutofit/>
          </a:bodyPr>
          <a:lstStyle/>
          <a:p>
            <a:r>
              <a:rPr lang="en-US"/>
              <a:t>Noisy Neighbor Issue</a:t>
            </a:r>
          </a:p>
        </p:txBody>
      </p:sp>
      <p:sp>
        <p:nvSpPr>
          <p:cNvPr id="3" name="Content Placeholder 2">
            <a:extLst>
              <a:ext uri="{FF2B5EF4-FFF2-40B4-BE49-F238E27FC236}">
                <a16:creationId xmlns:a16="http://schemas.microsoft.com/office/drawing/2014/main" id="{267C36FA-AD05-A81B-98EB-3F90EBE0AD63}"/>
              </a:ext>
            </a:extLst>
          </p:cNvPr>
          <p:cNvSpPr>
            <a:spLocks noGrp="1"/>
          </p:cNvSpPr>
          <p:nvPr>
            <p:ph idx="1"/>
          </p:nvPr>
        </p:nvSpPr>
        <p:spPr>
          <a:xfrm>
            <a:off x="838200" y="1690688"/>
            <a:ext cx="10515600" cy="1503320"/>
          </a:xfrm>
        </p:spPr>
        <p:txBody>
          <a:bodyPr>
            <a:normAutofit/>
          </a:bodyPr>
          <a:lstStyle/>
          <a:p>
            <a:pPr marL="0" indent="0">
              <a:buNone/>
            </a:pPr>
            <a:r>
              <a:rPr lang="en-US"/>
              <a:t>If conflicting pages are allocated to different VMs, those VMs could </a:t>
            </a:r>
            <a:r>
              <a:rPr lang="en-US" b="1"/>
              <a:t>contend for local memory</a:t>
            </a:r>
            <a:r>
              <a:rPr lang="en-US"/>
              <a:t>:</a:t>
            </a:r>
          </a:p>
        </p:txBody>
      </p:sp>
      <p:sp>
        <p:nvSpPr>
          <p:cNvPr id="12" name="Rectangle 11">
            <a:extLst>
              <a:ext uri="{FF2B5EF4-FFF2-40B4-BE49-F238E27FC236}">
                <a16:creationId xmlns:a16="http://schemas.microsoft.com/office/drawing/2014/main" id="{EB4F16C3-A9F7-8EA4-A576-264A9B801B29}"/>
              </a:ext>
            </a:extLst>
          </p:cNvPr>
          <p:cNvSpPr/>
          <p:nvPr/>
        </p:nvSpPr>
        <p:spPr>
          <a:xfrm>
            <a:off x="1890676" y="3953634"/>
            <a:ext cx="3079630" cy="59006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3" name="TextBox 12">
            <a:extLst>
              <a:ext uri="{FF2B5EF4-FFF2-40B4-BE49-F238E27FC236}">
                <a16:creationId xmlns:a16="http://schemas.microsoft.com/office/drawing/2014/main" id="{E46431D1-FE4C-2DE7-0CDF-6BE44A85266A}"/>
              </a:ext>
            </a:extLst>
          </p:cNvPr>
          <p:cNvSpPr txBox="1"/>
          <p:nvPr/>
        </p:nvSpPr>
        <p:spPr>
          <a:xfrm>
            <a:off x="4962556" y="2990205"/>
            <a:ext cx="1925335" cy="461665"/>
          </a:xfrm>
          <a:prstGeom prst="rect">
            <a:avLst/>
          </a:prstGeom>
          <a:noFill/>
        </p:spPr>
        <p:txBody>
          <a:bodyPr wrap="none" rtlCol="0">
            <a:spAutoFit/>
          </a:bodyPr>
          <a:lstStyle/>
          <a:p>
            <a:r>
              <a:rPr lang="en-CN" sz="2400">
                <a:latin typeface="Aptos" panose="020B0004020202020204" pitchFamily="34" charset="0"/>
                <a:cs typeface="Times New Roman" panose="02020603050405020304" pitchFamily="18" charset="0"/>
              </a:rPr>
              <a:t>CXL Memory</a:t>
            </a:r>
          </a:p>
        </p:txBody>
      </p:sp>
      <p:sp>
        <p:nvSpPr>
          <p:cNvPr id="14" name="Rectangle 13">
            <a:extLst>
              <a:ext uri="{FF2B5EF4-FFF2-40B4-BE49-F238E27FC236}">
                <a16:creationId xmlns:a16="http://schemas.microsoft.com/office/drawing/2014/main" id="{A45C07C4-84EB-DE23-52B4-488007CE2D91}"/>
              </a:ext>
            </a:extLst>
          </p:cNvPr>
          <p:cNvSpPr/>
          <p:nvPr/>
        </p:nvSpPr>
        <p:spPr>
          <a:xfrm>
            <a:off x="1890676" y="2934369"/>
            <a:ext cx="3079630" cy="59006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5" name="TextBox 14">
            <a:extLst>
              <a:ext uri="{FF2B5EF4-FFF2-40B4-BE49-F238E27FC236}">
                <a16:creationId xmlns:a16="http://schemas.microsoft.com/office/drawing/2014/main" id="{A22F136C-7704-AF73-A91E-6B32AEC5C83E}"/>
              </a:ext>
            </a:extLst>
          </p:cNvPr>
          <p:cNvSpPr txBox="1"/>
          <p:nvPr/>
        </p:nvSpPr>
        <p:spPr>
          <a:xfrm>
            <a:off x="4970306" y="3982391"/>
            <a:ext cx="2060629" cy="461665"/>
          </a:xfrm>
          <a:prstGeom prst="rect">
            <a:avLst/>
          </a:prstGeom>
          <a:noFill/>
        </p:spPr>
        <p:txBody>
          <a:bodyPr wrap="none" rtlCol="0">
            <a:spAutoFit/>
          </a:bodyPr>
          <a:lstStyle/>
          <a:p>
            <a:r>
              <a:rPr lang="en-CN" sz="2400">
                <a:latin typeface="Aptos" panose="020B0004020202020204" pitchFamily="34" charset="0"/>
                <a:cs typeface="Times New Roman" panose="02020603050405020304" pitchFamily="18" charset="0"/>
              </a:rPr>
              <a:t>Local Memory</a:t>
            </a:r>
          </a:p>
        </p:txBody>
      </p:sp>
      <p:sp>
        <p:nvSpPr>
          <p:cNvPr id="16" name="Rectangle 15">
            <a:extLst>
              <a:ext uri="{FF2B5EF4-FFF2-40B4-BE49-F238E27FC236}">
                <a16:creationId xmlns:a16="http://schemas.microsoft.com/office/drawing/2014/main" id="{E85F03D1-8B3F-874E-3B59-F55E6D0A68A7}"/>
              </a:ext>
            </a:extLst>
          </p:cNvPr>
          <p:cNvSpPr/>
          <p:nvPr/>
        </p:nvSpPr>
        <p:spPr>
          <a:xfrm>
            <a:off x="1890676" y="4935768"/>
            <a:ext cx="6096277" cy="605324"/>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7" name="TextBox 16">
            <a:extLst>
              <a:ext uri="{FF2B5EF4-FFF2-40B4-BE49-F238E27FC236}">
                <a16:creationId xmlns:a16="http://schemas.microsoft.com/office/drawing/2014/main" id="{E1D97AD8-D54C-6A9A-78F1-21DDA7CD416D}"/>
              </a:ext>
            </a:extLst>
          </p:cNvPr>
          <p:cNvSpPr txBox="1"/>
          <p:nvPr/>
        </p:nvSpPr>
        <p:spPr>
          <a:xfrm>
            <a:off x="2848250" y="5848646"/>
            <a:ext cx="4490396" cy="461665"/>
          </a:xfrm>
          <a:prstGeom prst="rect">
            <a:avLst/>
          </a:prstGeom>
          <a:noFill/>
        </p:spPr>
        <p:txBody>
          <a:bodyPr wrap="none" rtlCol="0">
            <a:spAutoFit/>
          </a:bodyPr>
          <a:lstStyle/>
          <a:p>
            <a:r>
              <a:rPr lang="en-CN" sz="2400">
                <a:latin typeface="Aptos" panose="020B0004020202020204" pitchFamily="34" charset="0"/>
                <a:cs typeface="Times New Roman" panose="02020603050405020304" pitchFamily="18" charset="0"/>
              </a:rPr>
              <a:t>Physical </a:t>
            </a:r>
            <a:r>
              <a:rPr lang="en-US" sz="2400">
                <a:latin typeface="Aptos" panose="020B0004020202020204" pitchFamily="34" charset="0"/>
                <a:cs typeface="Times New Roman" panose="02020603050405020304" pitchFamily="18" charset="0"/>
              </a:rPr>
              <a:t>Memory Address</a:t>
            </a:r>
            <a:r>
              <a:rPr lang="en-CN" sz="2400">
                <a:latin typeface="Aptos" panose="020B0004020202020204" pitchFamily="34" charset="0"/>
                <a:cs typeface="Times New Roman" panose="02020603050405020304" pitchFamily="18" charset="0"/>
              </a:rPr>
              <a:t> </a:t>
            </a:r>
            <a:r>
              <a:rPr lang="en-US" sz="2400">
                <a:latin typeface="Aptos" panose="020B0004020202020204" pitchFamily="34" charset="0"/>
                <a:cs typeface="Times New Roman" panose="02020603050405020304" pitchFamily="18" charset="0"/>
              </a:rPr>
              <a:t>Space</a:t>
            </a:r>
            <a:endParaRPr lang="en-CN" sz="2400">
              <a:latin typeface="Aptos" panose="020B0004020202020204" pitchFamily="34" charset="0"/>
              <a:cs typeface="Times New Roman" panose="02020603050405020304" pitchFamily="18" charset="0"/>
            </a:endParaRPr>
          </a:p>
        </p:txBody>
      </p:sp>
      <p:sp>
        <p:nvSpPr>
          <p:cNvPr id="18" name="Left Brace 17">
            <a:extLst>
              <a:ext uri="{FF2B5EF4-FFF2-40B4-BE49-F238E27FC236}">
                <a16:creationId xmlns:a16="http://schemas.microsoft.com/office/drawing/2014/main" id="{F67D65BC-3DE7-D997-D086-CCD6E8DD7C2A}"/>
              </a:ext>
            </a:extLst>
          </p:cNvPr>
          <p:cNvSpPr/>
          <p:nvPr/>
        </p:nvSpPr>
        <p:spPr>
          <a:xfrm rot="16200000">
            <a:off x="4827143" y="2703349"/>
            <a:ext cx="286326" cy="615107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cxnSp>
        <p:nvCxnSpPr>
          <p:cNvPr id="23" name="Straight Connector 22">
            <a:extLst>
              <a:ext uri="{FF2B5EF4-FFF2-40B4-BE49-F238E27FC236}">
                <a16:creationId xmlns:a16="http://schemas.microsoft.com/office/drawing/2014/main" id="{9B5EC338-8D78-119A-CCAB-7DCFFA50CFDF}"/>
              </a:ext>
            </a:extLst>
          </p:cNvPr>
          <p:cNvCxnSpPr>
            <a:cxnSpLocks/>
          </p:cNvCxnSpPr>
          <p:nvPr/>
        </p:nvCxnSpPr>
        <p:spPr>
          <a:xfrm>
            <a:off x="2104993" y="4556705"/>
            <a:ext cx="0" cy="379063"/>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78D0B8C-15CF-0881-6A38-B2F52A1F18C1}"/>
              </a:ext>
            </a:extLst>
          </p:cNvPr>
          <p:cNvCxnSpPr>
            <a:cxnSpLocks/>
          </p:cNvCxnSpPr>
          <p:nvPr/>
        </p:nvCxnSpPr>
        <p:spPr>
          <a:xfrm flipV="1">
            <a:off x="2098131" y="3541045"/>
            <a:ext cx="0" cy="410836"/>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E519962-D105-AE6C-58C1-D74D13823437}"/>
              </a:ext>
            </a:extLst>
          </p:cNvPr>
          <p:cNvCxnSpPr>
            <a:cxnSpLocks/>
          </p:cNvCxnSpPr>
          <p:nvPr/>
        </p:nvCxnSpPr>
        <p:spPr>
          <a:xfrm>
            <a:off x="4749871" y="4556705"/>
            <a:ext cx="0" cy="379063"/>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F1B419D-EA4E-7812-9394-8FA591A38792}"/>
              </a:ext>
            </a:extLst>
          </p:cNvPr>
          <p:cNvCxnSpPr>
            <a:stCxn id="16" idx="0"/>
            <a:endCxn id="16" idx="2"/>
          </p:cNvCxnSpPr>
          <p:nvPr/>
        </p:nvCxnSpPr>
        <p:spPr>
          <a:xfrm>
            <a:off x="4938815" y="4935768"/>
            <a:ext cx="0" cy="60532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D7D338A-56A4-0DF5-61BB-DDCC901BE772}"/>
              </a:ext>
            </a:extLst>
          </p:cNvPr>
          <p:cNvCxnSpPr>
            <a:cxnSpLocks/>
          </p:cNvCxnSpPr>
          <p:nvPr/>
        </p:nvCxnSpPr>
        <p:spPr>
          <a:xfrm>
            <a:off x="2167409" y="4595772"/>
            <a:ext cx="3033252" cy="316581"/>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B204457-4269-7795-67E4-8212DA669CAB}"/>
              </a:ext>
            </a:extLst>
          </p:cNvPr>
          <p:cNvCxnSpPr>
            <a:cxnSpLocks/>
          </p:cNvCxnSpPr>
          <p:nvPr/>
        </p:nvCxnSpPr>
        <p:spPr>
          <a:xfrm>
            <a:off x="4813780" y="4609130"/>
            <a:ext cx="2896892" cy="289866"/>
          </a:xfrm>
          <a:prstGeom prst="line">
            <a:avLst/>
          </a:prstGeom>
          <a:ln w="38100">
            <a:solidFill>
              <a:schemeClr val="bg1">
                <a:lumMod val="50000"/>
                <a:alpha val="99000"/>
              </a:schemeClr>
            </a:solidFill>
            <a:prstDash val="sysDash"/>
            <a:headEnd type="stealth"/>
            <a:tailEnd type="stealth"/>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F079D23E-E9B8-05BF-F95D-B2CE8397AFD4}"/>
              </a:ext>
            </a:extLst>
          </p:cNvPr>
          <p:cNvSpPr/>
          <p:nvPr/>
        </p:nvSpPr>
        <p:spPr>
          <a:xfrm>
            <a:off x="1890676" y="4937687"/>
            <a:ext cx="1648918" cy="59632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ptos" panose="020B0004020202020204" pitchFamily="34" charset="0"/>
                <a:cs typeface="Times New Roman" panose="02020603050405020304" pitchFamily="18" charset="0"/>
              </a:rPr>
              <a:t>VM 1</a:t>
            </a:r>
            <a:endParaRPr lang="en-CN" b="1">
              <a:solidFill>
                <a:schemeClr val="tx1"/>
              </a:solidFill>
              <a:latin typeface="Aptos" panose="020B000402020202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DBA6461-8C45-0D52-25DF-344DB6A5B5AD}"/>
              </a:ext>
            </a:extLst>
          </p:cNvPr>
          <p:cNvSpPr/>
          <p:nvPr/>
        </p:nvSpPr>
        <p:spPr>
          <a:xfrm>
            <a:off x="4938815" y="4937687"/>
            <a:ext cx="1648918" cy="59632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ptos" panose="020B0004020202020204" pitchFamily="34" charset="0"/>
                <a:cs typeface="Times New Roman" panose="02020603050405020304" pitchFamily="18" charset="0"/>
              </a:rPr>
              <a:t>VM 2</a:t>
            </a:r>
            <a:endParaRPr lang="en-CN" b="1">
              <a:solidFill>
                <a:schemeClr val="tx1"/>
              </a:solidFill>
              <a:latin typeface="Aptos" panose="020B000402020202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39CE4169-2AFA-47BB-7A0F-34722D6AC789}"/>
              </a:ext>
            </a:extLst>
          </p:cNvPr>
          <p:cNvSpPr/>
          <p:nvPr/>
        </p:nvSpPr>
        <p:spPr>
          <a:xfrm>
            <a:off x="1890676" y="2933018"/>
            <a:ext cx="1648913" cy="596320"/>
          </a:xfrm>
          <a:prstGeom prst="rect">
            <a:avLst/>
          </a:prstGeom>
          <a:gradFill>
            <a:gsLst>
              <a:gs pos="0">
                <a:schemeClr val="accent2"/>
              </a:gs>
              <a:gs pos="100000">
                <a:schemeClr val="accent4">
                  <a:lumMod val="60000"/>
                  <a:lumOff val="4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ptos" panose="020B0004020202020204" pitchFamily="34" charset="0"/>
                <a:cs typeface="Times New Roman" panose="02020603050405020304" pitchFamily="18" charset="0"/>
              </a:rPr>
              <a:t>Mix</a:t>
            </a:r>
            <a:endParaRPr lang="en-CN" b="1">
              <a:solidFill>
                <a:schemeClr val="tx1"/>
              </a:solidFill>
              <a:latin typeface="Aptos" panose="020B000402020202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7A957B0B-38CF-FD74-DFF8-32684BE60ABE}"/>
              </a:ext>
            </a:extLst>
          </p:cNvPr>
          <p:cNvSpPr/>
          <p:nvPr/>
        </p:nvSpPr>
        <p:spPr>
          <a:xfrm>
            <a:off x="1890676" y="3947379"/>
            <a:ext cx="1648916" cy="596320"/>
          </a:xfrm>
          <a:prstGeom prst="rect">
            <a:avLst/>
          </a:prstGeom>
          <a:gradFill>
            <a:gsLst>
              <a:gs pos="0">
                <a:schemeClr val="accent2"/>
              </a:gs>
              <a:gs pos="100000">
                <a:schemeClr val="accent4">
                  <a:lumMod val="60000"/>
                  <a:lumOff val="4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ptos" panose="020B0004020202020204" pitchFamily="34" charset="0"/>
                <a:cs typeface="Times New Roman" panose="02020603050405020304" pitchFamily="18" charset="0"/>
              </a:rPr>
              <a:t>Mix</a:t>
            </a:r>
            <a:endParaRPr lang="en-CN" b="1">
              <a:solidFill>
                <a:schemeClr val="tx1"/>
              </a:solidFill>
              <a:latin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A33D2133-82E1-2A7F-2DB4-1DB47E8630BA}"/>
              </a:ext>
            </a:extLst>
          </p:cNvPr>
          <p:cNvSpPr txBox="1"/>
          <p:nvPr/>
        </p:nvSpPr>
        <p:spPr>
          <a:xfrm>
            <a:off x="7673680" y="3531880"/>
            <a:ext cx="4114799" cy="830997"/>
          </a:xfrm>
          <a:prstGeom prst="rect">
            <a:avLst/>
          </a:prstGeom>
          <a:noFill/>
        </p:spPr>
        <p:txBody>
          <a:bodyPr wrap="square" rtlCol="0">
            <a:spAutoFit/>
          </a:bodyPr>
          <a:lstStyle/>
          <a:p>
            <a:r>
              <a:rPr lang="en-US" sz="2400"/>
              <a:t>Inter-VM conflicts may affect security and performance</a:t>
            </a:r>
            <a:endParaRPr lang="en-US" sz="2400" b="1"/>
          </a:p>
        </p:txBody>
      </p:sp>
      <p:sp>
        <p:nvSpPr>
          <p:cNvPr id="19" name="TextBox 18">
            <a:extLst>
              <a:ext uri="{FF2B5EF4-FFF2-40B4-BE49-F238E27FC236}">
                <a16:creationId xmlns:a16="http://schemas.microsoft.com/office/drawing/2014/main" id="{D932BFA6-F2E6-577C-8111-9218800FE91D}"/>
              </a:ext>
            </a:extLst>
          </p:cNvPr>
          <p:cNvSpPr txBox="1"/>
          <p:nvPr/>
        </p:nvSpPr>
        <p:spPr>
          <a:xfrm>
            <a:off x="0" y="4543699"/>
            <a:ext cx="2167407" cy="369332"/>
          </a:xfrm>
          <a:prstGeom prst="rect">
            <a:avLst/>
          </a:prstGeom>
          <a:noFill/>
        </p:spPr>
        <p:txBody>
          <a:bodyPr wrap="square" rtlCol="0">
            <a:spAutoFit/>
          </a:bodyPr>
          <a:lstStyle/>
          <a:p>
            <a:r>
              <a:rPr lang="en-US" b="1">
                <a:solidFill>
                  <a:schemeClr val="bg1">
                    <a:lumMod val="50000"/>
                  </a:schemeClr>
                </a:solidFill>
              </a:rPr>
              <a:t>Inter-VM conflicts!</a:t>
            </a:r>
          </a:p>
        </p:txBody>
      </p:sp>
      <p:sp>
        <p:nvSpPr>
          <p:cNvPr id="5" name="Slide Number Placeholder 4">
            <a:extLst>
              <a:ext uri="{FF2B5EF4-FFF2-40B4-BE49-F238E27FC236}">
                <a16:creationId xmlns:a16="http://schemas.microsoft.com/office/drawing/2014/main" id="{B6B18788-378B-C150-899E-577EC0F5346E}"/>
              </a:ext>
            </a:extLst>
          </p:cNvPr>
          <p:cNvSpPr>
            <a:spLocks noGrp="1"/>
          </p:cNvSpPr>
          <p:nvPr>
            <p:ph type="sldNum" sz="quarter" idx="12"/>
          </p:nvPr>
        </p:nvSpPr>
        <p:spPr/>
        <p:txBody>
          <a:bodyPr/>
          <a:lstStyle/>
          <a:p>
            <a:fld id="{5D76F006-5496-B946-A476-FEDACCAB686D}" type="slidenum">
              <a:rPr lang="en-CN" smtClean="0"/>
              <a:t>35</a:t>
            </a:fld>
            <a:endParaRPr lang="en-CN"/>
          </a:p>
        </p:txBody>
      </p:sp>
    </p:spTree>
    <p:extLst>
      <p:ext uri="{BB962C8B-B14F-4D97-AF65-F5344CB8AC3E}">
        <p14:creationId xmlns:p14="http://schemas.microsoft.com/office/powerpoint/2010/main" val="1821269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6" grpId="0" animBg="1"/>
      <p:bldP spid="8" grpId="0" animBg="1"/>
      <p:bldP spid="10" grpId="0" animBg="1"/>
      <p:bldP spid="11" grpId="0"/>
      <p:bldP spid="19" grpId="0"/>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0874B5-B508-F6D6-89E2-1CBF2D024DE3}"/>
              </a:ext>
            </a:extLst>
          </p:cNvPr>
          <p:cNvSpPr>
            <a:spLocks noGrp="1"/>
          </p:cNvSpPr>
          <p:nvPr>
            <p:ph type="sldNum" sz="quarter" idx="12"/>
          </p:nvPr>
        </p:nvSpPr>
        <p:spPr/>
        <p:txBody>
          <a:bodyPr/>
          <a:lstStyle/>
          <a:p>
            <a:fld id="{5D76F006-5496-B946-A476-FEDACCAB686D}" type="slidenum">
              <a:rPr lang="en-CN" smtClean="0"/>
              <a:t>36</a:t>
            </a:fld>
            <a:endParaRPr lang="en-CN"/>
          </a:p>
        </p:txBody>
      </p:sp>
      <p:pic>
        <p:nvPicPr>
          <p:cNvPr id="6" name="Picture 5">
            <a:extLst>
              <a:ext uri="{FF2B5EF4-FFF2-40B4-BE49-F238E27FC236}">
                <a16:creationId xmlns:a16="http://schemas.microsoft.com/office/drawing/2014/main" id="{A9D48562-571A-91CA-E443-660C4EA16F13}"/>
              </a:ext>
            </a:extLst>
          </p:cNvPr>
          <p:cNvPicPr>
            <a:picLocks noChangeAspect="1"/>
          </p:cNvPicPr>
          <p:nvPr/>
        </p:nvPicPr>
        <p:blipFill>
          <a:blip r:embed="rId2"/>
          <a:stretch>
            <a:fillRect/>
          </a:stretch>
        </p:blipFill>
        <p:spPr>
          <a:xfrm>
            <a:off x="1311837" y="86829"/>
            <a:ext cx="9568325" cy="6721475"/>
          </a:xfrm>
          <a:prstGeom prst="rect">
            <a:avLst/>
          </a:prstGeom>
        </p:spPr>
      </p:pic>
    </p:spTree>
    <p:extLst>
      <p:ext uri="{BB962C8B-B14F-4D97-AF65-F5344CB8AC3E}">
        <p14:creationId xmlns:p14="http://schemas.microsoft.com/office/powerpoint/2010/main" val="783767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27739</TotalTime>
  <Words>4690</Words>
  <Application>Microsoft Macintosh PowerPoint</Application>
  <PresentationFormat>Widescreen</PresentationFormat>
  <Paragraphs>784</Paragraphs>
  <Slides>36</Slides>
  <Notes>35</Notes>
  <HiddenSlides>12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Aptos</vt:lpstr>
      <vt:lpstr>Aptos Display</vt:lpstr>
      <vt:lpstr>Arial</vt:lpstr>
      <vt:lpstr>Calibri</vt:lpstr>
      <vt:lpstr>Times New Roman</vt:lpstr>
      <vt:lpstr>Office Theme</vt:lpstr>
      <vt:lpstr>Managing Memory Tiers with CXL in Virtualized Environments</vt:lpstr>
      <vt:lpstr>Executive Summary</vt:lpstr>
      <vt:lpstr>PowerPoint Presentation</vt:lpstr>
      <vt:lpstr>CXL Enables Memory Capacity Scaling</vt:lpstr>
      <vt:lpstr>Higher CXL Latency Can Degrade Workloads</vt:lpstr>
      <vt:lpstr>Combining Software and Hardware for Memory Tiering</vt:lpstr>
      <vt:lpstr>Prior Work: Software-Managed Memory Tiering</vt:lpstr>
      <vt:lpstr>Software Tiering at Odds With Virtualization</vt:lpstr>
      <vt:lpstr>Introducing Hardware Tiering for CXL</vt:lpstr>
      <vt:lpstr>Associativity and Mapping of Intel Flat Memory Mode</vt:lpstr>
      <vt:lpstr>Local Memory Miss in Intel Flat Memory Mode</vt:lpstr>
      <vt:lpstr>Local Memory Miss in Intel Flat Memory Mode</vt:lpstr>
      <vt:lpstr>Local Memory Miss in Intel Flat Memory Mode</vt:lpstr>
      <vt:lpstr>Local Memory Miss in Intel Flat Memory Mode</vt:lpstr>
      <vt:lpstr>Hardware Tiering Alone Still Has Limitations</vt:lpstr>
      <vt:lpstr>Adding Dedicated Local Memory for Outliers</vt:lpstr>
      <vt:lpstr>Memstrata: Memory Allocator for Hardware Tiering</vt:lpstr>
      <vt:lpstr>Memstrata Dynamically Allocates Dedicated Pages</vt:lpstr>
      <vt:lpstr>Identifying Outliers in Hypervisor Is Challenging</vt:lpstr>
      <vt:lpstr>Memstrata Dynamically Allocates Dedicated Pages</vt:lpstr>
      <vt:lpstr>Memstrata Dynamically Allocates Dedicated Pages</vt:lpstr>
      <vt:lpstr>Evaluate 115 Popular Cloud Workloads</vt:lpstr>
      <vt:lpstr>Memstrata Eliminates Outliers With Low CPU Overhead</vt:lpstr>
      <vt:lpstr>Executive Summary</vt:lpstr>
      <vt:lpstr>Core Count Increasing But DRAM Price Flattening</vt:lpstr>
      <vt:lpstr>Conclusion</vt:lpstr>
      <vt:lpstr>Evaluate Memstrata in Realistic Settings</vt:lpstr>
      <vt:lpstr>Memstrata Eliminates Outliers With Low CPU Overhead</vt:lpstr>
      <vt:lpstr>Dynamically Allocate Dedicated Pages</vt:lpstr>
      <vt:lpstr>Evaluate 115 Popular Cloud Workloads</vt:lpstr>
      <vt:lpstr>Experiment Setup</vt:lpstr>
      <vt:lpstr>Hardware Tiering Alone Still Has Limitations</vt:lpstr>
      <vt:lpstr>Hardware Tiering vs. Software Tiering</vt:lpstr>
      <vt:lpstr>PowerPoint Presentation</vt:lpstr>
      <vt:lpstr>Noisy Neighbor Issue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yz3626</dc:creator>
  <cp:lastModifiedBy>yz3626</cp:lastModifiedBy>
  <cp:revision>1078</cp:revision>
  <dcterms:created xsi:type="dcterms:W3CDTF">2024-06-17T04:53:38Z</dcterms:created>
  <dcterms:modified xsi:type="dcterms:W3CDTF">2024-07-10T23:26:52Z</dcterms:modified>
</cp:coreProperties>
</file>